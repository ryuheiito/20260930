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620" r:id="rId2"/>
    <p:sldId id="670" r:id="rId3"/>
    <p:sldId id="603" r:id="rId4"/>
    <p:sldId id="605" r:id="rId5"/>
    <p:sldId id="671" r:id="rId6"/>
    <p:sldId id="604" r:id="rId7"/>
    <p:sldId id="672" r:id="rId8"/>
    <p:sldId id="641" r:id="rId9"/>
    <p:sldId id="611" r:id="rId10"/>
    <p:sldId id="624" r:id="rId1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F2F5"/>
    <a:srgbClr val="FFCCCC"/>
    <a:srgbClr val="FF9999"/>
    <a:srgbClr val="23393D"/>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p:scale>
          <a:sx n="75" d="100"/>
          <a:sy n="75" d="100"/>
        </p:scale>
        <p:origin x="1218"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B860A-6BA3-4020-B707-EFA09B4F9BCA}"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53FEB-069A-4A84-AD3F-BD0BAE0B773C}" type="slidenum">
              <a:rPr kumimoji="1" lang="ja-JP" altLang="en-US" smtClean="0"/>
              <a:t>‹#›</a:t>
            </a:fld>
            <a:endParaRPr kumimoji="1" lang="ja-JP" altLang="en-US"/>
          </a:p>
        </p:txBody>
      </p:sp>
    </p:spTree>
    <p:extLst>
      <p:ext uri="{BB962C8B-B14F-4D97-AF65-F5344CB8AC3E}">
        <p14:creationId xmlns:p14="http://schemas.microsoft.com/office/powerpoint/2010/main" val="34527447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ー 1"/>
          <p:cNvSpPr>
            <a:spLocks noGrp="1" noRot="1" noChangeAspect="1" noTextEdit="1"/>
          </p:cNvSpPr>
          <p:nvPr>
            <p:ph type="sldImg"/>
          </p:nvPr>
        </p:nvSpPr>
        <p:spPr bwMode="auto">
          <a:xfrm>
            <a:off x="992188" y="766763"/>
            <a:ext cx="5118100" cy="38385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dirty="0"/>
          </a:p>
        </p:txBody>
      </p:sp>
      <p:sp>
        <p:nvSpPr>
          <p:cNvPr id="9220"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Calibri" panose="020F0502020204030204" pitchFamily="34" charset="0"/>
                <a:ea typeface="ＭＳ Ｐゴシック" panose="020B0600070205080204" pitchFamily="50" charset="-128"/>
              </a:defRPr>
            </a:lvl1pPr>
            <a:lvl2pPr marL="775433" indent="-297359">
              <a:spcBef>
                <a:spcPct val="30000"/>
              </a:spcBef>
              <a:defRPr kumimoji="1" sz="1200">
                <a:solidFill>
                  <a:schemeClr val="tx1"/>
                </a:solidFill>
                <a:latin typeface="Calibri" panose="020F0502020204030204" pitchFamily="34" charset="0"/>
                <a:ea typeface="ＭＳ Ｐゴシック" panose="020B0600070205080204" pitchFamily="50" charset="-128"/>
              </a:defRPr>
            </a:lvl2pPr>
            <a:lvl3pPr marL="1192723" indent="-238218">
              <a:spcBef>
                <a:spcPct val="30000"/>
              </a:spcBef>
              <a:defRPr kumimoji="1" sz="1200">
                <a:solidFill>
                  <a:schemeClr val="tx1"/>
                </a:solidFill>
                <a:latin typeface="Calibri" panose="020F0502020204030204" pitchFamily="34" charset="0"/>
                <a:ea typeface="ＭＳ Ｐゴシック" panose="020B0600070205080204" pitchFamily="50" charset="-128"/>
              </a:defRPr>
            </a:lvl3pPr>
            <a:lvl4pPr marL="1669155" indent="-238218">
              <a:spcBef>
                <a:spcPct val="30000"/>
              </a:spcBef>
              <a:defRPr kumimoji="1" sz="1200">
                <a:solidFill>
                  <a:schemeClr val="tx1"/>
                </a:solidFill>
                <a:latin typeface="Calibri" panose="020F0502020204030204" pitchFamily="34" charset="0"/>
                <a:ea typeface="ＭＳ Ｐゴシック" panose="020B0600070205080204" pitchFamily="50" charset="-128"/>
              </a:defRPr>
            </a:lvl4pPr>
            <a:lvl5pPr marL="2147231" indent="-238218">
              <a:spcBef>
                <a:spcPct val="30000"/>
              </a:spcBef>
              <a:defRPr kumimoji="1" sz="1200">
                <a:solidFill>
                  <a:schemeClr val="tx1"/>
                </a:solidFill>
                <a:latin typeface="Calibri" panose="020F0502020204030204" pitchFamily="34" charset="0"/>
                <a:ea typeface="ＭＳ Ｐゴシック" panose="020B0600070205080204" pitchFamily="50" charset="-128"/>
              </a:defRPr>
            </a:lvl5pPr>
            <a:lvl6pPr marL="2620376"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6pPr>
            <a:lvl7pPr marL="3093523"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7pPr>
            <a:lvl8pPr marL="3566668"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8pPr>
            <a:lvl9pPr marL="4039815"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9pPr>
          </a:lstStyle>
          <a:p>
            <a:pPr>
              <a:spcBef>
                <a:spcPct val="0"/>
              </a:spcBef>
            </a:pPr>
            <a:fld id="{319B5310-AD61-4F45-88FC-0A2B7912C6D7}" type="slidenum">
              <a:rPr lang="ja-JP" altLang="en-US">
                <a:latin typeface="Arial" panose="020B0604020202020204" pitchFamily="34" charset="0"/>
              </a:rPr>
              <a:pPr>
                <a:spcBef>
                  <a:spcPct val="0"/>
                </a:spcBef>
              </a:pPr>
              <a:t>1</a:t>
            </a:fld>
            <a:endParaRPr lang="ja-JP" altLang="en-US">
              <a:latin typeface="Arial" panose="020B0604020202020204" pitchFamily="34" charset="0"/>
            </a:endParaRPr>
          </a:p>
        </p:txBody>
      </p:sp>
    </p:spTree>
    <p:extLst>
      <p:ext uri="{BB962C8B-B14F-4D97-AF65-F5344CB8AC3E}">
        <p14:creationId xmlns:p14="http://schemas.microsoft.com/office/powerpoint/2010/main" val="695150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46496">
              <a:defRPr/>
            </a:pPr>
            <a:r>
              <a:rPr kumimoji="1" lang="ja-JP" altLang="en-US" dirty="0"/>
              <a:t>大企業の提案ビットに多く用いられるサービス。</a:t>
            </a:r>
            <a:endParaRPr kumimoji="1" lang="en-US" altLang="ja-JP" dirty="0"/>
          </a:p>
          <a:p>
            <a:pPr defTabSz="946496">
              <a:defRPr/>
            </a:pPr>
            <a:r>
              <a:rPr kumimoji="1" lang="ja-JP" altLang="en-US" dirty="0"/>
              <a:t>衛星データを購入して物件周辺からの水の入り方を時系列でシミュレーショするもの。</a:t>
            </a:r>
            <a:endParaRPr kumimoji="1" lang="en-US" altLang="ja-JP" dirty="0"/>
          </a:p>
          <a:p>
            <a:pPr defTabSz="946496">
              <a:defRPr/>
            </a:pPr>
            <a:r>
              <a:rPr kumimoji="1" lang="ja-JP" altLang="en-US" dirty="0"/>
              <a:t>動画の作成し、どのような水災対策を打てばいいかの基礎資料にしてもらう。</a:t>
            </a:r>
            <a:endParaRPr kumimoji="1" lang="en-US" altLang="ja-JP" dirty="0"/>
          </a:p>
          <a:p>
            <a:r>
              <a:rPr kumimoji="1" lang="ja-JP" altLang="en-US" dirty="0"/>
              <a:t>大企業向け、全世界対応可。東京海上はできない。</a:t>
            </a:r>
            <a:endParaRPr kumimoji="1" lang="en-US" altLang="ja-JP" dirty="0"/>
          </a:p>
          <a:p>
            <a:r>
              <a:rPr kumimoji="1" lang="en-US" altLang="ja-JP" dirty="0"/>
              <a:t>100</a:t>
            </a:r>
            <a:r>
              <a:rPr kumimoji="1" lang="ja-JP" altLang="en-US" dirty="0"/>
              <a:t>万円～（国内）</a:t>
            </a:r>
            <a:endParaRPr kumimoji="1" lang="en-US" altLang="ja-JP" dirty="0"/>
          </a:p>
          <a:p>
            <a:pPr defTabSz="946496">
              <a:defRPr/>
            </a:pPr>
            <a:endParaRPr kumimoji="1" lang="en-US" altLang="ja-JP" dirty="0"/>
          </a:p>
          <a:p>
            <a:pPr defTabSz="946496">
              <a:defRPr/>
            </a:pPr>
            <a:r>
              <a:rPr kumimoji="1" lang="en-US" altLang="ja-JP" dirty="0"/>
              <a:t>【</a:t>
            </a:r>
            <a:r>
              <a:rPr kumimoji="1" lang="ja-JP" altLang="en-US" dirty="0"/>
              <a:t>動画</a:t>
            </a:r>
            <a:r>
              <a:rPr kumimoji="1" lang="en-US" altLang="ja-JP" dirty="0"/>
              <a:t>】</a:t>
            </a:r>
          </a:p>
          <a:p>
            <a:pPr defTabSz="946496">
              <a:defRPr/>
            </a:pPr>
            <a:r>
              <a:rPr kumimoji="1" lang="ja-JP" altLang="en-US" dirty="0"/>
              <a:t>メキシコホンダ、約</a:t>
            </a:r>
            <a:r>
              <a:rPr kumimoji="1" lang="en-US" altLang="ja-JP" dirty="0"/>
              <a:t>2</a:t>
            </a:r>
            <a:r>
              <a:rPr kumimoji="1" lang="ja-JP" altLang="en-US" dirty="0"/>
              <a:t>年前の洪水時に現地調査。そのときをデータをもとにシミュレーション。</a:t>
            </a:r>
            <a:endParaRPr kumimoji="1" lang="en-US" altLang="ja-JP" dirty="0"/>
          </a:p>
          <a:p>
            <a:pPr defTabSz="946496">
              <a:defRPr/>
            </a:pPr>
            <a:r>
              <a:rPr kumimoji="1" lang="ja-JP" altLang="en-US" dirty="0"/>
              <a:t>実際の浸水エリアとシミュレーションがほぼ整合したので、その後実績が増えて全世界で</a:t>
            </a:r>
            <a:r>
              <a:rPr kumimoji="1" lang="en-US" altLang="ja-JP" dirty="0"/>
              <a:t>10</a:t>
            </a:r>
            <a:r>
              <a:rPr kumimoji="1" lang="ja-JP" altLang="en-US" dirty="0"/>
              <a:t>件程度対応。</a:t>
            </a:r>
            <a:endParaRPr kumimoji="1" lang="en-US" altLang="ja-JP" dirty="0"/>
          </a:p>
          <a:p>
            <a:pPr defTabSz="946496">
              <a:defRPr/>
            </a:pPr>
            <a:endParaRPr kumimoji="1" lang="en-US" altLang="ja-JP" dirty="0"/>
          </a:p>
          <a:p>
            <a:pPr defTabSz="946496">
              <a:defRPr/>
            </a:pPr>
            <a:r>
              <a:rPr kumimoji="1" lang="en-US" altLang="ja-JP" dirty="0"/>
              <a:t>【3D</a:t>
            </a:r>
            <a:r>
              <a:rPr kumimoji="1" lang="ja-JP" altLang="en-US" dirty="0"/>
              <a:t>スキャナ</a:t>
            </a:r>
            <a:r>
              <a:rPr kumimoji="1" lang="en-US" altLang="ja-JP" dirty="0"/>
              <a:t>】</a:t>
            </a:r>
          </a:p>
          <a:p>
            <a:pPr defTabSz="946496">
              <a:defRPr/>
            </a:pPr>
            <a:r>
              <a:rPr kumimoji="1" lang="ja-JP" altLang="en-US" dirty="0"/>
              <a:t>スキャナで撮影した点群データをもとに建物・設備等をモデリング。</a:t>
            </a:r>
            <a:endParaRPr kumimoji="1" lang="en-US" altLang="ja-JP" dirty="0"/>
          </a:p>
          <a:p>
            <a:pPr defTabSz="946496">
              <a:defRPr/>
            </a:pPr>
            <a:endParaRPr kumimoji="1" lang="en-US" altLang="ja-JP" dirty="0"/>
          </a:p>
          <a:p>
            <a:pPr defTabSz="946496">
              <a:defRPr/>
            </a:pPr>
            <a:r>
              <a:rPr kumimoji="1" lang="en-US" altLang="ja-JP" dirty="0"/>
              <a:t>【</a:t>
            </a:r>
            <a:r>
              <a:rPr kumimoji="1" lang="ja-JP" altLang="en-US" dirty="0"/>
              <a:t>風災サーベイ</a:t>
            </a:r>
            <a:r>
              <a:rPr kumimoji="1" lang="en-US" altLang="ja-JP" dirty="0"/>
              <a:t>】</a:t>
            </a:r>
          </a:p>
          <a:p>
            <a:pPr defTabSz="946496">
              <a:defRPr/>
            </a:pPr>
            <a:r>
              <a:rPr kumimoji="1" lang="ja-JP" altLang="en-US" dirty="0"/>
              <a:t>これまでまともな風災メニューがなかった。</a:t>
            </a:r>
            <a:endParaRPr kumimoji="1" lang="en-US" altLang="ja-JP" dirty="0"/>
          </a:p>
          <a:p>
            <a:pPr defTabSz="946496">
              <a:defRPr/>
            </a:pPr>
            <a:r>
              <a:rPr kumimoji="1" lang="ja-JP" altLang="en-US" dirty="0"/>
              <a:t>・ドローン→サーベイ実施目途がついた。</a:t>
            </a:r>
            <a:r>
              <a:rPr kumimoji="1" lang="en-US" altLang="ja-JP" dirty="0"/>
              <a:t>NEC</a:t>
            </a:r>
            <a:r>
              <a:rPr kumimoji="1" lang="ja-JP" altLang="en-US" dirty="0"/>
              <a:t>ネッツアイのドローン操縦で建物上部や高所側面を撮影して危ない箇所をすべてピックアップする。</a:t>
            </a:r>
            <a:endParaRPr kumimoji="1" lang="en-US" altLang="ja-JP" dirty="0"/>
          </a:p>
          <a:p>
            <a:pPr defTabSz="946496">
              <a:defRPr/>
            </a:pPr>
            <a:r>
              <a:rPr kumimoji="1" lang="ja-JP" altLang="en-US" dirty="0"/>
              <a:t>　　　　　　台風シーズンに間に合わせたい。</a:t>
            </a:r>
            <a:endParaRPr kumimoji="1" lang="en-US" altLang="ja-JP" dirty="0"/>
          </a:p>
          <a:p>
            <a:pPr defTabSz="946496">
              <a:defRPr/>
            </a:pPr>
            <a:r>
              <a:rPr kumimoji="1" lang="ja-JP" altLang="en-US" dirty="0"/>
              <a:t>・風災シミュレーション流体解析→</a:t>
            </a:r>
            <a:r>
              <a:rPr kumimoji="1" lang="en-US" altLang="ja-JP" dirty="0"/>
              <a:t>3D</a:t>
            </a:r>
            <a:r>
              <a:rPr kumimoji="1" lang="ja-JP" altLang="en-US" dirty="0"/>
              <a:t>モデルをメッシュ化して、流体シミュレーションをかける。</a:t>
            </a:r>
            <a:endParaRPr kumimoji="1" lang="en-US" altLang="ja-JP" dirty="0"/>
          </a:p>
          <a:p>
            <a:pPr defTabSz="946496">
              <a:defRPr/>
            </a:pPr>
            <a:r>
              <a:rPr kumimoji="1" lang="ja-JP" altLang="en-US" dirty="0"/>
              <a:t>　　　　　　　　　　　　　　　　　　　　工場の最大風速と組み合わせて、どこに一番風圧を受けるか、ドローン調査結果と合わせて風災対策（予防保全）をしてもらう。</a:t>
            </a:r>
          </a:p>
        </p:txBody>
      </p:sp>
      <p:sp>
        <p:nvSpPr>
          <p:cNvPr id="4" name="スライド番号プレースホルダー 3"/>
          <p:cNvSpPr>
            <a:spLocks noGrp="1"/>
          </p:cNvSpPr>
          <p:nvPr>
            <p:ph type="sldNum" sz="quarter" idx="10"/>
          </p:nvPr>
        </p:nvSpPr>
        <p:spPr/>
        <p:txBody>
          <a:bodyPr/>
          <a:lstStyle/>
          <a:p>
            <a:pPr>
              <a:defRPr/>
            </a:pPr>
            <a:fld id="{28C68A0B-F548-4AAF-9AC3-8EED48426746}" type="slidenum">
              <a:rPr lang="ja-JP" altLang="en-US" smtClean="0"/>
              <a:pPr>
                <a:defRPr/>
              </a:pPr>
              <a:t>8</a:t>
            </a:fld>
            <a:endParaRPr lang="ja-JP" altLang="en-US"/>
          </a:p>
        </p:txBody>
      </p:sp>
    </p:spTree>
    <p:extLst>
      <p:ext uri="{BB962C8B-B14F-4D97-AF65-F5344CB8AC3E}">
        <p14:creationId xmlns:p14="http://schemas.microsoft.com/office/powerpoint/2010/main" val="2770715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スライド イメージ プレースホルダー 1"/>
          <p:cNvSpPr>
            <a:spLocks noGrp="1" noRot="1" noChangeAspect="1" noTextEdit="1"/>
          </p:cNvSpPr>
          <p:nvPr>
            <p:ph type="sldImg"/>
          </p:nvPr>
        </p:nvSpPr>
        <p:spPr bwMode="auto">
          <a:xfrm>
            <a:off x="992188" y="766763"/>
            <a:ext cx="5118100" cy="38385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2560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Calibri" panose="020F0502020204030204" pitchFamily="34" charset="0"/>
                <a:ea typeface="ＭＳ Ｐゴシック" panose="020B0600070205080204" pitchFamily="50" charset="-128"/>
              </a:defRPr>
            </a:lvl1pPr>
            <a:lvl2pPr marL="775433" indent="-297359">
              <a:spcBef>
                <a:spcPct val="30000"/>
              </a:spcBef>
              <a:defRPr kumimoji="1" sz="1200">
                <a:solidFill>
                  <a:schemeClr val="tx1"/>
                </a:solidFill>
                <a:latin typeface="Calibri" panose="020F0502020204030204" pitchFamily="34" charset="0"/>
                <a:ea typeface="ＭＳ Ｐゴシック" panose="020B0600070205080204" pitchFamily="50" charset="-128"/>
              </a:defRPr>
            </a:lvl2pPr>
            <a:lvl3pPr marL="1192723" indent="-238218">
              <a:spcBef>
                <a:spcPct val="30000"/>
              </a:spcBef>
              <a:defRPr kumimoji="1" sz="1200">
                <a:solidFill>
                  <a:schemeClr val="tx1"/>
                </a:solidFill>
                <a:latin typeface="Calibri" panose="020F0502020204030204" pitchFamily="34" charset="0"/>
                <a:ea typeface="ＭＳ Ｐゴシック" panose="020B0600070205080204" pitchFamily="50" charset="-128"/>
              </a:defRPr>
            </a:lvl3pPr>
            <a:lvl4pPr marL="1669155" indent="-238218">
              <a:spcBef>
                <a:spcPct val="30000"/>
              </a:spcBef>
              <a:defRPr kumimoji="1" sz="1200">
                <a:solidFill>
                  <a:schemeClr val="tx1"/>
                </a:solidFill>
                <a:latin typeface="Calibri" panose="020F0502020204030204" pitchFamily="34" charset="0"/>
                <a:ea typeface="ＭＳ Ｐゴシック" panose="020B0600070205080204" pitchFamily="50" charset="-128"/>
              </a:defRPr>
            </a:lvl4pPr>
            <a:lvl5pPr marL="2147231" indent="-238218">
              <a:spcBef>
                <a:spcPct val="30000"/>
              </a:spcBef>
              <a:defRPr kumimoji="1" sz="1200">
                <a:solidFill>
                  <a:schemeClr val="tx1"/>
                </a:solidFill>
                <a:latin typeface="Calibri" panose="020F0502020204030204" pitchFamily="34" charset="0"/>
                <a:ea typeface="ＭＳ Ｐゴシック" panose="020B0600070205080204" pitchFamily="50" charset="-128"/>
              </a:defRPr>
            </a:lvl5pPr>
            <a:lvl6pPr marL="2620376"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6pPr>
            <a:lvl7pPr marL="3093523"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7pPr>
            <a:lvl8pPr marL="3566668"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8pPr>
            <a:lvl9pPr marL="4039815" indent="-238218"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9pPr>
          </a:lstStyle>
          <a:p>
            <a:pPr>
              <a:spcBef>
                <a:spcPct val="0"/>
              </a:spcBef>
            </a:pPr>
            <a:fld id="{3CEBE3C2-1CBF-46AF-BB0A-595F7FFD2644}" type="slidenum">
              <a:rPr lang="ja-JP" altLang="en-US">
                <a:latin typeface="Arial" panose="020B0604020202020204" pitchFamily="34" charset="0"/>
              </a:rPr>
              <a:pPr>
                <a:spcBef>
                  <a:spcPct val="0"/>
                </a:spcBef>
              </a:pPr>
              <a:t>10</a:t>
            </a:fld>
            <a:endParaRPr lang="ja-JP" altLang="en-US">
              <a:latin typeface="Arial" panose="020B0604020202020204" pitchFamily="34" charset="0"/>
            </a:endParaRPr>
          </a:p>
        </p:txBody>
      </p:sp>
    </p:spTree>
    <p:extLst>
      <p:ext uri="{BB962C8B-B14F-4D97-AF65-F5344CB8AC3E}">
        <p14:creationId xmlns:p14="http://schemas.microsoft.com/office/powerpoint/2010/main" val="129596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5" name="フッター プレースホルダー 4"/>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737895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5" name="フッター プレースホルダー 4"/>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1404206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5" name="フッター プレースホルダー 4"/>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3359842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6" name="フッター プレースホルダー 5"/>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2905455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8" name="フッター プレースホルダー 7"/>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1273884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4" name="フッター プレースホルダー 3"/>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1080551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3" name="フッター プレースホルダー 2"/>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30377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6" name="フッター プレースホルダー 5"/>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123006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6" name="フッター プレースホルダー 5"/>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3788511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5" name="フッター プレースホルダー 4"/>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1290385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a:xfrm>
            <a:off x="457200" y="6356350"/>
            <a:ext cx="2133600" cy="365125"/>
          </a:xfrm>
          <a:prstGeom prst="rect">
            <a:avLst/>
          </a:prstGeom>
        </p:spPr>
        <p:txBody>
          <a:bodyPr/>
          <a:lstStyle/>
          <a:p>
            <a:fld id="{44E39365-3ED6-49ED-88C6-F54C12C90F07}" type="datetimeFigureOut">
              <a:rPr kumimoji="1" lang="ja-JP" altLang="en-US" smtClean="0"/>
              <a:t>2026/9/4</a:t>
            </a:fld>
            <a:endParaRPr kumimoji="1" lang="ja-JP" altLang="en-US"/>
          </a:p>
        </p:txBody>
      </p:sp>
      <p:sp>
        <p:nvSpPr>
          <p:cNvPr id="5" name="フッター プレースホルダー 4"/>
          <p:cNvSpPr>
            <a:spLocks noGrp="1"/>
          </p:cNvSpPr>
          <p:nvPr>
            <p:ph type="ftr" sz="quarter" idx="11"/>
          </p:nvPr>
        </p:nvSpPr>
        <p:spPr>
          <a:xfrm>
            <a:off x="3124200" y="6356350"/>
            <a:ext cx="28956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45044F0-29CD-49B5-B865-6DA5F3E581FC}" type="slidenum">
              <a:rPr kumimoji="1" lang="ja-JP" altLang="en-US" smtClean="0"/>
              <a:t>‹#›</a:t>
            </a:fld>
            <a:endParaRPr kumimoji="1" lang="ja-JP" altLang="en-US"/>
          </a:p>
        </p:txBody>
      </p:sp>
    </p:spTree>
    <p:extLst>
      <p:ext uri="{BB962C8B-B14F-4D97-AF65-F5344CB8AC3E}">
        <p14:creationId xmlns:p14="http://schemas.microsoft.com/office/powerpoint/2010/main" val="1709155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本編（著作権表記あり）">
    <p:spTree>
      <p:nvGrpSpPr>
        <p:cNvPr id="1" name=""/>
        <p:cNvGrpSpPr/>
        <p:nvPr/>
      </p:nvGrpSpPr>
      <p:grpSpPr>
        <a:xfrm>
          <a:off x="0" y="0"/>
          <a:ext cx="0" cy="0"/>
          <a:chOff x="0" y="0"/>
          <a:chExt cx="0" cy="0"/>
        </a:xfrm>
      </p:grpSpPr>
      <p:grpSp>
        <p:nvGrpSpPr>
          <p:cNvPr id="4" name="グループ化 93"/>
          <p:cNvGrpSpPr>
            <a:grpSpLocks/>
          </p:cNvGrpSpPr>
          <p:nvPr userDrawn="1"/>
        </p:nvGrpSpPr>
        <p:grpSpPr bwMode="auto">
          <a:xfrm>
            <a:off x="118697" y="692150"/>
            <a:ext cx="8906608" cy="71438"/>
            <a:chOff x="128588" y="692150"/>
            <a:chExt cx="9648825" cy="71438"/>
          </a:xfrm>
        </p:grpSpPr>
        <p:sp>
          <p:nvSpPr>
            <p:cNvPr id="5" name="正方形/長方形 4"/>
            <p:cNvSpPr/>
            <p:nvPr userDrawn="1"/>
          </p:nvSpPr>
          <p:spPr>
            <a:xfrm>
              <a:off x="128588" y="692150"/>
              <a:ext cx="2376487" cy="71438"/>
            </a:xfrm>
            <a:prstGeom prst="rect">
              <a:avLst/>
            </a:prstGeom>
            <a:solidFill>
              <a:srgbClr val="9EA0A1"/>
            </a:solidFill>
            <a:ln w="9525" cap="flat" cmpd="sng" algn="ctr">
              <a:noFill/>
              <a:prstDash val="solid"/>
            </a:ln>
            <a:effectLst/>
            <a:extLst>
              <a:ext uri="{91240B29-F687-4F45-9708-019B960494DF}">
                <a14:hiddenLine xmlns:a14="http://schemas.microsoft.com/office/drawing/2010/main" w="9525" cap="flat" cmpd="sng" algn="ctr">
                  <a:solidFill>
                    <a:srgbClr val="777777"/>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662" dirty="0">
                <a:ea typeface="メイリオ" pitchFamily="50" charset="-128"/>
              </a:endParaRPr>
            </a:p>
          </p:txBody>
        </p:sp>
        <p:sp>
          <p:nvSpPr>
            <p:cNvPr id="6" name="正方形/長方形 5"/>
            <p:cNvSpPr/>
            <p:nvPr userDrawn="1"/>
          </p:nvSpPr>
          <p:spPr>
            <a:xfrm>
              <a:off x="2505075" y="692150"/>
              <a:ext cx="7272338" cy="71438"/>
            </a:xfrm>
            <a:prstGeom prst="rect">
              <a:avLst/>
            </a:prstGeom>
            <a:solidFill>
              <a:srgbClr val="006C60"/>
            </a:solidFill>
            <a:ln w="9525" cap="flat" cmpd="sng" algn="ctr">
              <a:noFill/>
              <a:prstDash val="solid"/>
            </a:ln>
            <a:effectLst/>
            <a:extLst>
              <a:ext uri="{91240B29-F687-4F45-9708-019B960494DF}">
                <a14:hiddenLine xmlns:a14="http://schemas.microsoft.com/office/drawing/2010/main" w="9525" cap="flat" cmpd="sng" algn="ctr">
                  <a:solidFill>
                    <a:srgbClr val="777777"/>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662" dirty="0">
                <a:solidFill>
                  <a:srgbClr val="9EA0A1"/>
                </a:solidFill>
                <a:ea typeface="メイリオ" pitchFamily="50" charset="-128"/>
              </a:endParaRPr>
            </a:p>
          </p:txBody>
        </p:sp>
        <p:sp>
          <p:nvSpPr>
            <p:cNvPr id="7" name="直角三角形 6"/>
            <p:cNvSpPr/>
            <p:nvPr userDrawn="1"/>
          </p:nvSpPr>
          <p:spPr>
            <a:xfrm flipV="1">
              <a:off x="2505075" y="692150"/>
              <a:ext cx="77788" cy="71438"/>
            </a:xfrm>
            <a:prstGeom prst="rtTriangle">
              <a:avLst/>
            </a:prstGeom>
            <a:solidFill>
              <a:srgbClr val="9EA0A1"/>
            </a:solidFill>
            <a:ln w="9525" cap="flat" cmpd="sng" algn="ctr">
              <a:noFill/>
              <a:prstDash val="solid"/>
            </a:ln>
            <a:effectLst/>
            <a:extLst>
              <a:ext uri="{91240B29-F687-4F45-9708-019B960494DF}">
                <a14:hiddenLine xmlns:a14="http://schemas.microsoft.com/office/drawing/2010/main" w="9525" cap="flat" cmpd="sng" algn="ctr">
                  <a:solidFill>
                    <a:srgbClr val="006C6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662" dirty="0">
                <a:ea typeface="メイリオ" pitchFamily="50" charset="-128"/>
              </a:endParaRPr>
            </a:p>
          </p:txBody>
        </p:sp>
      </p:grpSp>
      <p:cxnSp>
        <p:nvCxnSpPr>
          <p:cNvPr id="8" name="直線コネクタ 7"/>
          <p:cNvCxnSpPr/>
          <p:nvPr userDrawn="1"/>
        </p:nvCxnSpPr>
        <p:spPr>
          <a:xfrm>
            <a:off x="118697" y="6491288"/>
            <a:ext cx="8906608" cy="0"/>
          </a:xfrm>
          <a:prstGeom prst="line">
            <a:avLst/>
          </a:prstGeom>
          <a:ln w="12700">
            <a:solidFill>
              <a:srgbClr val="414243"/>
            </a:solidFill>
            <a:tailEnd type="none"/>
          </a:ln>
        </p:spPr>
        <p:style>
          <a:lnRef idx="1">
            <a:schemeClr val="accent1"/>
          </a:lnRef>
          <a:fillRef idx="0">
            <a:schemeClr val="accent1"/>
          </a:fillRef>
          <a:effectRef idx="0">
            <a:schemeClr val="accent1"/>
          </a:effectRef>
          <a:fontRef idx="minor">
            <a:schemeClr val="tx1"/>
          </a:fontRef>
        </p:style>
      </p:cxnSp>
      <p:sp>
        <p:nvSpPr>
          <p:cNvPr id="9" name="テキスト ボックス 16"/>
          <p:cNvSpPr txBox="1">
            <a:spLocks noChangeArrowheads="1"/>
          </p:cNvSpPr>
          <p:nvPr userDrawn="1"/>
        </p:nvSpPr>
        <p:spPr bwMode="auto">
          <a:xfrm>
            <a:off x="5436577" y="6578601"/>
            <a:ext cx="29908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eaLnBrk="0" hangingPunct="0">
              <a:buClr>
                <a:srgbClr val="AAAAAA"/>
              </a:buClr>
              <a:buSzPct val="100000"/>
              <a:buFont typeface="Wingdings" pitchFamily="2" charset="2"/>
              <a:buChar char="n"/>
              <a:defRPr kumimoji="1" sz="1000">
                <a:solidFill>
                  <a:schemeClr val="tx1"/>
                </a:solidFill>
                <a:latin typeface="Arial" charset="0"/>
                <a:ea typeface="ＭＳ Ｐゴシック" charset="-128"/>
              </a:defRPr>
            </a:lvl1pPr>
            <a:lvl2pPr marL="742950" indent="-285750" eaLnBrk="0" hangingPunct="0">
              <a:buClr>
                <a:srgbClr val="AAAAAA"/>
              </a:buClr>
              <a:buSzPct val="120000"/>
              <a:buFont typeface="Arial" charset="0"/>
              <a:buChar char="»"/>
              <a:defRPr kumimoji="1" sz="1000">
                <a:solidFill>
                  <a:schemeClr val="tx1"/>
                </a:solidFill>
                <a:latin typeface="Arial" charset="0"/>
                <a:ea typeface="ＭＳ Ｐゴシック" charset="-128"/>
              </a:defRPr>
            </a:lvl2pPr>
            <a:lvl3pPr marL="1143000" indent="-228600" eaLnBrk="0" hangingPunct="0">
              <a:buClr>
                <a:srgbClr val="AAAAAA"/>
              </a:buClr>
              <a:buSzPct val="100000"/>
              <a:buFont typeface="Arial" charset="0"/>
              <a:buChar char="-"/>
              <a:defRPr kumimoji="1" sz="1000">
                <a:solidFill>
                  <a:schemeClr val="tx1"/>
                </a:solidFill>
                <a:latin typeface="Arial" charset="0"/>
                <a:ea typeface="ＭＳ Ｐゴシック" charset="-128"/>
              </a:defRPr>
            </a:lvl3pPr>
            <a:lvl4pPr marL="1600200" indent="-228600" eaLnBrk="0" hangingPunct="0">
              <a:buClr>
                <a:srgbClr val="AAAAAA"/>
              </a:buClr>
              <a:buSzPct val="100000"/>
              <a:buFont typeface="Arial" charset="0"/>
              <a:buChar char="-"/>
              <a:defRPr kumimoji="1" sz="1000">
                <a:solidFill>
                  <a:schemeClr val="tx1"/>
                </a:solidFill>
                <a:latin typeface="Arial" charset="0"/>
                <a:ea typeface="ＭＳ Ｐゴシック" charset="-128"/>
              </a:defRPr>
            </a:lvl4pPr>
            <a:lvl5pPr marL="2057400" indent="-228600" eaLnBrk="0" hangingPunct="0">
              <a:buClr>
                <a:srgbClr val="AAAAAA"/>
              </a:buClr>
              <a:buSzPct val="100000"/>
              <a:buFont typeface="Arial" charset="0"/>
              <a:buChar char="-"/>
              <a:defRPr kumimoji="1" sz="1000">
                <a:solidFill>
                  <a:schemeClr val="tx1"/>
                </a:solidFill>
                <a:latin typeface="Arial" charset="0"/>
                <a:ea typeface="ＭＳ Ｐゴシック" charset="-128"/>
              </a:defRPr>
            </a:lvl5pPr>
            <a:lvl6pPr marL="25146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6pPr>
            <a:lvl7pPr marL="29718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7pPr>
            <a:lvl8pPr marL="34290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8pPr>
            <a:lvl9pPr marL="3886200" indent="-228600" eaLnBrk="0" fontAlgn="base" hangingPunct="0">
              <a:spcBef>
                <a:spcPct val="0"/>
              </a:spcBef>
              <a:spcAft>
                <a:spcPct val="0"/>
              </a:spcAft>
              <a:buClr>
                <a:srgbClr val="AAAAAA"/>
              </a:buClr>
              <a:buSzPct val="100000"/>
              <a:buFont typeface="Arial" charset="0"/>
              <a:buChar char="-"/>
              <a:defRPr kumimoji="1" sz="1000">
                <a:solidFill>
                  <a:schemeClr val="tx1"/>
                </a:solidFill>
                <a:latin typeface="Arial" charset="0"/>
                <a:ea typeface="ＭＳ Ｐゴシック" charset="-128"/>
              </a:defRPr>
            </a:lvl9pPr>
          </a:lstStyle>
          <a:p>
            <a:pPr algn="r" eaLnBrk="1" fontAlgn="auto" hangingPunct="1">
              <a:spcBef>
                <a:spcPts val="0"/>
              </a:spcBef>
              <a:spcAft>
                <a:spcPts val="0"/>
              </a:spcAft>
              <a:buClrTx/>
              <a:buSzTx/>
              <a:buFontTx/>
              <a:buNone/>
              <a:defRPr/>
            </a:pPr>
            <a:r>
              <a:rPr lang="en-US" altLang="ja-JP" sz="1015" dirty="0">
                <a:solidFill>
                  <a:srgbClr val="000000"/>
                </a:solidFill>
                <a:ea typeface="メイリオ" pitchFamily="50" charset="-128"/>
              </a:rPr>
              <a:t>©MS&amp;AD InterRisk Research &amp; Consulting, Inc.</a:t>
            </a:r>
          </a:p>
        </p:txBody>
      </p:sp>
      <p:pic>
        <p:nvPicPr>
          <p:cNvPr id="10" name="Picture 24"/>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8697" y="6543676"/>
            <a:ext cx="542192" cy="28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テキスト ボックス 8"/>
          <p:cNvSpPr txBox="1">
            <a:spLocks noChangeArrowheads="1"/>
          </p:cNvSpPr>
          <p:nvPr userDrawn="1"/>
        </p:nvSpPr>
        <p:spPr bwMode="auto">
          <a:xfrm>
            <a:off x="118697" y="765175"/>
            <a:ext cx="890660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3200"/>
          <a:lstStyle>
            <a:lvl1pPr>
              <a:defRPr kumimoji="1">
                <a:solidFill>
                  <a:schemeClr val="tx1"/>
                </a:solidFill>
                <a:latin typeface="Arial" charset="0"/>
                <a:ea typeface="ＭＳ Ｐゴシック" charset="-128"/>
              </a:defRPr>
            </a:lvl1pPr>
            <a:lvl2pPr marL="742950" indent="-285750">
              <a:defRPr kumimoji="1">
                <a:solidFill>
                  <a:schemeClr val="tx1"/>
                </a:solidFill>
                <a:latin typeface="Arial" charset="0"/>
                <a:ea typeface="ＭＳ Ｐゴシック" charset="-128"/>
              </a:defRPr>
            </a:lvl2pPr>
            <a:lvl3pPr marL="1143000" indent="-228600">
              <a:defRPr kumimoji="1">
                <a:solidFill>
                  <a:schemeClr val="tx1"/>
                </a:solidFill>
                <a:latin typeface="Arial" charset="0"/>
                <a:ea typeface="ＭＳ Ｐゴシック" charset="-128"/>
              </a:defRPr>
            </a:lvl3pPr>
            <a:lvl4pPr marL="1600200"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pPr eaLnBrk="1" hangingPunct="1">
              <a:buClr>
                <a:srgbClr val="AAAAAA"/>
              </a:buClr>
              <a:buSzPct val="110000"/>
              <a:buFont typeface="Wingdings" pitchFamily="2" charset="2"/>
              <a:buNone/>
              <a:defRPr/>
            </a:pPr>
            <a:endParaRPr lang="en-US" altLang="ja-JP" sz="1662" b="1" dirty="0">
              <a:solidFill>
                <a:srgbClr val="000000"/>
              </a:solidFill>
              <a:ea typeface="メイリオ" pitchFamily="50" charset="-128"/>
            </a:endParaRPr>
          </a:p>
        </p:txBody>
      </p:sp>
      <p:sp>
        <p:nvSpPr>
          <p:cNvPr id="13" name="テキスト ボックス 12"/>
          <p:cNvSpPr txBox="1">
            <a:spLocks noChangeArrowheads="1"/>
          </p:cNvSpPr>
          <p:nvPr userDrawn="1"/>
        </p:nvSpPr>
        <p:spPr bwMode="auto">
          <a:xfrm>
            <a:off x="118697" y="1484313"/>
            <a:ext cx="8906608" cy="360362"/>
          </a:xfrm>
          <a:prstGeom prst="rect">
            <a:avLst/>
          </a:prstGeom>
          <a:noFill/>
          <a:ln>
            <a:noFill/>
          </a:ln>
          <a:extLst>
            <a:ext uri="{909E8E84-426E-40DD-AFC4-6F175D3DCCD1}">
              <a14:hiddenFill xmlns:a14="http://schemas.microsoft.com/office/drawing/2010/main">
                <a:solidFill>
                  <a:srgbClr val="353C83">
                    <a:alpha val="21176"/>
                  </a:srgbClr>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nchor="b"/>
          <a:lstStyle>
            <a:lvl1pPr>
              <a:spcBef>
                <a:spcPct val="20000"/>
              </a:spcBef>
              <a:buClr>
                <a:srgbClr val="9EA0A1"/>
              </a:buClr>
              <a:buSzPct val="110000"/>
              <a:buFont typeface="Wingdings" pitchFamily="2" charset="2"/>
              <a:buChar char="n"/>
              <a:defRPr kumimoji="1" sz="1200">
                <a:solidFill>
                  <a:schemeClr val="tx1"/>
                </a:solidFill>
                <a:latin typeface="Arial" charset="0"/>
                <a:ea typeface="ＭＳ Ｐゴシック" charset="-128"/>
              </a:defRPr>
            </a:lvl1pPr>
            <a:lvl2pPr marL="742950" indent="-285750">
              <a:spcBef>
                <a:spcPct val="20000"/>
              </a:spcBef>
              <a:buClr>
                <a:srgbClr val="9EA0A1"/>
              </a:buClr>
              <a:buSzPct val="120000"/>
              <a:buFont typeface="Arial" charset="0"/>
              <a:buChar char="»"/>
              <a:defRPr kumimoji="1" sz="1200">
                <a:solidFill>
                  <a:schemeClr val="tx1"/>
                </a:solidFill>
                <a:latin typeface="Arial" charset="0"/>
                <a:ea typeface="ＭＳ Ｐゴシック" charset="-128"/>
              </a:defRPr>
            </a:lvl2pPr>
            <a:lvl3pPr marL="1143000" indent="-228600">
              <a:spcBef>
                <a:spcPct val="20000"/>
              </a:spcBef>
              <a:buClr>
                <a:srgbClr val="9EA0A1"/>
              </a:buClr>
              <a:buFont typeface="Arial" charset="0"/>
              <a:buChar char="-"/>
              <a:defRPr kumimoji="1" sz="1200">
                <a:solidFill>
                  <a:schemeClr val="tx1"/>
                </a:solidFill>
                <a:latin typeface="Arial" charset="0"/>
                <a:ea typeface="ＭＳ Ｐゴシック" charset="-128"/>
              </a:defRPr>
            </a:lvl3pPr>
            <a:lvl4pPr marL="1600200" indent="-228600">
              <a:spcBef>
                <a:spcPct val="20000"/>
              </a:spcBef>
              <a:buClr>
                <a:srgbClr val="9EA0A1"/>
              </a:buClr>
              <a:buFont typeface="Arial" charset="0"/>
              <a:buChar char="-"/>
              <a:defRPr kumimoji="1" sz="1200">
                <a:solidFill>
                  <a:schemeClr val="tx1"/>
                </a:solidFill>
                <a:latin typeface="Arial" charset="0"/>
                <a:ea typeface="ＭＳ Ｐゴシック" charset="-128"/>
              </a:defRPr>
            </a:lvl4pPr>
            <a:lvl5pPr marL="2057400" indent="-228600">
              <a:spcBef>
                <a:spcPct val="20000"/>
              </a:spcBef>
              <a:buClr>
                <a:srgbClr val="9EA0A1"/>
              </a:buClr>
              <a:buFont typeface="Arial" charset="0"/>
              <a:buChar char="-"/>
              <a:defRPr kumimoji="1" sz="1200">
                <a:solidFill>
                  <a:schemeClr val="tx1"/>
                </a:solidFill>
                <a:latin typeface="Arial" charset="0"/>
                <a:ea typeface="ＭＳ Ｐゴシック" charset="-128"/>
              </a:defRPr>
            </a:lvl5pPr>
            <a:lvl6pPr marL="2514600" indent="-228600" fontAlgn="base">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6pPr>
            <a:lvl7pPr marL="2971800" indent="-228600" fontAlgn="base">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7pPr>
            <a:lvl8pPr marL="3429000" indent="-228600" fontAlgn="base">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8pPr>
            <a:lvl9pPr marL="3886200" indent="-228600" fontAlgn="base">
              <a:spcBef>
                <a:spcPct val="20000"/>
              </a:spcBef>
              <a:spcAft>
                <a:spcPct val="0"/>
              </a:spcAft>
              <a:buClr>
                <a:srgbClr val="9EA0A1"/>
              </a:buClr>
              <a:buFont typeface="Arial" charset="0"/>
              <a:buChar char="-"/>
              <a:defRPr kumimoji="1" sz="1200">
                <a:solidFill>
                  <a:schemeClr val="tx1"/>
                </a:solidFill>
                <a:latin typeface="Arial" charset="0"/>
                <a:ea typeface="ＭＳ Ｐゴシック" charset="-128"/>
              </a:defRPr>
            </a:lvl9pPr>
          </a:lstStyle>
          <a:p>
            <a:pPr eaLnBrk="1" fontAlgn="auto" hangingPunct="1">
              <a:spcBef>
                <a:spcPct val="0"/>
              </a:spcBef>
              <a:spcAft>
                <a:spcPts val="0"/>
              </a:spcAft>
              <a:buClr>
                <a:srgbClr val="353C83"/>
              </a:buClr>
              <a:buSzPct val="100000"/>
              <a:buFontTx/>
              <a:buNone/>
              <a:defRPr/>
            </a:pPr>
            <a:endParaRPr lang="en-US" altLang="ja-JP" sz="1200" b="1" dirty="0">
              <a:ea typeface="メイリオ" pitchFamily="50" charset="-128"/>
            </a:endParaRPr>
          </a:p>
        </p:txBody>
      </p:sp>
      <p:sp>
        <p:nvSpPr>
          <p:cNvPr id="14" name="テキスト ボックス 7"/>
          <p:cNvSpPr txBox="1">
            <a:spLocks noChangeArrowheads="1"/>
          </p:cNvSpPr>
          <p:nvPr userDrawn="1"/>
        </p:nvSpPr>
        <p:spPr bwMode="auto">
          <a:xfrm>
            <a:off x="118697" y="6092825"/>
            <a:ext cx="890660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077" tIns="0" rIns="0" bIns="0" anchor="b"/>
          <a:lstStyle>
            <a:lvl1pPr>
              <a:tabLst>
                <a:tab pos="357188" algn="l"/>
              </a:tabLst>
              <a:defRPr kumimoji="1">
                <a:solidFill>
                  <a:schemeClr val="tx1"/>
                </a:solidFill>
                <a:latin typeface="Arial" charset="0"/>
                <a:ea typeface="ＭＳ Ｐゴシック" charset="-128"/>
              </a:defRPr>
            </a:lvl1pPr>
            <a:lvl2pPr marL="742950" indent="-285750">
              <a:tabLst>
                <a:tab pos="357188" algn="l"/>
              </a:tabLst>
              <a:defRPr kumimoji="1">
                <a:solidFill>
                  <a:schemeClr val="tx1"/>
                </a:solidFill>
                <a:latin typeface="Arial" charset="0"/>
                <a:ea typeface="ＭＳ Ｐゴシック" charset="-128"/>
              </a:defRPr>
            </a:lvl2pPr>
            <a:lvl3pPr marL="1143000" indent="-228600">
              <a:tabLst>
                <a:tab pos="357188" algn="l"/>
              </a:tabLst>
              <a:defRPr kumimoji="1">
                <a:solidFill>
                  <a:schemeClr val="tx1"/>
                </a:solidFill>
                <a:latin typeface="Arial" charset="0"/>
                <a:ea typeface="ＭＳ Ｐゴシック" charset="-128"/>
              </a:defRPr>
            </a:lvl3pPr>
            <a:lvl4pPr marL="1600200" indent="-228600">
              <a:tabLst>
                <a:tab pos="357188" algn="l"/>
              </a:tabLst>
              <a:defRPr kumimoji="1">
                <a:solidFill>
                  <a:schemeClr val="tx1"/>
                </a:solidFill>
                <a:latin typeface="Arial" charset="0"/>
                <a:ea typeface="ＭＳ Ｐゴシック" charset="-128"/>
              </a:defRPr>
            </a:lvl4pPr>
            <a:lvl5pPr marL="2057400" indent="-228600">
              <a:tabLst>
                <a:tab pos="357188" algn="l"/>
              </a:tabLst>
              <a:defRPr kumimoji="1">
                <a:solidFill>
                  <a:schemeClr val="tx1"/>
                </a:solidFill>
                <a:latin typeface="Arial" charset="0"/>
                <a:ea typeface="ＭＳ Ｐゴシック" charset="-128"/>
              </a:defRPr>
            </a:lvl5pPr>
            <a:lvl6pPr marL="2514600" indent="-228600" fontAlgn="base">
              <a:spcBef>
                <a:spcPct val="0"/>
              </a:spcBef>
              <a:spcAft>
                <a:spcPct val="0"/>
              </a:spcAft>
              <a:tabLst>
                <a:tab pos="357188" algn="l"/>
              </a:tabLst>
              <a:defRPr kumimoji="1">
                <a:solidFill>
                  <a:schemeClr val="tx1"/>
                </a:solidFill>
                <a:latin typeface="Arial" charset="0"/>
                <a:ea typeface="ＭＳ Ｐゴシック" charset="-128"/>
              </a:defRPr>
            </a:lvl6pPr>
            <a:lvl7pPr marL="2971800" indent="-228600" fontAlgn="base">
              <a:spcBef>
                <a:spcPct val="0"/>
              </a:spcBef>
              <a:spcAft>
                <a:spcPct val="0"/>
              </a:spcAft>
              <a:tabLst>
                <a:tab pos="357188" algn="l"/>
              </a:tabLst>
              <a:defRPr kumimoji="1">
                <a:solidFill>
                  <a:schemeClr val="tx1"/>
                </a:solidFill>
                <a:latin typeface="Arial" charset="0"/>
                <a:ea typeface="ＭＳ Ｐゴシック" charset="-128"/>
              </a:defRPr>
            </a:lvl7pPr>
            <a:lvl8pPr marL="3429000" indent="-228600" fontAlgn="base">
              <a:spcBef>
                <a:spcPct val="0"/>
              </a:spcBef>
              <a:spcAft>
                <a:spcPct val="0"/>
              </a:spcAft>
              <a:tabLst>
                <a:tab pos="357188" algn="l"/>
              </a:tabLst>
              <a:defRPr kumimoji="1">
                <a:solidFill>
                  <a:schemeClr val="tx1"/>
                </a:solidFill>
                <a:latin typeface="Arial" charset="0"/>
                <a:ea typeface="ＭＳ Ｐゴシック" charset="-128"/>
              </a:defRPr>
            </a:lvl8pPr>
            <a:lvl9pPr marL="3886200" indent="-228600" fontAlgn="base">
              <a:spcBef>
                <a:spcPct val="0"/>
              </a:spcBef>
              <a:spcAft>
                <a:spcPct val="0"/>
              </a:spcAft>
              <a:tabLst>
                <a:tab pos="357188" algn="l"/>
              </a:tabLst>
              <a:defRPr kumimoji="1">
                <a:solidFill>
                  <a:schemeClr val="tx1"/>
                </a:solidFill>
                <a:latin typeface="Arial" charset="0"/>
                <a:ea typeface="ＭＳ Ｐゴシック" charset="-128"/>
              </a:defRPr>
            </a:lvl9pPr>
          </a:lstStyle>
          <a:p>
            <a:pPr eaLnBrk="1" hangingPunct="1">
              <a:buClr>
                <a:srgbClr val="353C83"/>
              </a:buClr>
              <a:buSzPct val="100000"/>
              <a:defRPr/>
            </a:pPr>
            <a:endParaRPr lang="en-US" altLang="ja-JP" sz="738" dirty="0">
              <a:solidFill>
                <a:srgbClr val="000000"/>
              </a:solidFill>
              <a:ea typeface="メイリオ" pitchFamily="50" charset="-128"/>
            </a:endParaRPr>
          </a:p>
        </p:txBody>
      </p:sp>
      <p:sp>
        <p:nvSpPr>
          <p:cNvPr id="2" name="タイトル 1"/>
          <p:cNvSpPr>
            <a:spLocks noGrp="1"/>
          </p:cNvSpPr>
          <p:nvPr>
            <p:ph type="ctrTitle"/>
          </p:nvPr>
        </p:nvSpPr>
        <p:spPr>
          <a:xfrm>
            <a:off x="118697" y="115888"/>
            <a:ext cx="8906608" cy="57626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lang="ja-JP" altLang="en-US" b="1">
                <a:latin typeface="メイリオ" panose="020B0604030504040204" pitchFamily="50" charset="-128"/>
                <a:ea typeface="メイリオ" panose="020B0604030504040204" pitchFamily="50" charset="-128"/>
              </a:defRPr>
            </a:lvl1pPr>
          </a:lstStyle>
          <a:p>
            <a:pPr lvl="0"/>
            <a:r>
              <a:rPr lang="ja-JP" altLang="en-US" dirty="0"/>
              <a:t>マスター タイトルの書式設定</a:t>
            </a:r>
          </a:p>
        </p:txBody>
      </p:sp>
      <p:sp>
        <p:nvSpPr>
          <p:cNvPr id="12" name="テキスト プレースホルダー 2"/>
          <p:cNvSpPr>
            <a:spLocks noGrp="1"/>
          </p:cNvSpPr>
          <p:nvPr>
            <p:ph idx="1"/>
          </p:nvPr>
        </p:nvSpPr>
        <p:spPr bwMode="auto">
          <a:xfrm>
            <a:off x="118697" y="1844675"/>
            <a:ext cx="8906608"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latin typeface="メイリオ" panose="020B0604030504040204" pitchFamily="50" charset="-128"/>
                <a:ea typeface="メイリオ" panose="020B0604030504040204" pitchFamily="50" charset="-128"/>
              </a:defRPr>
            </a:lvl1pPr>
            <a:lvl2pPr>
              <a:defRPr>
                <a:latin typeface="メイリオ" panose="020B0604030504040204" pitchFamily="50" charset="-128"/>
                <a:ea typeface="メイリオ" panose="020B0604030504040204" pitchFamily="50" charset="-128"/>
              </a:defRPr>
            </a:lvl2pPr>
            <a:lvl3pPr>
              <a:defRPr>
                <a:latin typeface="メイリオ" panose="020B0604030504040204" pitchFamily="50" charset="-128"/>
                <a:ea typeface="メイリオ" panose="020B0604030504040204" pitchFamily="50" charset="-128"/>
              </a:defRPr>
            </a:lvl3pPr>
            <a:lvl4pPr>
              <a:defRPr>
                <a:latin typeface="メイリオ" panose="020B0604030504040204" pitchFamily="50" charset="-128"/>
                <a:ea typeface="メイリオ" panose="020B0604030504040204" pitchFamily="50" charset="-128"/>
              </a:defRPr>
            </a:lvl4pPr>
            <a:lvl5pPr>
              <a:defRPr>
                <a:latin typeface="メイリオ" panose="020B0604030504040204" pitchFamily="50" charset="-128"/>
                <a:ea typeface="メイリオ" panose="020B0604030504040204"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15" name="スライド番号プレースホルダー 5"/>
          <p:cNvSpPr>
            <a:spLocks noGrp="1"/>
          </p:cNvSpPr>
          <p:nvPr>
            <p:ph type="sldNum" sz="quarter" idx="10"/>
          </p:nvPr>
        </p:nvSpPr>
        <p:spPr/>
        <p:txBody>
          <a:bodyPr/>
          <a:lstStyle>
            <a:lvl1pPr>
              <a:defRPr smtClean="0"/>
            </a:lvl1pPr>
          </a:lstStyle>
          <a:p>
            <a:pPr>
              <a:defRPr/>
            </a:pPr>
            <a:endParaRPr lang="en-US" altLang="ja-JP" dirty="0"/>
          </a:p>
        </p:txBody>
      </p:sp>
    </p:spTree>
    <p:extLst>
      <p:ext uri="{BB962C8B-B14F-4D97-AF65-F5344CB8AC3E}">
        <p14:creationId xmlns:p14="http://schemas.microsoft.com/office/powerpoint/2010/main" val="3376010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タイプ2）">
    <p:spTree>
      <p:nvGrpSpPr>
        <p:cNvPr id="1" name=""/>
        <p:cNvGrpSpPr/>
        <p:nvPr/>
      </p:nvGrpSpPr>
      <p:grpSpPr>
        <a:xfrm>
          <a:off x="0" y="0"/>
          <a:ext cx="0" cy="0"/>
          <a:chOff x="0" y="0"/>
          <a:chExt cx="0" cy="0"/>
        </a:xfrm>
      </p:grpSpPr>
      <p:sp>
        <p:nvSpPr>
          <p:cNvPr id="3" name="正方形/長方形 2"/>
          <p:cNvSpPr/>
          <p:nvPr/>
        </p:nvSpPr>
        <p:spPr>
          <a:xfrm>
            <a:off x="1115158" y="3046419"/>
            <a:ext cx="6913685" cy="71437"/>
          </a:xfrm>
          <a:prstGeom prst="rect">
            <a:avLst/>
          </a:prstGeom>
          <a:solidFill>
            <a:srgbClr val="006C60"/>
          </a:solidFill>
          <a:ln w="9525" cap="flat" cmpd="sng" algn="ctr">
            <a:noFill/>
            <a:prstDash val="solid"/>
          </a:ln>
          <a:effectLst/>
          <a:extLst>
            <a:ext uri="{91240B29-F687-4F45-9708-019B960494DF}">
              <a14:hiddenLine xmlns:a14="http://schemas.microsoft.com/office/drawing/2010/main" w="9525" cap="flat" cmpd="sng" algn="ctr">
                <a:solidFill>
                  <a:srgbClr val="777777"/>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350" dirty="0">
              <a:solidFill>
                <a:srgbClr val="9EA0A1"/>
              </a:solidFill>
              <a:ea typeface="メイリオ" pitchFamily="50" charset="-128"/>
            </a:endParaRPr>
          </a:p>
        </p:txBody>
      </p:sp>
      <p:pic>
        <p:nvPicPr>
          <p:cNvPr id="4" name="Picture 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840774" y="5672138"/>
            <a:ext cx="1462454" cy="88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タイトル 1"/>
          <p:cNvSpPr>
            <a:spLocks noGrp="1"/>
          </p:cNvSpPr>
          <p:nvPr>
            <p:ph type="ctrTitle"/>
          </p:nvPr>
        </p:nvSpPr>
        <p:spPr>
          <a:xfrm>
            <a:off x="1115158" y="1844681"/>
            <a:ext cx="6913685" cy="28797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lang="ja-JP" altLang="en-US"/>
            </a:lvl1pPr>
          </a:lstStyle>
          <a:p>
            <a:pPr lvl="0"/>
            <a:r>
              <a:rPr lang="ja-JP" altLang="en-US"/>
              <a:t>マスター タイトルの書式設定</a:t>
            </a:r>
            <a:endParaRPr lang="ja-JP" altLang="en-US" dirty="0"/>
          </a:p>
        </p:txBody>
      </p:sp>
      <p:sp>
        <p:nvSpPr>
          <p:cNvPr id="5" name="正方形/長方形 4"/>
          <p:cNvSpPr/>
          <p:nvPr userDrawn="1"/>
        </p:nvSpPr>
        <p:spPr>
          <a:xfrm>
            <a:off x="1115158" y="3046419"/>
            <a:ext cx="6913685" cy="71437"/>
          </a:xfrm>
          <a:prstGeom prst="rect">
            <a:avLst/>
          </a:prstGeom>
          <a:solidFill>
            <a:srgbClr val="006C60"/>
          </a:solidFill>
          <a:ln w="9525" cap="flat" cmpd="sng" algn="ctr">
            <a:noFill/>
            <a:prstDash val="solid"/>
          </a:ln>
          <a:effectLst/>
          <a:extLst>
            <a:ext uri="{91240B29-F687-4F45-9708-019B960494DF}">
              <a14:hiddenLine xmlns:a14="http://schemas.microsoft.com/office/drawing/2010/main" w="9525" cap="flat" cmpd="sng" algn="ctr">
                <a:solidFill>
                  <a:srgbClr val="777777"/>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ja-JP" altLang="en-US" sz="1350" dirty="0">
              <a:solidFill>
                <a:srgbClr val="9EA0A1"/>
              </a:solidFill>
              <a:ea typeface="メイリオ" pitchFamily="50" charset="-128"/>
            </a:endParaRPr>
          </a:p>
        </p:txBody>
      </p:sp>
      <p:pic>
        <p:nvPicPr>
          <p:cNvPr id="6" name="Picture 5"/>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3840774" y="5672138"/>
            <a:ext cx="1462454" cy="88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7533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939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p:cNvSpPr>
            <a:spLocks noGrp="1"/>
          </p:cNvSpPr>
          <p:nvPr>
            <p:ph type="sldNum" sz="quarter" idx="4"/>
          </p:nvPr>
        </p:nvSpPr>
        <p:spPr>
          <a:xfrm>
            <a:off x="6876256" y="6492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5044F0-29CD-49B5-B865-6DA5F3E581FC}" type="slidenum">
              <a:rPr kumimoji="1" lang="ja-JP" altLang="en-US" smtClean="0"/>
              <a:t>‹#›</a:t>
            </a:fld>
            <a:endParaRPr kumimoji="1" lang="ja-JP" altLang="en-US" dirty="0"/>
          </a:p>
        </p:txBody>
      </p:sp>
      <p:sp>
        <p:nvSpPr>
          <p:cNvPr id="5" name="テキスト ボックス 4">
            <a:extLst>
              <a:ext uri="{FF2B5EF4-FFF2-40B4-BE49-F238E27FC236}">
                <a16:creationId xmlns:a16="http://schemas.microsoft.com/office/drawing/2014/main" id="{4EB539F8-E76F-490C-BBAE-4B7C878F3B1A}"/>
              </a:ext>
            </a:extLst>
          </p:cNvPr>
          <p:cNvSpPr txBox="1">
            <a:spLocks noChangeAspect="1"/>
          </p:cNvSpPr>
          <p:nvPr userDrawn="1"/>
        </p:nvSpPr>
        <p:spPr>
          <a:xfrm>
            <a:off x="7354800" y="274638"/>
            <a:ext cx="1332000" cy="180000"/>
          </a:xfrm>
          <a:prstGeom prst="rect">
            <a:avLst/>
          </a:prstGeom>
          <a:solidFill>
            <a:srgbClr val="404040"/>
          </a:solidFill>
        </p:spPr>
        <p:txBody>
          <a:bodyPr wrap="none" lIns="0" tIns="0" rIns="0" bIns="0" rtlCol="0" anchor="ctr" anchorCtr="0">
            <a:noAutofit/>
          </a:bodyPr>
          <a:lstStyle/>
          <a:p>
            <a:pPr algn="ctr"/>
            <a:r>
              <a:rPr kumimoji="1" lang="en-US" altLang="ja-JP" sz="1000" dirty="0">
                <a:solidFill>
                  <a:srgbClr val="FFFFFF"/>
                </a:solidFill>
                <a:latin typeface="Meiryo UI" panose="020B0604030504040204" pitchFamily="50" charset="-128"/>
                <a:ea typeface="Meiryo UI" panose="020B0604030504040204" pitchFamily="50" charset="-128"/>
              </a:rPr>
              <a:t>Strictly Confidential</a:t>
            </a:r>
            <a:endParaRPr kumimoji="1" lang="ja-JP" altLang="en-US" sz="1000" dirty="0">
              <a:solidFill>
                <a:srgbClr val="FFFFFF"/>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2044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spcBef>
          <a:spcPct val="0"/>
        </a:spcBef>
        <a:buNone/>
        <a:defRPr kumimoji="1" sz="2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5"/>
          <p:cNvSpPr txBox="1">
            <a:spLocks noChangeArrowheads="1"/>
          </p:cNvSpPr>
          <p:nvPr/>
        </p:nvSpPr>
        <p:spPr bwMode="auto">
          <a:xfrm>
            <a:off x="2339752" y="3645024"/>
            <a:ext cx="4420665" cy="1944216"/>
          </a:xfrm>
          <a:prstGeom prst="rect">
            <a:avLst/>
          </a:prstGeom>
          <a:noFill/>
          <a:ln>
            <a:noFill/>
          </a:ln>
          <a:effectLst>
            <a:prstShdw prst="shdw17" dist="17961" dir="2700000">
              <a:srgbClr val="1F622E">
                <a:alpha val="50000"/>
              </a:srgbClr>
            </a:prstShdw>
          </a:effectLst>
          <a:extLst>
            <a:ext uri="{909E8E84-426E-40DD-AFC4-6F175D3DCCD1}">
              <a14:hiddenFill xmlns:a14="http://schemas.microsoft.com/office/drawing/2010/main">
                <a:gradFill rotWithShape="0">
                  <a:gsLst>
                    <a:gs pos="0">
                      <a:schemeClr val="bg1"/>
                    </a:gs>
                    <a:gs pos="100000">
                      <a:srgbClr val="34A44C"/>
                    </a:gs>
                  </a:gsLst>
                  <a:lin ang="0" scaled="1"/>
                </a:gradFill>
              </a14:hiddenFill>
            </a:ext>
            <a:ext uri="{91240B29-F687-4F45-9708-019B960494DF}">
              <a14:hiddenLine xmlns:a14="http://schemas.microsoft.com/office/drawing/2010/main" w="19050" algn="ctr">
                <a:solidFill>
                  <a:srgbClr val="FFFFFF"/>
                </a:solidFill>
                <a:miter lim="800000"/>
                <a:headEnd/>
                <a:tailEnd/>
              </a14:hiddenLine>
            </a:ext>
          </a:extLst>
        </p:spPr>
        <p:txBody>
          <a:bodyPr tIns="35100" anchor="ctr">
            <a:scene3d>
              <a:camera prst="orthographicFront"/>
              <a:lightRig rig="threePt" dir="t"/>
            </a:scene3d>
            <a:sp3d extrusionH="57150">
              <a:bevelT w="69850" h="38100" prst="cross"/>
            </a:sp3d>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algn="ctr">
              <a:defRPr/>
            </a:pPr>
            <a:r>
              <a:rPr lang="ja-JP" altLang="en-US" sz="1600" b="1" kern="1100" dirty="0">
                <a:solidFill>
                  <a:schemeClr val="tx1">
                    <a:lumMod val="75000"/>
                    <a:lumOff val="25000"/>
                  </a:schemeClr>
                </a:solidFill>
                <a:latin typeface="メイリオ" pitchFamily="50" charset="-128"/>
                <a:ea typeface="メイリオ" pitchFamily="50" charset="-128"/>
                <a:cs typeface="メイリオ" pitchFamily="50" charset="-128"/>
              </a:rPr>
              <a:t>ＭＳ＆ＡＤインターリスク総研株式会社</a:t>
            </a:r>
            <a:endParaRPr lang="en-US" altLang="ja-JP" sz="1600" b="1" kern="1100" dirty="0">
              <a:solidFill>
                <a:schemeClr val="tx1">
                  <a:lumMod val="75000"/>
                  <a:lumOff val="25000"/>
                </a:schemeClr>
              </a:solidFill>
              <a:latin typeface="メイリオ" pitchFamily="50" charset="-128"/>
              <a:ea typeface="メイリオ" pitchFamily="50" charset="-128"/>
              <a:cs typeface="メイリオ" pitchFamily="50" charset="-128"/>
            </a:endParaRPr>
          </a:p>
          <a:p>
            <a:pPr algn="ctr">
              <a:defRPr/>
            </a:pPr>
            <a:endParaRPr lang="en-US" altLang="ja-JP" sz="1600" b="1" kern="1100" dirty="0">
              <a:solidFill>
                <a:schemeClr val="tx1">
                  <a:lumMod val="75000"/>
                  <a:lumOff val="25000"/>
                </a:schemeClr>
              </a:solidFill>
              <a:latin typeface="メイリオ" pitchFamily="50" charset="-128"/>
              <a:ea typeface="メイリオ" pitchFamily="50" charset="-128"/>
              <a:cs typeface="メイリオ" pitchFamily="50" charset="-128"/>
            </a:endParaRPr>
          </a:p>
          <a:p>
            <a:pPr algn="ctr">
              <a:defRPr/>
            </a:pPr>
            <a:r>
              <a:rPr lang="ja-JP" altLang="en-US" sz="1600" b="1" kern="1100" dirty="0">
                <a:solidFill>
                  <a:schemeClr val="tx1">
                    <a:lumMod val="75000"/>
                    <a:lumOff val="25000"/>
                  </a:schemeClr>
                </a:solidFill>
                <a:latin typeface="メイリオ" pitchFamily="50" charset="-128"/>
                <a:ea typeface="メイリオ" pitchFamily="50" charset="-128"/>
                <a:cs typeface="メイリオ" pitchFamily="50" charset="-128"/>
              </a:rPr>
              <a:t>リスクマネジメント第一部</a:t>
            </a:r>
            <a:endParaRPr lang="en-US" altLang="ja-JP" sz="1600" b="1" kern="1100" dirty="0">
              <a:solidFill>
                <a:schemeClr val="tx1">
                  <a:lumMod val="75000"/>
                  <a:lumOff val="25000"/>
                </a:schemeClr>
              </a:solidFill>
              <a:latin typeface="メイリオ" pitchFamily="50" charset="-128"/>
              <a:ea typeface="メイリオ" pitchFamily="50" charset="-128"/>
              <a:cs typeface="メイリオ" pitchFamily="50" charset="-128"/>
            </a:endParaRPr>
          </a:p>
        </p:txBody>
      </p:sp>
      <p:sp>
        <p:nvSpPr>
          <p:cNvPr id="8195" name="Text Box 4"/>
          <p:cNvSpPr txBox="1">
            <a:spLocks noChangeArrowheads="1"/>
          </p:cNvSpPr>
          <p:nvPr/>
        </p:nvSpPr>
        <p:spPr bwMode="auto">
          <a:xfrm>
            <a:off x="1277544" y="2243253"/>
            <a:ext cx="6426994" cy="1067990"/>
          </a:xfrm>
          <a:prstGeom prst="rect">
            <a:avLst/>
          </a:prstGeom>
          <a:noFill/>
          <a:ln>
            <a:noFill/>
          </a:ln>
          <a:effectLst>
            <a:prstShdw prst="shdw17" dist="17961" dir="2700000">
              <a:srgbClr val="1F622E">
                <a:alpha val="50000"/>
              </a:srgbClr>
            </a:prstShdw>
          </a:effectLst>
          <a:extLst>
            <a:ext uri="{909E8E84-426E-40DD-AFC4-6F175D3DCCD1}">
              <a14:hiddenFill xmlns:a14="http://schemas.microsoft.com/office/drawing/2010/main">
                <a:gradFill rotWithShape="0">
                  <a:gsLst>
                    <a:gs pos="0">
                      <a:schemeClr val="bg1"/>
                    </a:gs>
                    <a:gs pos="100000">
                      <a:srgbClr val="34A44C"/>
                    </a:gs>
                  </a:gsLst>
                  <a:lin ang="0" scaled="1"/>
                </a:gradFill>
              </a14:hiddenFill>
            </a:ext>
            <a:ext uri="{91240B29-F687-4F45-9708-019B960494DF}">
              <a14:hiddenLine xmlns:a14="http://schemas.microsoft.com/office/drawing/2010/main" w="19050" algn="ctr">
                <a:solidFill>
                  <a:srgbClr val="FFFFFF"/>
                </a:solidFill>
                <a:miter lim="800000"/>
                <a:headEnd/>
                <a:tailEnd/>
              </a14:hiddenLine>
            </a:ext>
          </a:extLst>
        </p:spPr>
        <p:txBody>
          <a:bodyPr tIns="35100" anchor="ct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a:lnSpc>
                <a:spcPts val="2100"/>
              </a:lnSpc>
              <a:spcBef>
                <a:spcPct val="50000"/>
              </a:spcBef>
              <a:buClrTx/>
              <a:buSzTx/>
              <a:buNone/>
            </a:pPr>
            <a:r>
              <a:rPr lang="ja-JP" altLang="en-US" sz="2400" b="1" dirty="0">
                <a:solidFill>
                  <a:schemeClr val="tx1">
                    <a:lumMod val="75000"/>
                    <a:lumOff val="25000"/>
                  </a:schemeClr>
                </a:solidFill>
                <a:latin typeface="メイリオ" panose="020B0604030504040204" pitchFamily="50" charset="-128"/>
              </a:rPr>
              <a:t>水災リスク分野サービスメニューのご紹介</a:t>
            </a:r>
            <a:endParaRPr lang="en-US" altLang="ja-JP" sz="2400" b="1" dirty="0">
              <a:solidFill>
                <a:schemeClr val="tx1">
                  <a:lumMod val="75000"/>
                  <a:lumOff val="25000"/>
                </a:schemeClr>
              </a:solidFill>
              <a:latin typeface="メイリオ" panose="020B0604030504040204" pitchFamily="50" charset="-128"/>
            </a:endParaRPr>
          </a:p>
        </p:txBody>
      </p:sp>
    </p:spTree>
    <p:extLst>
      <p:ext uri="{BB962C8B-B14F-4D97-AF65-F5344CB8AC3E}">
        <p14:creationId xmlns:p14="http://schemas.microsoft.com/office/powerpoint/2010/main" val="3381459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6"/>
          <p:cNvGraphicFramePr>
            <a:graphicFrameLocks noGrp="1"/>
          </p:cNvGraphicFramePr>
          <p:nvPr>
            <p:extLst>
              <p:ext uri="{D42A27DB-BD31-4B8C-83A1-F6EECF244321}">
                <p14:modId xmlns:p14="http://schemas.microsoft.com/office/powerpoint/2010/main" val="1527140575"/>
              </p:ext>
            </p:extLst>
          </p:nvPr>
        </p:nvGraphicFramePr>
        <p:xfrm>
          <a:off x="289296" y="938458"/>
          <a:ext cx="8710809" cy="4446422"/>
        </p:xfrm>
        <a:graphic>
          <a:graphicData uri="http://schemas.openxmlformats.org/drawingml/2006/table">
            <a:tbl>
              <a:tblPr firstRow="1" bandRow="1"/>
              <a:tblGrid>
                <a:gridCol w="673070">
                  <a:extLst>
                    <a:ext uri="{9D8B030D-6E8A-4147-A177-3AD203B41FA5}">
                      <a16:colId xmlns:a16="http://schemas.microsoft.com/office/drawing/2014/main" val="20001"/>
                    </a:ext>
                  </a:extLst>
                </a:gridCol>
                <a:gridCol w="2750550">
                  <a:extLst>
                    <a:ext uri="{9D8B030D-6E8A-4147-A177-3AD203B41FA5}">
                      <a16:colId xmlns:a16="http://schemas.microsoft.com/office/drawing/2014/main" val="20002"/>
                    </a:ext>
                  </a:extLst>
                </a:gridCol>
                <a:gridCol w="5287189">
                  <a:extLst>
                    <a:ext uri="{9D8B030D-6E8A-4147-A177-3AD203B41FA5}">
                      <a16:colId xmlns:a16="http://schemas.microsoft.com/office/drawing/2014/main" val="20003"/>
                    </a:ext>
                  </a:extLst>
                </a:gridCol>
              </a:tblGrid>
              <a:tr h="280900">
                <a:tc>
                  <a:txBody>
                    <a:bodyPr/>
                    <a:lstStyle>
                      <a:lvl1pPr marL="0" algn="l" defTabSz="914400" rtl="0" eaLnBrk="1" latinLnBrk="0" hangingPunct="1">
                        <a:defRPr kumimoji="1" sz="1800" b="1" kern="1200">
                          <a:solidFill>
                            <a:schemeClr val="lt1"/>
                          </a:solidFill>
                          <a:latin typeface="ＭＳ Ｐゴシック"/>
                          <a:ea typeface="ＭＳ Ｐゴシック"/>
                        </a:defRPr>
                      </a:lvl1pPr>
                      <a:lvl2pPr marL="457200" algn="l" defTabSz="914400" rtl="0" eaLnBrk="1" latinLnBrk="0" hangingPunct="1">
                        <a:defRPr kumimoji="1" sz="1800" b="1" kern="1200">
                          <a:solidFill>
                            <a:schemeClr val="lt1"/>
                          </a:solidFill>
                          <a:latin typeface="ＭＳ Ｐゴシック"/>
                          <a:ea typeface="ＭＳ Ｐゴシック"/>
                        </a:defRPr>
                      </a:lvl2pPr>
                      <a:lvl3pPr marL="914400" algn="l" defTabSz="914400" rtl="0" eaLnBrk="1" latinLnBrk="0" hangingPunct="1">
                        <a:defRPr kumimoji="1" sz="1800" b="1" kern="1200">
                          <a:solidFill>
                            <a:schemeClr val="lt1"/>
                          </a:solidFill>
                          <a:latin typeface="ＭＳ Ｐゴシック"/>
                          <a:ea typeface="ＭＳ Ｐゴシック"/>
                        </a:defRPr>
                      </a:lvl3pPr>
                      <a:lvl4pPr marL="1371600" algn="l" defTabSz="914400" rtl="0" eaLnBrk="1" latinLnBrk="0" hangingPunct="1">
                        <a:defRPr kumimoji="1" sz="1800" b="1" kern="1200">
                          <a:solidFill>
                            <a:schemeClr val="lt1"/>
                          </a:solidFill>
                          <a:latin typeface="ＭＳ Ｐゴシック"/>
                          <a:ea typeface="ＭＳ Ｐゴシック"/>
                        </a:defRPr>
                      </a:lvl4pPr>
                      <a:lvl5pPr marL="1828800" algn="l" defTabSz="914400" rtl="0" eaLnBrk="1" latinLnBrk="0" hangingPunct="1">
                        <a:defRPr kumimoji="1" sz="1800" b="1" kern="1200">
                          <a:solidFill>
                            <a:schemeClr val="lt1"/>
                          </a:solidFill>
                          <a:latin typeface="ＭＳ Ｐゴシック"/>
                          <a:ea typeface="ＭＳ Ｐゴシック"/>
                        </a:defRPr>
                      </a:lvl5pPr>
                      <a:lvl6pPr marL="2286000" algn="l" defTabSz="914400" rtl="0" eaLnBrk="1" latinLnBrk="0" hangingPunct="1">
                        <a:defRPr kumimoji="1" sz="1800" b="1" kern="1200">
                          <a:solidFill>
                            <a:schemeClr val="lt1"/>
                          </a:solidFill>
                          <a:latin typeface="ＭＳ Ｐゴシック"/>
                          <a:ea typeface="ＭＳ Ｐゴシック"/>
                        </a:defRPr>
                      </a:lvl6pPr>
                      <a:lvl7pPr marL="2743200" algn="l" defTabSz="914400" rtl="0" eaLnBrk="1" latinLnBrk="0" hangingPunct="1">
                        <a:defRPr kumimoji="1" sz="1800" b="1" kern="1200">
                          <a:solidFill>
                            <a:schemeClr val="lt1"/>
                          </a:solidFill>
                          <a:latin typeface="ＭＳ Ｐゴシック"/>
                          <a:ea typeface="ＭＳ Ｐゴシック"/>
                        </a:defRPr>
                      </a:lvl7pPr>
                      <a:lvl8pPr marL="3200400" algn="l" defTabSz="914400" rtl="0" eaLnBrk="1" latinLnBrk="0" hangingPunct="1">
                        <a:defRPr kumimoji="1" sz="1800" b="1" kern="1200">
                          <a:solidFill>
                            <a:schemeClr val="lt1"/>
                          </a:solidFill>
                          <a:latin typeface="ＭＳ Ｐゴシック"/>
                          <a:ea typeface="ＭＳ Ｐゴシック"/>
                        </a:defRPr>
                      </a:lvl8pPr>
                      <a:lvl9pPr marL="3657600" algn="l" defTabSz="914400" rtl="0" eaLnBrk="1" latinLnBrk="0" hangingPunct="1">
                        <a:defRPr kumimoji="1" sz="1800" b="1" kern="1200">
                          <a:solidFill>
                            <a:schemeClr val="lt1"/>
                          </a:solidFill>
                          <a:latin typeface="ＭＳ Ｐゴシック"/>
                          <a:ea typeface="ＭＳ Ｐゴシック"/>
                        </a:defRPr>
                      </a:lvl9pPr>
                    </a:lstStyle>
                    <a:p>
                      <a:pPr algn="ctr"/>
                      <a:r>
                        <a:rPr kumimoji="1" lang="en-US" altLang="ja-JP" sz="1300" dirty="0">
                          <a:latin typeface="メイリオ" pitchFamily="50" charset="-128"/>
                          <a:ea typeface="メイリオ" pitchFamily="50" charset="-128"/>
                          <a:cs typeface="メイリオ" pitchFamily="50" charset="-128"/>
                        </a:rPr>
                        <a:t>No.</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666"/>
                    </a:solidFill>
                  </a:tcPr>
                </a:tc>
                <a:tc>
                  <a:txBody>
                    <a:bodyPr/>
                    <a:lstStyle>
                      <a:lvl1pPr marL="0" algn="l" defTabSz="914400" rtl="0" eaLnBrk="1" latinLnBrk="0" hangingPunct="1">
                        <a:defRPr kumimoji="1" sz="1800" b="1" kern="1200">
                          <a:solidFill>
                            <a:schemeClr val="lt1"/>
                          </a:solidFill>
                          <a:latin typeface="ＭＳ Ｐゴシック"/>
                          <a:ea typeface="ＭＳ Ｐゴシック"/>
                        </a:defRPr>
                      </a:lvl1pPr>
                      <a:lvl2pPr marL="457200" algn="l" defTabSz="914400" rtl="0" eaLnBrk="1" latinLnBrk="0" hangingPunct="1">
                        <a:defRPr kumimoji="1" sz="1800" b="1" kern="1200">
                          <a:solidFill>
                            <a:schemeClr val="lt1"/>
                          </a:solidFill>
                          <a:latin typeface="ＭＳ Ｐゴシック"/>
                          <a:ea typeface="ＭＳ Ｐゴシック"/>
                        </a:defRPr>
                      </a:lvl2pPr>
                      <a:lvl3pPr marL="914400" algn="l" defTabSz="914400" rtl="0" eaLnBrk="1" latinLnBrk="0" hangingPunct="1">
                        <a:defRPr kumimoji="1" sz="1800" b="1" kern="1200">
                          <a:solidFill>
                            <a:schemeClr val="lt1"/>
                          </a:solidFill>
                          <a:latin typeface="ＭＳ Ｐゴシック"/>
                          <a:ea typeface="ＭＳ Ｐゴシック"/>
                        </a:defRPr>
                      </a:lvl3pPr>
                      <a:lvl4pPr marL="1371600" algn="l" defTabSz="914400" rtl="0" eaLnBrk="1" latinLnBrk="0" hangingPunct="1">
                        <a:defRPr kumimoji="1" sz="1800" b="1" kern="1200">
                          <a:solidFill>
                            <a:schemeClr val="lt1"/>
                          </a:solidFill>
                          <a:latin typeface="ＭＳ Ｐゴシック"/>
                          <a:ea typeface="ＭＳ Ｐゴシック"/>
                        </a:defRPr>
                      </a:lvl4pPr>
                      <a:lvl5pPr marL="1828800" algn="l" defTabSz="914400" rtl="0" eaLnBrk="1" latinLnBrk="0" hangingPunct="1">
                        <a:defRPr kumimoji="1" sz="1800" b="1" kern="1200">
                          <a:solidFill>
                            <a:schemeClr val="lt1"/>
                          </a:solidFill>
                          <a:latin typeface="ＭＳ Ｐゴシック"/>
                          <a:ea typeface="ＭＳ Ｐゴシック"/>
                        </a:defRPr>
                      </a:lvl5pPr>
                      <a:lvl6pPr marL="2286000" algn="l" defTabSz="914400" rtl="0" eaLnBrk="1" latinLnBrk="0" hangingPunct="1">
                        <a:defRPr kumimoji="1" sz="1800" b="1" kern="1200">
                          <a:solidFill>
                            <a:schemeClr val="lt1"/>
                          </a:solidFill>
                          <a:latin typeface="ＭＳ Ｐゴシック"/>
                          <a:ea typeface="ＭＳ Ｐゴシック"/>
                        </a:defRPr>
                      </a:lvl6pPr>
                      <a:lvl7pPr marL="2743200" algn="l" defTabSz="914400" rtl="0" eaLnBrk="1" latinLnBrk="0" hangingPunct="1">
                        <a:defRPr kumimoji="1" sz="1800" b="1" kern="1200">
                          <a:solidFill>
                            <a:schemeClr val="lt1"/>
                          </a:solidFill>
                          <a:latin typeface="ＭＳ Ｐゴシック"/>
                          <a:ea typeface="ＭＳ Ｐゴシック"/>
                        </a:defRPr>
                      </a:lvl7pPr>
                      <a:lvl8pPr marL="3200400" algn="l" defTabSz="914400" rtl="0" eaLnBrk="1" latinLnBrk="0" hangingPunct="1">
                        <a:defRPr kumimoji="1" sz="1800" b="1" kern="1200">
                          <a:solidFill>
                            <a:schemeClr val="lt1"/>
                          </a:solidFill>
                          <a:latin typeface="ＭＳ Ｐゴシック"/>
                          <a:ea typeface="ＭＳ Ｐゴシック"/>
                        </a:defRPr>
                      </a:lvl8pPr>
                      <a:lvl9pPr marL="3657600" algn="l" defTabSz="914400" rtl="0" eaLnBrk="1" latinLnBrk="0" hangingPunct="1">
                        <a:defRPr kumimoji="1" sz="1800" b="1" kern="1200">
                          <a:solidFill>
                            <a:schemeClr val="lt1"/>
                          </a:solidFill>
                          <a:latin typeface="ＭＳ Ｐゴシック"/>
                          <a:ea typeface="ＭＳ Ｐゴシック"/>
                        </a:defRPr>
                      </a:lvl9pPr>
                    </a:lstStyle>
                    <a:p>
                      <a:pPr algn="ctr"/>
                      <a:r>
                        <a:rPr kumimoji="1" lang="ja-JP" altLang="en-US" sz="1300" dirty="0">
                          <a:latin typeface="メイリオ" pitchFamily="50" charset="-128"/>
                          <a:ea typeface="メイリオ" pitchFamily="50" charset="-128"/>
                          <a:cs typeface="メイリオ" pitchFamily="50" charset="-128"/>
                        </a:rPr>
                        <a:t>メニュー</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666"/>
                    </a:solidFill>
                  </a:tcPr>
                </a:tc>
                <a:tc>
                  <a:txBody>
                    <a:bodyPr/>
                    <a:lstStyle>
                      <a:lvl1pPr marL="0" algn="l" defTabSz="914400" rtl="0" eaLnBrk="1" latinLnBrk="0" hangingPunct="1">
                        <a:defRPr kumimoji="1" sz="1800" b="1" kern="1200">
                          <a:solidFill>
                            <a:schemeClr val="lt1"/>
                          </a:solidFill>
                          <a:latin typeface="ＭＳ Ｐゴシック"/>
                          <a:ea typeface="ＭＳ Ｐゴシック"/>
                        </a:defRPr>
                      </a:lvl1pPr>
                      <a:lvl2pPr marL="457200" algn="l" defTabSz="914400" rtl="0" eaLnBrk="1" latinLnBrk="0" hangingPunct="1">
                        <a:defRPr kumimoji="1" sz="1800" b="1" kern="1200">
                          <a:solidFill>
                            <a:schemeClr val="lt1"/>
                          </a:solidFill>
                          <a:latin typeface="ＭＳ Ｐゴシック"/>
                          <a:ea typeface="ＭＳ Ｐゴシック"/>
                        </a:defRPr>
                      </a:lvl2pPr>
                      <a:lvl3pPr marL="914400" algn="l" defTabSz="914400" rtl="0" eaLnBrk="1" latinLnBrk="0" hangingPunct="1">
                        <a:defRPr kumimoji="1" sz="1800" b="1" kern="1200">
                          <a:solidFill>
                            <a:schemeClr val="lt1"/>
                          </a:solidFill>
                          <a:latin typeface="ＭＳ Ｐゴシック"/>
                          <a:ea typeface="ＭＳ Ｐゴシック"/>
                        </a:defRPr>
                      </a:lvl3pPr>
                      <a:lvl4pPr marL="1371600" algn="l" defTabSz="914400" rtl="0" eaLnBrk="1" latinLnBrk="0" hangingPunct="1">
                        <a:defRPr kumimoji="1" sz="1800" b="1" kern="1200">
                          <a:solidFill>
                            <a:schemeClr val="lt1"/>
                          </a:solidFill>
                          <a:latin typeface="ＭＳ Ｐゴシック"/>
                          <a:ea typeface="ＭＳ Ｐゴシック"/>
                        </a:defRPr>
                      </a:lvl4pPr>
                      <a:lvl5pPr marL="1828800" algn="l" defTabSz="914400" rtl="0" eaLnBrk="1" latinLnBrk="0" hangingPunct="1">
                        <a:defRPr kumimoji="1" sz="1800" b="1" kern="1200">
                          <a:solidFill>
                            <a:schemeClr val="lt1"/>
                          </a:solidFill>
                          <a:latin typeface="ＭＳ Ｐゴシック"/>
                          <a:ea typeface="ＭＳ Ｐゴシック"/>
                        </a:defRPr>
                      </a:lvl5pPr>
                      <a:lvl6pPr marL="2286000" algn="l" defTabSz="914400" rtl="0" eaLnBrk="1" latinLnBrk="0" hangingPunct="1">
                        <a:defRPr kumimoji="1" sz="1800" b="1" kern="1200">
                          <a:solidFill>
                            <a:schemeClr val="lt1"/>
                          </a:solidFill>
                          <a:latin typeface="ＭＳ Ｐゴシック"/>
                          <a:ea typeface="ＭＳ Ｐゴシック"/>
                        </a:defRPr>
                      </a:lvl6pPr>
                      <a:lvl7pPr marL="2743200" algn="l" defTabSz="914400" rtl="0" eaLnBrk="1" latinLnBrk="0" hangingPunct="1">
                        <a:defRPr kumimoji="1" sz="1800" b="1" kern="1200">
                          <a:solidFill>
                            <a:schemeClr val="lt1"/>
                          </a:solidFill>
                          <a:latin typeface="ＭＳ Ｐゴシック"/>
                          <a:ea typeface="ＭＳ Ｐゴシック"/>
                        </a:defRPr>
                      </a:lvl7pPr>
                      <a:lvl8pPr marL="3200400" algn="l" defTabSz="914400" rtl="0" eaLnBrk="1" latinLnBrk="0" hangingPunct="1">
                        <a:defRPr kumimoji="1" sz="1800" b="1" kern="1200">
                          <a:solidFill>
                            <a:schemeClr val="lt1"/>
                          </a:solidFill>
                          <a:latin typeface="ＭＳ Ｐゴシック"/>
                          <a:ea typeface="ＭＳ Ｐゴシック"/>
                        </a:defRPr>
                      </a:lvl8pPr>
                      <a:lvl9pPr marL="3657600" algn="l" defTabSz="914400" rtl="0" eaLnBrk="1" latinLnBrk="0" hangingPunct="1">
                        <a:defRPr kumimoji="1" sz="1800" b="1" kern="1200">
                          <a:solidFill>
                            <a:schemeClr val="lt1"/>
                          </a:solidFill>
                          <a:latin typeface="ＭＳ Ｐゴシック"/>
                          <a:ea typeface="ＭＳ Ｐゴシック"/>
                        </a:defRPr>
                      </a:lvl9pPr>
                    </a:lstStyle>
                    <a:p>
                      <a:pPr algn="ctr"/>
                      <a:r>
                        <a:rPr kumimoji="1" lang="ja-JP" altLang="en-US" sz="1300" dirty="0">
                          <a:latin typeface="メイリオ" pitchFamily="50" charset="-128"/>
                          <a:ea typeface="メイリオ" pitchFamily="50" charset="-128"/>
                          <a:cs typeface="メイリオ" pitchFamily="50" charset="-128"/>
                        </a:rPr>
                        <a:t>説明</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666"/>
                    </a:solidFill>
                  </a:tcPr>
                </a:tc>
                <a:extLst>
                  <a:ext uri="{0D108BD9-81ED-4DB2-BD59-A6C34878D82A}">
                    <a16:rowId xmlns:a16="http://schemas.microsoft.com/office/drawing/2014/main" val="10000"/>
                  </a:ext>
                </a:extLst>
              </a:tr>
              <a:tr h="693986">
                <a:tc>
                  <a:txBody>
                    <a:bodyPr/>
                    <a:lstStyle/>
                    <a:p>
                      <a:pPr algn="ctr">
                        <a:lnSpc>
                          <a:spcPts val="1200"/>
                        </a:lnSpc>
                      </a:pPr>
                      <a:r>
                        <a:rPr kumimoji="1" lang="en-US" altLang="ja-JP" sz="1300" dirty="0">
                          <a:latin typeface="メイリオ" pitchFamily="50" charset="-128"/>
                          <a:ea typeface="メイリオ" pitchFamily="50" charset="-128"/>
                          <a:cs typeface="メイリオ" pitchFamily="50" charset="-128"/>
                        </a:rPr>
                        <a:t>1</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水災リスク分析</a:t>
                      </a:r>
                      <a:endParaRPr kumimoji="1" lang="en-US" altLang="ja-JP" sz="1100" b="1" dirty="0">
                        <a:solidFill>
                          <a:schemeClr val="tx1"/>
                        </a:solidFill>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ts val="1200"/>
                        </a:lnSpc>
                        <a:spcBef>
                          <a:spcPts val="0"/>
                        </a:spcBef>
                        <a:spcAft>
                          <a:spcPts val="0"/>
                        </a:spcAft>
                        <a:buClrTx/>
                        <a:buSzTx/>
                        <a:buFontTx/>
                        <a:buNone/>
                        <a:tabLst/>
                        <a:defRPr/>
                      </a:pP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物件の構造・階数・建築年等の情報をもとに水災が発生した際の、物件の被害想定額と再現期間毎の物件の被害想定額を算定します。</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extLst>
                  <a:ext uri="{0D108BD9-81ED-4DB2-BD59-A6C34878D82A}">
                    <a16:rowId xmlns:a16="http://schemas.microsoft.com/office/drawing/2014/main" val="3658247750"/>
                  </a:ext>
                </a:extLst>
              </a:tr>
              <a:tr h="693986">
                <a:tc>
                  <a:txBody>
                    <a:bodyPr/>
                    <a:lstStyle>
                      <a:lvl1pPr marL="0" algn="l" defTabSz="914400" rtl="0" eaLnBrk="1" latinLnBrk="0" hangingPunct="1">
                        <a:defRPr kumimoji="1" sz="1800" kern="1200">
                          <a:solidFill>
                            <a:schemeClr val="dk1"/>
                          </a:solidFill>
                          <a:latin typeface="ＭＳ Ｐゴシック"/>
                          <a:ea typeface="ＭＳ Ｐゴシック"/>
                        </a:defRPr>
                      </a:lvl1pPr>
                      <a:lvl2pPr marL="457200" algn="l" defTabSz="914400" rtl="0" eaLnBrk="1" latinLnBrk="0" hangingPunct="1">
                        <a:defRPr kumimoji="1" sz="1800" kern="1200">
                          <a:solidFill>
                            <a:schemeClr val="dk1"/>
                          </a:solidFill>
                          <a:latin typeface="ＭＳ Ｐゴシック"/>
                          <a:ea typeface="ＭＳ Ｐゴシック"/>
                        </a:defRPr>
                      </a:lvl2pPr>
                      <a:lvl3pPr marL="914400" algn="l" defTabSz="914400" rtl="0" eaLnBrk="1" latinLnBrk="0" hangingPunct="1">
                        <a:defRPr kumimoji="1" sz="1800" kern="1200">
                          <a:solidFill>
                            <a:schemeClr val="dk1"/>
                          </a:solidFill>
                          <a:latin typeface="ＭＳ Ｐゴシック"/>
                          <a:ea typeface="ＭＳ Ｐゴシック"/>
                        </a:defRPr>
                      </a:lvl3pPr>
                      <a:lvl4pPr marL="1371600" algn="l" defTabSz="914400" rtl="0" eaLnBrk="1" latinLnBrk="0" hangingPunct="1">
                        <a:defRPr kumimoji="1" sz="1800" kern="1200">
                          <a:solidFill>
                            <a:schemeClr val="dk1"/>
                          </a:solidFill>
                          <a:latin typeface="ＭＳ Ｐゴシック"/>
                          <a:ea typeface="ＭＳ Ｐゴシック"/>
                        </a:defRPr>
                      </a:lvl4pPr>
                      <a:lvl5pPr marL="1828800" algn="l" defTabSz="914400" rtl="0" eaLnBrk="1" latinLnBrk="0" hangingPunct="1">
                        <a:defRPr kumimoji="1" sz="1800" kern="1200">
                          <a:solidFill>
                            <a:schemeClr val="dk1"/>
                          </a:solidFill>
                          <a:latin typeface="ＭＳ Ｐゴシック"/>
                          <a:ea typeface="ＭＳ Ｐゴシック"/>
                        </a:defRPr>
                      </a:lvl5pPr>
                      <a:lvl6pPr marL="2286000" algn="l" defTabSz="914400" rtl="0" eaLnBrk="1" latinLnBrk="0" hangingPunct="1">
                        <a:defRPr kumimoji="1" sz="1800" kern="1200">
                          <a:solidFill>
                            <a:schemeClr val="dk1"/>
                          </a:solidFill>
                          <a:latin typeface="ＭＳ Ｐゴシック"/>
                          <a:ea typeface="ＭＳ Ｐゴシック"/>
                        </a:defRPr>
                      </a:lvl6pPr>
                      <a:lvl7pPr marL="2743200" algn="l" defTabSz="914400" rtl="0" eaLnBrk="1" latinLnBrk="0" hangingPunct="1">
                        <a:defRPr kumimoji="1" sz="1800" kern="1200">
                          <a:solidFill>
                            <a:schemeClr val="dk1"/>
                          </a:solidFill>
                          <a:latin typeface="ＭＳ Ｐゴシック"/>
                          <a:ea typeface="ＭＳ Ｐゴシック"/>
                        </a:defRPr>
                      </a:lvl7pPr>
                      <a:lvl8pPr marL="3200400" algn="l" defTabSz="914400" rtl="0" eaLnBrk="1" latinLnBrk="0" hangingPunct="1">
                        <a:defRPr kumimoji="1" sz="1800" kern="1200">
                          <a:solidFill>
                            <a:schemeClr val="dk1"/>
                          </a:solidFill>
                          <a:latin typeface="ＭＳ Ｐゴシック"/>
                          <a:ea typeface="ＭＳ Ｐゴシック"/>
                        </a:defRPr>
                      </a:lvl8pPr>
                      <a:lvl9pPr marL="3657600" algn="l" defTabSz="914400" rtl="0" eaLnBrk="1" latinLnBrk="0" hangingPunct="1">
                        <a:defRPr kumimoji="1" sz="1800" kern="1200">
                          <a:solidFill>
                            <a:schemeClr val="dk1"/>
                          </a:solidFill>
                          <a:latin typeface="ＭＳ Ｐゴシック"/>
                          <a:ea typeface="ＭＳ Ｐゴシック"/>
                        </a:defRPr>
                      </a:lvl9pPr>
                    </a:lstStyle>
                    <a:p>
                      <a:pPr algn="ctr">
                        <a:lnSpc>
                          <a:spcPts val="1200"/>
                        </a:lnSpc>
                      </a:pPr>
                      <a:r>
                        <a:rPr kumimoji="1" lang="en-US" altLang="ja-JP" sz="1300" dirty="0">
                          <a:latin typeface="メイリオ" pitchFamily="50" charset="-128"/>
                          <a:ea typeface="メイリオ" pitchFamily="50" charset="-128"/>
                          <a:cs typeface="メイリオ" pitchFamily="50" charset="-128"/>
                        </a:rPr>
                        <a:t>2-1</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lvl1pPr marL="0" algn="l" defTabSz="914400" rtl="0" eaLnBrk="1" latinLnBrk="0" hangingPunct="1">
                        <a:defRPr kumimoji="1" sz="1800" kern="1200">
                          <a:solidFill>
                            <a:schemeClr val="dk1"/>
                          </a:solidFill>
                          <a:latin typeface="ＭＳ Ｐゴシック"/>
                          <a:ea typeface="ＭＳ Ｐゴシック"/>
                        </a:defRPr>
                      </a:lvl1pPr>
                      <a:lvl2pPr marL="457200" algn="l" defTabSz="914400" rtl="0" eaLnBrk="1" latinLnBrk="0" hangingPunct="1">
                        <a:defRPr kumimoji="1" sz="1800" kern="1200">
                          <a:solidFill>
                            <a:schemeClr val="dk1"/>
                          </a:solidFill>
                          <a:latin typeface="ＭＳ Ｐゴシック"/>
                          <a:ea typeface="ＭＳ Ｐゴシック"/>
                        </a:defRPr>
                      </a:lvl2pPr>
                      <a:lvl3pPr marL="914400" algn="l" defTabSz="914400" rtl="0" eaLnBrk="1" latinLnBrk="0" hangingPunct="1">
                        <a:defRPr kumimoji="1" sz="1800" kern="1200">
                          <a:solidFill>
                            <a:schemeClr val="dk1"/>
                          </a:solidFill>
                          <a:latin typeface="ＭＳ Ｐゴシック"/>
                          <a:ea typeface="ＭＳ Ｐゴシック"/>
                        </a:defRPr>
                      </a:lvl3pPr>
                      <a:lvl4pPr marL="1371600" algn="l" defTabSz="914400" rtl="0" eaLnBrk="1" latinLnBrk="0" hangingPunct="1">
                        <a:defRPr kumimoji="1" sz="1800" kern="1200">
                          <a:solidFill>
                            <a:schemeClr val="dk1"/>
                          </a:solidFill>
                          <a:latin typeface="ＭＳ Ｐゴシック"/>
                          <a:ea typeface="ＭＳ Ｐゴシック"/>
                        </a:defRPr>
                      </a:lvl4pPr>
                      <a:lvl5pPr marL="1828800" algn="l" defTabSz="914400" rtl="0" eaLnBrk="1" latinLnBrk="0" hangingPunct="1">
                        <a:defRPr kumimoji="1" sz="1800" kern="1200">
                          <a:solidFill>
                            <a:schemeClr val="dk1"/>
                          </a:solidFill>
                          <a:latin typeface="ＭＳ Ｐゴシック"/>
                          <a:ea typeface="ＭＳ Ｐゴシック"/>
                        </a:defRPr>
                      </a:lvl5pPr>
                      <a:lvl6pPr marL="2286000" algn="l" defTabSz="914400" rtl="0" eaLnBrk="1" latinLnBrk="0" hangingPunct="1">
                        <a:defRPr kumimoji="1" sz="1800" kern="1200">
                          <a:solidFill>
                            <a:schemeClr val="dk1"/>
                          </a:solidFill>
                          <a:latin typeface="ＭＳ Ｐゴシック"/>
                          <a:ea typeface="ＭＳ Ｐゴシック"/>
                        </a:defRPr>
                      </a:lvl6pPr>
                      <a:lvl7pPr marL="2743200" algn="l" defTabSz="914400" rtl="0" eaLnBrk="1" latinLnBrk="0" hangingPunct="1">
                        <a:defRPr kumimoji="1" sz="1800" kern="1200">
                          <a:solidFill>
                            <a:schemeClr val="dk1"/>
                          </a:solidFill>
                          <a:latin typeface="ＭＳ Ｐゴシック"/>
                          <a:ea typeface="ＭＳ Ｐゴシック"/>
                        </a:defRPr>
                      </a:lvl7pPr>
                      <a:lvl8pPr marL="3200400" algn="l" defTabSz="914400" rtl="0" eaLnBrk="1" latinLnBrk="0" hangingPunct="1">
                        <a:defRPr kumimoji="1" sz="1800" kern="1200">
                          <a:solidFill>
                            <a:schemeClr val="dk1"/>
                          </a:solidFill>
                          <a:latin typeface="ＭＳ Ｐゴシック"/>
                          <a:ea typeface="ＭＳ Ｐゴシック"/>
                        </a:defRPr>
                      </a:lvl8pPr>
                      <a:lvl9pPr marL="3657600" algn="l" defTabSz="914400" rtl="0" eaLnBrk="1" latinLnBrk="0" hangingPunct="1">
                        <a:defRPr kumimoji="1" sz="1800" kern="1200">
                          <a:solidFill>
                            <a:schemeClr val="dk1"/>
                          </a:solidFill>
                          <a:latin typeface="ＭＳ Ｐゴシック"/>
                          <a:ea typeface="ＭＳ Ｐゴシック"/>
                        </a:defRPr>
                      </a:lvl9pPr>
                    </a:lstStyle>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水災リスクサーベイ</a:t>
                      </a:r>
                      <a:endParaRPr kumimoji="1" lang="en-US" altLang="ja-JP" sz="1100" b="1" dirty="0">
                        <a:solidFill>
                          <a:schemeClr val="tx1"/>
                        </a:solidFill>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lvl1pPr marL="0" algn="l" defTabSz="914400" rtl="0" eaLnBrk="1" latinLnBrk="0" hangingPunct="1">
                        <a:defRPr kumimoji="1" sz="1800" kern="1200">
                          <a:solidFill>
                            <a:schemeClr val="dk1"/>
                          </a:solidFill>
                          <a:latin typeface="ＭＳ Ｐゴシック"/>
                          <a:ea typeface="ＭＳ Ｐゴシック"/>
                        </a:defRPr>
                      </a:lvl1pPr>
                      <a:lvl2pPr marL="457200" algn="l" defTabSz="914400" rtl="0" eaLnBrk="1" latinLnBrk="0" hangingPunct="1">
                        <a:defRPr kumimoji="1" sz="1800" kern="1200">
                          <a:solidFill>
                            <a:schemeClr val="dk1"/>
                          </a:solidFill>
                          <a:latin typeface="ＭＳ Ｐゴシック"/>
                          <a:ea typeface="ＭＳ Ｐゴシック"/>
                        </a:defRPr>
                      </a:lvl2pPr>
                      <a:lvl3pPr marL="914400" algn="l" defTabSz="914400" rtl="0" eaLnBrk="1" latinLnBrk="0" hangingPunct="1">
                        <a:defRPr kumimoji="1" sz="1800" kern="1200">
                          <a:solidFill>
                            <a:schemeClr val="dk1"/>
                          </a:solidFill>
                          <a:latin typeface="ＭＳ Ｐゴシック"/>
                          <a:ea typeface="ＭＳ Ｐゴシック"/>
                        </a:defRPr>
                      </a:lvl3pPr>
                      <a:lvl4pPr marL="1371600" algn="l" defTabSz="914400" rtl="0" eaLnBrk="1" latinLnBrk="0" hangingPunct="1">
                        <a:defRPr kumimoji="1" sz="1800" kern="1200">
                          <a:solidFill>
                            <a:schemeClr val="dk1"/>
                          </a:solidFill>
                          <a:latin typeface="ＭＳ Ｐゴシック"/>
                          <a:ea typeface="ＭＳ Ｐゴシック"/>
                        </a:defRPr>
                      </a:lvl4pPr>
                      <a:lvl5pPr marL="1828800" algn="l" defTabSz="914400" rtl="0" eaLnBrk="1" latinLnBrk="0" hangingPunct="1">
                        <a:defRPr kumimoji="1" sz="1800" kern="1200">
                          <a:solidFill>
                            <a:schemeClr val="dk1"/>
                          </a:solidFill>
                          <a:latin typeface="ＭＳ Ｐゴシック"/>
                          <a:ea typeface="ＭＳ Ｐゴシック"/>
                        </a:defRPr>
                      </a:lvl5pPr>
                      <a:lvl6pPr marL="2286000" algn="l" defTabSz="914400" rtl="0" eaLnBrk="1" latinLnBrk="0" hangingPunct="1">
                        <a:defRPr kumimoji="1" sz="1800" kern="1200">
                          <a:solidFill>
                            <a:schemeClr val="dk1"/>
                          </a:solidFill>
                          <a:latin typeface="ＭＳ Ｐゴシック"/>
                          <a:ea typeface="ＭＳ Ｐゴシック"/>
                        </a:defRPr>
                      </a:lvl6pPr>
                      <a:lvl7pPr marL="2743200" algn="l" defTabSz="914400" rtl="0" eaLnBrk="1" latinLnBrk="0" hangingPunct="1">
                        <a:defRPr kumimoji="1" sz="1800" kern="1200">
                          <a:solidFill>
                            <a:schemeClr val="dk1"/>
                          </a:solidFill>
                          <a:latin typeface="ＭＳ Ｐゴシック"/>
                          <a:ea typeface="ＭＳ Ｐゴシック"/>
                        </a:defRPr>
                      </a:lvl7pPr>
                      <a:lvl8pPr marL="3200400" algn="l" defTabSz="914400" rtl="0" eaLnBrk="1" latinLnBrk="0" hangingPunct="1">
                        <a:defRPr kumimoji="1" sz="1800" kern="1200">
                          <a:solidFill>
                            <a:schemeClr val="dk1"/>
                          </a:solidFill>
                          <a:latin typeface="ＭＳ Ｐゴシック"/>
                          <a:ea typeface="ＭＳ Ｐゴシック"/>
                        </a:defRPr>
                      </a:lvl8pPr>
                      <a:lvl9pPr marL="3657600" algn="l" defTabSz="914400" rtl="0" eaLnBrk="1" latinLnBrk="0" hangingPunct="1">
                        <a:defRPr kumimoji="1" sz="1800" kern="1200">
                          <a:solidFill>
                            <a:schemeClr val="dk1"/>
                          </a:solidFill>
                          <a:latin typeface="ＭＳ Ｐゴシック"/>
                          <a:ea typeface="ＭＳ Ｐゴシック"/>
                        </a:defRPr>
                      </a:lvl9pPr>
                    </a:lstStyle>
                    <a:p>
                      <a:pPr marL="0" marR="0" indent="0" algn="l" defTabSz="914400" rtl="0" eaLnBrk="1" fontAlgn="auto" latinLnBrk="0" hangingPunct="1">
                        <a:lnSpc>
                          <a:spcPts val="1200"/>
                        </a:lnSpc>
                        <a:spcBef>
                          <a:spcPts val="0"/>
                        </a:spcBef>
                        <a:spcAft>
                          <a:spcPts val="0"/>
                        </a:spcAft>
                        <a:buClrTx/>
                        <a:buSzTx/>
                        <a:buFontTx/>
                        <a:buNone/>
                        <a:tabLst/>
                        <a:defRPr/>
                      </a:pP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お客さま施設に対して、現場調査を実施し、施設固有の水災に対する脆弱性を確認・整理し、リスク低減のための対策をご提案します。</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838045062"/>
                  </a:ext>
                </a:extLst>
              </a:tr>
              <a:tr h="693986">
                <a:tc>
                  <a:txBody>
                    <a:bodyPr/>
                    <a:lstStyle/>
                    <a:p>
                      <a:pPr algn="ctr">
                        <a:lnSpc>
                          <a:spcPts val="1200"/>
                        </a:lnSpc>
                      </a:pPr>
                      <a:r>
                        <a:rPr kumimoji="1" lang="en-US" altLang="ja-JP" sz="1300" dirty="0">
                          <a:latin typeface="メイリオ" pitchFamily="50" charset="-128"/>
                          <a:ea typeface="メイリオ" pitchFamily="50" charset="-128"/>
                          <a:cs typeface="メイリオ" pitchFamily="50" charset="-128"/>
                        </a:rPr>
                        <a:t>2-2</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水災</a:t>
                      </a:r>
                      <a:r>
                        <a:rPr kumimoji="1" lang="en-US" altLang="ja-JP" sz="1100" b="1" dirty="0">
                          <a:solidFill>
                            <a:schemeClr val="tx1"/>
                          </a:solidFill>
                          <a:latin typeface="メイリオ" pitchFamily="50" charset="-128"/>
                          <a:ea typeface="メイリオ" pitchFamily="50" charset="-128"/>
                          <a:cs typeface="メイリオ" pitchFamily="50" charset="-128"/>
                        </a:rPr>
                        <a:t>AR</a:t>
                      </a:r>
                      <a:r>
                        <a:rPr kumimoji="1" lang="ja-JP" altLang="en-US" sz="1100" b="1" dirty="0">
                          <a:solidFill>
                            <a:schemeClr val="tx1"/>
                          </a:solidFill>
                          <a:latin typeface="メイリオ" pitchFamily="50" charset="-128"/>
                          <a:ea typeface="メイリオ" pitchFamily="50" charset="-128"/>
                          <a:cs typeface="メイリオ" pitchFamily="50" charset="-128"/>
                        </a:rPr>
                        <a:t>システム　</a:t>
                      </a:r>
                      <a:r>
                        <a:rPr kumimoji="1" lang="en-US" altLang="ja-JP" sz="1100" b="1" dirty="0">
                          <a:solidFill>
                            <a:schemeClr val="tx1"/>
                          </a:solidFill>
                          <a:latin typeface="メイリオ" pitchFamily="50" charset="-128"/>
                          <a:ea typeface="メイリオ" pitchFamily="50" charset="-128"/>
                          <a:cs typeface="メイリオ" pitchFamily="50" charset="-128"/>
                        </a:rPr>
                        <a:t>※2-1</a:t>
                      </a:r>
                      <a:r>
                        <a:rPr kumimoji="1" lang="ja-JP" altLang="en-US" sz="1100" b="1" dirty="0">
                          <a:solidFill>
                            <a:schemeClr val="tx1"/>
                          </a:solidFill>
                          <a:latin typeface="メイリオ" pitchFamily="50" charset="-128"/>
                          <a:ea typeface="メイリオ" pitchFamily="50" charset="-128"/>
                          <a:cs typeface="メイリオ" pitchFamily="50" charset="-128"/>
                        </a:rPr>
                        <a:t>のオプション</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indent="0" algn="l" defTabSz="914400" rtl="0" eaLnBrk="1" fontAlgn="auto" latinLnBrk="0" hangingPunct="1">
                        <a:lnSpc>
                          <a:spcPts val="1200"/>
                        </a:lnSpc>
                        <a:spcBef>
                          <a:spcPts val="0"/>
                        </a:spcBef>
                        <a:spcAft>
                          <a:spcPts val="0"/>
                        </a:spcAft>
                        <a:buClrTx/>
                        <a:buSzTx/>
                        <a:buFontTx/>
                        <a:buNone/>
                        <a:tabLst/>
                        <a:defRPr/>
                      </a:pP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浸水対策を検討したい建物や設備の画像に浸水の</a:t>
                      </a: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CG</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を重ねることができる「水災</a:t>
                      </a:r>
                      <a:r>
                        <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AR</a:t>
                      </a: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タブレット」を使用し、お客さま施設の水害による罹災イメージを視覚的に把握できます。</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4245011299"/>
                  </a:ext>
                </a:extLst>
              </a:tr>
              <a:tr h="693986">
                <a:tc>
                  <a:txBody>
                    <a:bodyPr/>
                    <a:lstStyle/>
                    <a:p>
                      <a:pPr algn="ctr">
                        <a:lnSpc>
                          <a:spcPts val="1200"/>
                        </a:lnSpc>
                      </a:pPr>
                      <a:r>
                        <a:rPr kumimoji="1" lang="ja-JP" altLang="en-US" sz="1300" dirty="0">
                          <a:latin typeface="メイリオ" pitchFamily="50" charset="-128"/>
                          <a:ea typeface="メイリオ" pitchFamily="50" charset="-128"/>
                          <a:cs typeface="メイリオ" pitchFamily="50" charset="-128"/>
                        </a:rPr>
                        <a:t>３</a:t>
                      </a:r>
                      <a:r>
                        <a:rPr kumimoji="1" lang="en-US" altLang="ja-JP" sz="1300" dirty="0">
                          <a:latin typeface="メイリオ" pitchFamily="50" charset="-128"/>
                          <a:ea typeface="メイリオ" pitchFamily="50" charset="-128"/>
                          <a:cs typeface="メイリオ" pitchFamily="50" charset="-128"/>
                        </a:rPr>
                        <a:t>-1</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水災リスク評価（危険度判定・簡易</a:t>
                      </a:r>
                      <a:endParaRPr kumimoji="1" lang="en-US" altLang="ja-JP" sz="1100" b="1" dirty="0">
                        <a:solidFill>
                          <a:schemeClr val="tx1"/>
                        </a:solidFill>
                        <a:latin typeface="メイリオ" pitchFamily="50" charset="-128"/>
                        <a:ea typeface="メイリオ" pitchFamily="50" charset="-128"/>
                        <a:cs typeface="メイリオ" pitchFamily="50" charset="-128"/>
                      </a:endParaRPr>
                    </a:p>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シミュレーション）</a:t>
                      </a:r>
                      <a:endParaRPr kumimoji="1" lang="en-US" altLang="ja-JP" sz="1100" b="1" dirty="0">
                        <a:solidFill>
                          <a:schemeClr val="tx1"/>
                        </a:solidFill>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ts val="1200"/>
                        </a:lnSpc>
                        <a:spcBef>
                          <a:spcPts val="0"/>
                        </a:spcBef>
                        <a:spcAft>
                          <a:spcPts val="0"/>
                        </a:spcAft>
                        <a:buClrTx/>
                        <a:buSzTx/>
                        <a:buFontTx/>
                        <a:buNone/>
                        <a:tabLst/>
                        <a:defRPr/>
                      </a:pP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危険度判定：物件の所在地情報を基に、浸水想定に係わる公的情報を調査・整理し、複数拠点の浸水危険度を一括判定します。</a:t>
                      </a:r>
                    </a:p>
                    <a:p>
                      <a:pPr marL="0" marR="0" indent="0" algn="l" defTabSz="914400" rtl="0" eaLnBrk="1" fontAlgn="auto" latinLnBrk="0" hangingPunct="1">
                        <a:lnSpc>
                          <a:spcPts val="1200"/>
                        </a:lnSpc>
                        <a:spcBef>
                          <a:spcPts val="0"/>
                        </a:spcBef>
                        <a:spcAft>
                          <a:spcPts val="0"/>
                        </a:spcAft>
                        <a:buClrTx/>
                        <a:buSzTx/>
                        <a:buFontTx/>
                        <a:buNone/>
                        <a:tabLst/>
                        <a:defRPr/>
                      </a:pPr>
                      <a:r>
                        <a:rPr kumimoji="1" lang="ja-JP" altLang="en-US" sz="100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簡易シミュレーション：洪水分析ソフトを用いて、対象拠点付近の浸水状況（浸水の最大値）を細かいメッシュで評価します。</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extLst>
                  <a:ext uri="{0D108BD9-81ED-4DB2-BD59-A6C34878D82A}">
                    <a16:rowId xmlns:a16="http://schemas.microsoft.com/office/drawing/2014/main" val="626747958"/>
                  </a:ext>
                </a:extLst>
              </a:tr>
              <a:tr h="693986">
                <a:tc>
                  <a:txBody>
                    <a:bodyPr/>
                    <a:lstStyle>
                      <a:lvl1pPr marL="0" algn="l" defTabSz="914400" rtl="0" eaLnBrk="1" latinLnBrk="0" hangingPunct="1">
                        <a:defRPr kumimoji="1" sz="1800" kern="1200">
                          <a:solidFill>
                            <a:schemeClr val="dk1"/>
                          </a:solidFill>
                          <a:latin typeface="ＭＳ Ｐゴシック"/>
                          <a:ea typeface="ＭＳ Ｐゴシック"/>
                        </a:defRPr>
                      </a:lvl1pPr>
                      <a:lvl2pPr marL="457200" algn="l" defTabSz="914400" rtl="0" eaLnBrk="1" latinLnBrk="0" hangingPunct="1">
                        <a:defRPr kumimoji="1" sz="1800" kern="1200">
                          <a:solidFill>
                            <a:schemeClr val="dk1"/>
                          </a:solidFill>
                          <a:latin typeface="ＭＳ Ｐゴシック"/>
                          <a:ea typeface="ＭＳ Ｐゴシック"/>
                        </a:defRPr>
                      </a:lvl2pPr>
                      <a:lvl3pPr marL="914400" algn="l" defTabSz="914400" rtl="0" eaLnBrk="1" latinLnBrk="0" hangingPunct="1">
                        <a:defRPr kumimoji="1" sz="1800" kern="1200">
                          <a:solidFill>
                            <a:schemeClr val="dk1"/>
                          </a:solidFill>
                          <a:latin typeface="ＭＳ Ｐゴシック"/>
                          <a:ea typeface="ＭＳ Ｐゴシック"/>
                        </a:defRPr>
                      </a:lvl3pPr>
                      <a:lvl4pPr marL="1371600" algn="l" defTabSz="914400" rtl="0" eaLnBrk="1" latinLnBrk="0" hangingPunct="1">
                        <a:defRPr kumimoji="1" sz="1800" kern="1200">
                          <a:solidFill>
                            <a:schemeClr val="dk1"/>
                          </a:solidFill>
                          <a:latin typeface="ＭＳ Ｐゴシック"/>
                          <a:ea typeface="ＭＳ Ｐゴシック"/>
                        </a:defRPr>
                      </a:lvl4pPr>
                      <a:lvl5pPr marL="1828800" algn="l" defTabSz="914400" rtl="0" eaLnBrk="1" latinLnBrk="0" hangingPunct="1">
                        <a:defRPr kumimoji="1" sz="1800" kern="1200">
                          <a:solidFill>
                            <a:schemeClr val="dk1"/>
                          </a:solidFill>
                          <a:latin typeface="ＭＳ Ｐゴシック"/>
                          <a:ea typeface="ＭＳ Ｐゴシック"/>
                        </a:defRPr>
                      </a:lvl5pPr>
                      <a:lvl6pPr marL="2286000" algn="l" defTabSz="914400" rtl="0" eaLnBrk="1" latinLnBrk="0" hangingPunct="1">
                        <a:defRPr kumimoji="1" sz="1800" kern="1200">
                          <a:solidFill>
                            <a:schemeClr val="dk1"/>
                          </a:solidFill>
                          <a:latin typeface="ＭＳ Ｐゴシック"/>
                          <a:ea typeface="ＭＳ Ｐゴシック"/>
                        </a:defRPr>
                      </a:lvl6pPr>
                      <a:lvl7pPr marL="2743200" algn="l" defTabSz="914400" rtl="0" eaLnBrk="1" latinLnBrk="0" hangingPunct="1">
                        <a:defRPr kumimoji="1" sz="1800" kern="1200">
                          <a:solidFill>
                            <a:schemeClr val="dk1"/>
                          </a:solidFill>
                          <a:latin typeface="ＭＳ Ｐゴシック"/>
                          <a:ea typeface="ＭＳ Ｐゴシック"/>
                        </a:defRPr>
                      </a:lvl7pPr>
                      <a:lvl8pPr marL="3200400" algn="l" defTabSz="914400" rtl="0" eaLnBrk="1" latinLnBrk="0" hangingPunct="1">
                        <a:defRPr kumimoji="1" sz="1800" kern="1200">
                          <a:solidFill>
                            <a:schemeClr val="dk1"/>
                          </a:solidFill>
                          <a:latin typeface="ＭＳ Ｐゴシック"/>
                          <a:ea typeface="ＭＳ Ｐゴシック"/>
                        </a:defRPr>
                      </a:lvl8pPr>
                      <a:lvl9pPr marL="3657600" algn="l" defTabSz="914400" rtl="0" eaLnBrk="1" latinLnBrk="0" hangingPunct="1">
                        <a:defRPr kumimoji="1" sz="1800" kern="1200">
                          <a:solidFill>
                            <a:schemeClr val="dk1"/>
                          </a:solidFill>
                          <a:latin typeface="ＭＳ Ｐゴシック"/>
                          <a:ea typeface="ＭＳ Ｐゴシック"/>
                        </a:defRPr>
                      </a:lvl9pPr>
                    </a:lstStyle>
                    <a:p>
                      <a:pPr algn="ctr">
                        <a:lnSpc>
                          <a:spcPts val="1200"/>
                        </a:lnSpc>
                      </a:pPr>
                      <a:r>
                        <a:rPr kumimoji="1" lang="en-US" altLang="ja-JP" sz="1300" dirty="0">
                          <a:latin typeface="メイリオ" pitchFamily="50" charset="-128"/>
                          <a:ea typeface="メイリオ" pitchFamily="50" charset="-128"/>
                          <a:cs typeface="メイリオ" pitchFamily="50" charset="-128"/>
                        </a:rPr>
                        <a:t>3-2</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lvl1pPr marL="0" algn="l" defTabSz="914400" rtl="0" eaLnBrk="1" latinLnBrk="0" hangingPunct="1">
                        <a:defRPr kumimoji="1" sz="1800" kern="1200">
                          <a:solidFill>
                            <a:schemeClr val="dk1"/>
                          </a:solidFill>
                          <a:latin typeface="ＭＳ Ｐゴシック"/>
                          <a:ea typeface="ＭＳ Ｐゴシック"/>
                        </a:defRPr>
                      </a:lvl1pPr>
                      <a:lvl2pPr marL="457200" algn="l" defTabSz="914400" rtl="0" eaLnBrk="1" latinLnBrk="0" hangingPunct="1">
                        <a:defRPr kumimoji="1" sz="1800" kern="1200">
                          <a:solidFill>
                            <a:schemeClr val="dk1"/>
                          </a:solidFill>
                          <a:latin typeface="ＭＳ Ｐゴシック"/>
                          <a:ea typeface="ＭＳ Ｐゴシック"/>
                        </a:defRPr>
                      </a:lvl2pPr>
                      <a:lvl3pPr marL="914400" algn="l" defTabSz="914400" rtl="0" eaLnBrk="1" latinLnBrk="0" hangingPunct="1">
                        <a:defRPr kumimoji="1" sz="1800" kern="1200">
                          <a:solidFill>
                            <a:schemeClr val="dk1"/>
                          </a:solidFill>
                          <a:latin typeface="ＭＳ Ｐゴシック"/>
                          <a:ea typeface="ＭＳ Ｐゴシック"/>
                        </a:defRPr>
                      </a:lvl3pPr>
                      <a:lvl4pPr marL="1371600" algn="l" defTabSz="914400" rtl="0" eaLnBrk="1" latinLnBrk="0" hangingPunct="1">
                        <a:defRPr kumimoji="1" sz="1800" kern="1200">
                          <a:solidFill>
                            <a:schemeClr val="dk1"/>
                          </a:solidFill>
                          <a:latin typeface="ＭＳ Ｐゴシック"/>
                          <a:ea typeface="ＭＳ Ｐゴシック"/>
                        </a:defRPr>
                      </a:lvl4pPr>
                      <a:lvl5pPr marL="1828800" algn="l" defTabSz="914400" rtl="0" eaLnBrk="1" latinLnBrk="0" hangingPunct="1">
                        <a:defRPr kumimoji="1" sz="1800" kern="1200">
                          <a:solidFill>
                            <a:schemeClr val="dk1"/>
                          </a:solidFill>
                          <a:latin typeface="ＭＳ Ｐゴシック"/>
                          <a:ea typeface="ＭＳ Ｐゴシック"/>
                        </a:defRPr>
                      </a:lvl5pPr>
                      <a:lvl6pPr marL="2286000" algn="l" defTabSz="914400" rtl="0" eaLnBrk="1" latinLnBrk="0" hangingPunct="1">
                        <a:defRPr kumimoji="1" sz="1800" kern="1200">
                          <a:solidFill>
                            <a:schemeClr val="dk1"/>
                          </a:solidFill>
                          <a:latin typeface="ＭＳ Ｐゴシック"/>
                          <a:ea typeface="ＭＳ Ｐゴシック"/>
                        </a:defRPr>
                      </a:lvl6pPr>
                      <a:lvl7pPr marL="2743200" algn="l" defTabSz="914400" rtl="0" eaLnBrk="1" latinLnBrk="0" hangingPunct="1">
                        <a:defRPr kumimoji="1" sz="1800" kern="1200">
                          <a:solidFill>
                            <a:schemeClr val="dk1"/>
                          </a:solidFill>
                          <a:latin typeface="ＭＳ Ｐゴシック"/>
                          <a:ea typeface="ＭＳ Ｐゴシック"/>
                        </a:defRPr>
                      </a:lvl7pPr>
                      <a:lvl8pPr marL="3200400" algn="l" defTabSz="914400" rtl="0" eaLnBrk="1" latinLnBrk="0" hangingPunct="1">
                        <a:defRPr kumimoji="1" sz="1800" kern="1200">
                          <a:solidFill>
                            <a:schemeClr val="dk1"/>
                          </a:solidFill>
                          <a:latin typeface="ＭＳ Ｐゴシック"/>
                          <a:ea typeface="ＭＳ Ｐゴシック"/>
                        </a:defRPr>
                      </a:lvl8pPr>
                      <a:lvl9pPr marL="3657600" algn="l" defTabSz="914400" rtl="0" eaLnBrk="1" latinLnBrk="0" hangingPunct="1">
                        <a:defRPr kumimoji="1" sz="1800" kern="1200">
                          <a:solidFill>
                            <a:schemeClr val="dk1"/>
                          </a:solidFill>
                          <a:latin typeface="ＭＳ Ｐゴシック"/>
                          <a:ea typeface="ＭＳ Ｐゴシック"/>
                        </a:defRPr>
                      </a:lvl9pPr>
                    </a:lstStyle>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水災リスク評価</a:t>
                      </a:r>
                      <a:r>
                        <a:rPr kumimoji="1" lang="en-US" altLang="ja-JP" sz="1100" b="1" dirty="0">
                          <a:solidFill>
                            <a:schemeClr val="tx1"/>
                          </a:solidFill>
                          <a:latin typeface="メイリオ" pitchFamily="50" charset="-128"/>
                          <a:ea typeface="メイリオ" pitchFamily="50" charset="-128"/>
                          <a:cs typeface="メイリオ" pitchFamily="50" charset="-128"/>
                        </a:rPr>
                        <a:t>(</a:t>
                      </a:r>
                      <a:r>
                        <a:rPr kumimoji="1" lang="ja-JP" altLang="en-US" sz="1100" b="1" dirty="0">
                          <a:solidFill>
                            <a:schemeClr val="tx1"/>
                          </a:solidFill>
                          <a:latin typeface="メイリオ" pitchFamily="50" charset="-128"/>
                          <a:ea typeface="メイリオ" pitchFamily="50" charset="-128"/>
                          <a:cs typeface="メイリオ" pitchFamily="50" charset="-128"/>
                        </a:rPr>
                        <a:t>詳細シミュレーション</a:t>
                      </a:r>
                      <a:r>
                        <a:rPr kumimoji="1" lang="en-US" altLang="ja-JP" sz="1100" b="1" dirty="0">
                          <a:solidFill>
                            <a:schemeClr val="tx1"/>
                          </a:solidFill>
                          <a:latin typeface="メイリオ" pitchFamily="50" charset="-128"/>
                          <a:ea typeface="メイリオ" pitchFamily="50" charset="-128"/>
                          <a:cs typeface="メイリオ" pitchFamily="50" charset="-128"/>
                        </a:rPr>
                        <a:t>)</a:t>
                      </a:r>
                    </a:p>
                    <a:p>
                      <a:pPr>
                        <a:lnSpc>
                          <a:spcPts val="1200"/>
                        </a:lnSpc>
                      </a:pPr>
                      <a:r>
                        <a:rPr kumimoji="1" lang="en-US" altLang="ja-JP" sz="1100" b="1" dirty="0">
                          <a:solidFill>
                            <a:schemeClr val="tx1"/>
                          </a:solidFill>
                          <a:latin typeface="メイリオ" pitchFamily="50" charset="-128"/>
                          <a:ea typeface="メイリオ" pitchFamily="50" charset="-128"/>
                          <a:cs typeface="メイリオ" pitchFamily="50" charset="-128"/>
                        </a:rPr>
                        <a:t>※</a:t>
                      </a:r>
                      <a:r>
                        <a:rPr kumimoji="1" lang="ja-JP" altLang="en-US" sz="1100" b="1" dirty="0">
                          <a:solidFill>
                            <a:schemeClr val="tx1"/>
                          </a:solidFill>
                          <a:latin typeface="メイリオ" pitchFamily="50" charset="-128"/>
                          <a:ea typeface="メイリオ" pitchFamily="50" charset="-128"/>
                          <a:cs typeface="メイリオ" pitchFamily="50" charset="-128"/>
                        </a:rPr>
                        <a:t>現場調査＋机上分析</a:t>
                      </a:r>
                      <a:endParaRPr kumimoji="1" lang="en-US" altLang="ja-JP" sz="1100" b="1" dirty="0">
                        <a:solidFill>
                          <a:schemeClr val="tx1"/>
                        </a:solidFill>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lvl1pPr marL="0" algn="l" defTabSz="914400" rtl="0" eaLnBrk="1" latinLnBrk="0" hangingPunct="1">
                        <a:defRPr kumimoji="1" sz="1800" kern="1200">
                          <a:solidFill>
                            <a:schemeClr val="dk1"/>
                          </a:solidFill>
                          <a:latin typeface="ＭＳ Ｐゴシック"/>
                          <a:ea typeface="ＭＳ Ｐゴシック"/>
                        </a:defRPr>
                      </a:lvl1pPr>
                      <a:lvl2pPr marL="457200" algn="l" defTabSz="914400" rtl="0" eaLnBrk="1" latinLnBrk="0" hangingPunct="1">
                        <a:defRPr kumimoji="1" sz="1800" kern="1200">
                          <a:solidFill>
                            <a:schemeClr val="dk1"/>
                          </a:solidFill>
                          <a:latin typeface="ＭＳ Ｐゴシック"/>
                          <a:ea typeface="ＭＳ Ｐゴシック"/>
                        </a:defRPr>
                      </a:lvl2pPr>
                      <a:lvl3pPr marL="914400" algn="l" defTabSz="914400" rtl="0" eaLnBrk="1" latinLnBrk="0" hangingPunct="1">
                        <a:defRPr kumimoji="1" sz="1800" kern="1200">
                          <a:solidFill>
                            <a:schemeClr val="dk1"/>
                          </a:solidFill>
                          <a:latin typeface="ＭＳ Ｐゴシック"/>
                          <a:ea typeface="ＭＳ Ｐゴシック"/>
                        </a:defRPr>
                      </a:lvl3pPr>
                      <a:lvl4pPr marL="1371600" algn="l" defTabSz="914400" rtl="0" eaLnBrk="1" latinLnBrk="0" hangingPunct="1">
                        <a:defRPr kumimoji="1" sz="1800" kern="1200">
                          <a:solidFill>
                            <a:schemeClr val="dk1"/>
                          </a:solidFill>
                          <a:latin typeface="ＭＳ Ｐゴシック"/>
                          <a:ea typeface="ＭＳ Ｐゴシック"/>
                        </a:defRPr>
                      </a:lvl4pPr>
                      <a:lvl5pPr marL="1828800" algn="l" defTabSz="914400" rtl="0" eaLnBrk="1" latinLnBrk="0" hangingPunct="1">
                        <a:defRPr kumimoji="1" sz="1800" kern="1200">
                          <a:solidFill>
                            <a:schemeClr val="dk1"/>
                          </a:solidFill>
                          <a:latin typeface="ＭＳ Ｐゴシック"/>
                          <a:ea typeface="ＭＳ Ｐゴシック"/>
                        </a:defRPr>
                      </a:lvl5pPr>
                      <a:lvl6pPr marL="2286000" algn="l" defTabSz="914400" rtl="0" eaLnBrk="1" latinLnBrk="0" hangingPunct="1">
                        <a:defRPr kumimoji="1" sz="1800" kern="1200">
                          <a:solidFill>
                            <a:schemeClr val="dk1"/>
                          </a:solidFill>
                          <a:latin typeface="ＭＳ Ｐゴシック"/>
                          <a:ea typeface="ＭＳ Ｐゴシック"/>
                        </a:defRPr>
                      </a:lvl6pPr>
                      <a:lvl7pPr marL="2743200" algn="l" defTabSz="914400" rtl="0" eaLnBrk="1" latinLnBrk="0" hangingPunct="1">
                        <a:defRPr kumimoji="1" sz="1800" kern="1200">
                          <a:solidFill>
                            <a:schemeClr val="dk1"/>
                          </a:solidFill>
                          <a:latin typeface="ＭＳ Ｐゴシック"/>
                          <a:ea typeface="ＭＳ Ｐゴシック"/>
                        </a:defRPr>
                      </a:lvl7pPr>
                      <a:lvl8pPr marL="3200400" algn="l" defTabSz="914400" rtl="0" eaLnBrk="1" latinLnBrk="0" hangingPunct="1">
                        <a:defRPr kumimoji="1" sz="1800" kern="1200">
                          <a:solidFill>
                            <a:schemeClr val="dk1"/>
                          </a:solidFill>
                          <a:latin typeface="ＭＳ Ｐゴシック"/>
                          <a:ea typeface="ＭＳ Ｐゴシック"/>
                        </a:defRPr>
                      </a:lvl8pPr>
                      <a:lvl9pPr marL="3657600" algn="l" defTabSz="914400" rtl="0" eaLnBrk="1" latinLnBrk="0" hangingPunct="1">
                        <a:defRPr kumimoji="1" sz="1800" kern="1200">
                          <a:solidFill>
                            <a:schemeClr val="dk1"/>
                          </a:solidFill>
                          <a:latin typeface="ＭＳ Ｐゴシック"/>
                          <a:ea typeface="ＭＳ Ｐゴシック"/>
                        </a:defRPr>
                      </a:lvl9pPr>
                    </a:lstStyle>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・破堤から拠点構内への浸水経路、浸水影響の時系列推移といった、ハザードマップや簡</a:t>
                      </a:r>
                      <a:endParaRPr kumimoji="1" lang="en-US" altLang="ja-JP" sz="1000" dirty="0">
                        <a:solidFill>
                          <a:schemeClr val="tx1"/>
                        </a:solidFill>
                        <a:latin typeface="メイリオ" pitchFamily="50" charset="-128"/>
                        <a:ea typeface="メイリオ" pitchFamily="50" charset="-128"/>
                        <a:cs typeface="メイリオ" pitchFamily="50" charset="-128"/>
                      </a:endParaRPr>
                    </a:p>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　易シミュレーションでは把握できない情報について、より精微な分析が可能です。</a:t>
                      </a:r>
                    </a:p>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・堤防が決壊してから拠点構内が浸水するまで、水が引くまでの時間を推定することで、</a:t>
                      </a:r>
                      <a:endParaRPr kumimoji="1" lang="en-US" altLang="ja-JP" sz="1000" dirty="0">
                        <a:solidFill>
                          <a:schemeClr val="tx1"/>
                        </a:solidFill>
                        <a:latin typeface="メイリオ" pitchFamily="50" charset="-128"/>
                        <a:ea typeface="メイリオ" pitchFamily="50" charset="-128"/>
                        <a:cs typeface="メイリオ" pitchFamily="50" charset="-128"/>
                      </a:endParaRPr>
                    </a:p>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　より具体的な水災対策を検討することができます。</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5"/>
                  </a:ext>
                </a:extLst>
              </a:tr>
              <a:tr h="693986">
                <a:tc>
                  <a:txBody>
                    <a:bodyPr/>
                    <a:lstStyle/>
                    <a:p>
                      <a:pPr algn="ctr">
                        <a:lnSpc>
                          <a:spcPts val="1200"/>
                        </a:lnSpc>
                      </a:pPr>
                      <a:r>
                        <a:rPr kumimoji="1" lang="en-US" altLang="ja-JP" sz="1300" dirty="0">
                          <a:latin typeface="メイリオ" pitchFamily="50" charset="-128"/>
                          <a:ea typeface="メイリオ" pitchFamily="50" charset="-128"/>
                          <a:cs typeface="メイリオ" pitchFamily="50" charset="-128"/>
                        </a:rPr>
                        <a:t>4</a:t>
                      </a:r>
                      <a:endParaRPr kumimoji="1" lang="ja-JP" altLang="en-US" sz="1300" dirty="0">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nSpc>
                          <a:spcPts val="1200"/>
                        </a:lnSpc>
                      </a:pPr>
                      <a:r>
                        <a:rPr kumimoji="1" lang="ja-JP" altLang="en-US" sz="1100" b="1" dirty="0">
                          <a:solidFill>
                            <a:schemeClr val="tx1"/>
                          </a:solidFill>
                          <a:latin typeface="メイリオ" pitchFamily="50" charset="-128"/>
                          <a:ea typeface="メイリオ" pitchFamily="50" charset="-128"/>
                          <a:cs typeface="メイリオ" pitchFamily="50" charset="-128"/>
                        </a:rPr>
                        <a:t>セミナー・マニュアル策定支援</a:t>
                      </a:r>
                      <a:endParaRPr kumimoji="1" lang="en-US" altLang="ja-JP" sz="1100" b="1" dirty="0">
                        <a:solidFill>
                          <a:schemeClr val="tx1"/>
                        </a:solidFill>
                        <a:latin typeface="メイリオ" pitchFamily="50" charset="-128"/>
                        <a:ea typeface="メイリオ" pitchFamily="50" charset="-128"/>
                        <a:cs typeface="メイリオ" pitchFamily="50" charset="-128"/>
                      </a:endParaRP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・水災の種類と発生のメカニズム、過去の災害事例、風水災への備え、台風等の接近時の</a:t>
                      </a:r>
                      <a:endParaRPr kumimoji="1" lang="en-US" altLang="ja-JP" sz="1000" dirty="0">
                        <a:solidFill>
                          <a:schemeClr val="tx1"/>
                        </a:solidFill>
                        <a:latin typeface="メイリオ" pitchFamily="50" charset="-128"/>
                        <a:ea typeface="メイリオ" pitchFamily="50" charset="-128"/>
                        <a:cs typeface="メイリオ" pitchFamily="50" charset="-128"/>
                      </a:endParaRPr>
                    </a:p>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　必要な対応などについて解説します。</a:t>
                      </a:r>
                    </a:p>
                    <a:p>
                      <a:pPr>
                        <a:lnSpc>
                          <a:spcPts val="1200"/>
                        </a:lnSpc>
                      </a:pPr>
                      <a:r>
                        <a:rPr kumimoji="1" lang="ja-JP" altLang="en-US" sz="1000" dirty="0">
                          <a:solidFill>
                            <a:schemeClr val="tx1"/>
                          </a:solidFill>
                          <a:latin typeface="メイリオ" pitchFamily="50" charset="-128"/>
                          <a:ea typeface="メイリオ" pitchFamily="50" charset="-128"/>
                          <a:cs typeface="メイリオ" pitchFamily="50" charset="-128"/>
                        </a:rPr>
                        <a:t>・</a:t>
                      </a:r>
                      <a:r>
                        <a:rPr kumimoji="1" lang="en-US" altLang="ja-JP" sz="1000" dirty="0">
                          <a:solidFill>
                            <a:schemeClr val="tx1"/>
                          </a:solidFill>
                          <a:latin typeface="メイリオ" pitchFamily="50" charset="-128"/>
                          <a:ea typeface="メイリオ" pitchFamily="50" charset="-128"/>
                          <a:cs typeface="メイリオ" pitchFamily="50" charset="-128"/>
                        </a:rPr>
                        <a:t>BCP</a:t>
                      </a:r>
                      <a:r>
                        <a:rPr kumimoji="1" lang="ja-JP" altLang="en-US" sz="1000" dirty="0">
                          <a:solidFill>
                            <a:schemeClr val="tx1"/>
                          </a:solidFill>
                          <a:latin typeface="メイリオ" pitchFamily="50" charset="-128"/>
                          <a:ea typeface="メイリオ" pitchFamily="50" charset="-128"/>
                          <a:cs typeface="メイリオ" pitchFamily="50" charset="-128"/>
                        </a:rPr>
                        <a:t>や水災タイムラインの策定支援も実施可能です。</a:t>
                      </a:r>
                    </a:p>
                  </a:txBody>
                  <a:tcPr marL="84406" marR="84406" marT="42193" marB="42193"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791159537"/>
                  </a:ext>
                </a:extLst>
              </a:tr>
            </a:tbl>
          </a:graphicData>
        </a:graphic>
      </p:graphicFrame>
      <p:sp>
        <p:nvSpPr>
          <p:cNvPr id="10284" name="タイトル 1"/>
          <p:cNvSpPr>
            <a:spLocks noGrp="1"/>
          </p:cNvSpPr>
          <p:nvPr>
            <p:ph type="ctrTitle"/>
          </p:nvPr>
        </p:nvSpPr>
        <p:spPr/>
        <p:txBody>
          <a:bodyPr>
            <a:normAutofit/>
          </a:bodyPr>
          <a:lstStyle/>
          <a:p>
            <a:r>
              <a:rPr lang="ja-JP" altLang="en-US" dirty="0"/>
              <a:t>水災リスク分野のサービスメニュー</a:t>
            </a:r>
            <a:endParaRPr dirty="0"/>
          </a:p>
        </p:txBody>
      </p:sp>
      <p:sp>
        <p:nvSpPr>
          <p:cNvPr id="10285" name="スライド番号プレースホルダー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7D5DAD7D-4E9F-447E-A280-27A02337C9C1}" type="slidenum">
              <a:rPr lang="en-US" altLang="ja-JP" smtClean="0">
                <a:solidFill>
                  <a:srgbClr val="414243"/>
                </a:solidFill>
              </a:rPr>
              <a:pPr>
                <a:spcBef>
                  <a:spcPct val="0"/>
                </a:spcBef>
                <a:buClrTx/>
                <a:buSzTx/>
                <a:buFontTx/>
                <a:buNone/>
              </a:pPr>
              <a:t>2</a:t>
            </a:fld>
            <a:endParaRPr lang="en-US" altLang="ja-JP">
              <a:solidFill>
                <a:srgbClr val="414243"/>
              </a:solidFill>
            </a:endParaRPr>
          </a:p>
        </p:txBody>
      </p:sp>
      <p:sp>
        <p:nvSpPr>
          <p:cNvPr id="10286"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0287"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9" name="テキスト ボックス 2">
            <a:extLst>
              <a:ext uri="{FF2B5EF4-FFF2-40B4-BE49-F238E27FC236}">
                <a16:creationId xmlns:a16="http://schemas.microsoft.com/office/drawing/2014/main" id="{A055152D-A658-4F3D-B2FC-7D69C7764E8A}"/>
              </a:ext>
            </a:extLst>
          </p:cNvPr>
          <p:cNvSpPr txBox="1">
            <a:spLocks noChangeArrowheads="1"/>
          </p:cNvSpPr>
          <p:nvPr/>
        </p:nvSpPr>
        <p:spPr bwMode="auto">
          <a:xfrm>
            <a:off x="284285" y="5631188"/>
            <a:ext cx="46415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FontTx/>
              <a:buNone/>
            </a:pPr>
            <a:r>
              <a:rPr lang="ja-JP" altLang="en-US" dirty="0">
                <a:solidFill>
                  <a:srgbClr val="002060"/>
                </a:solidFill>
                <a:highlight>
                  <a:srgbClr val="FFFF99"/>
                </a:highlight>
                <a:latin typeface="メイリオ" panose="020B0604030504040204" pitchFamily="50" charset="-128"/>
              </a:rPr>
              <a:t>黄色</a:t>
            </a:r>
            <a:r>
              <a:rPr lang="ja-JP" altLang="en-US" dirty="0">
                <a:solidFill>
                  <a:srgbClr val="002060"/>
                </a:solidFill>
                <a:latin typeface="メイリオ" panose="020B0604030504040204" pitchFamily="50" charset="-128"/>
              </a:rPr>
              <a:t>→机上分析</a:t>
            </a:r>
            <a:endParaRPr lang="en-US" altLang="ja-JP" dirty="0">
              <a:solidFill>
                <a:srgbClr val="002060"/>
              </a:solidFill>
              <a:latin typeface="メイリオ" panose="020B0604030504040204" pitchFamily="50" charset="-128"/>
            </a:endParaRPr>
          </a:p>
          <a:p>
            <a:pPr eaLnBrk="1" hangingPunct="1">
              <a:spcBef>
                <a:spcPct val="0"/>
              </a:spcBef>
              <a:buClrTx/>
              <a:buFontTx/>
              <a:buNone/>
            </a:pPr>
            <a:r>
              <a:rPr lang="ja-JP" altLang="en-US" dirty="0">
                <a:highlight>
                  <a:srgbClr val="BDF2F5"/>
                </a:highlight>
                <a:latin typeface="メイリオ" panose="020B0604030504040204" pitchFamily="50" charset="-128"/>
              </a:rPr>
              <a:t>青色</a:t>
            </a:r>
            <a:r>
              <a:rPr lang="ja-JP" altLang="en-US" dirty="0">
                <a:latin typeface="メイリオ" panose="020B0604030504040204" pitchFamily="50" charset="-128"/>
              </a:rPr>
              <a:t>→現地調査</a:t>
            </a:r>
            <a:endParaRPr lang="en-US" altLang="ja-JP" dirty="0">
              <a:latin typeface="メイリオ" panose="020B0604030504040204" pitchFamily="50" charset="-128"/>
            </a:endParaRPr>
          </a:p>
          <a:p>
            <a:pPr eaLnBrk="1" hangingPunct="1">
              <a:spcBef>
                <a:spcPct val="0"/>
              </a:spcBef>
              <a:buClrTx/>
              <a:buFontTx/>
              <a:buNone/>
            </a:pPr>
            <a:r>
              <a:rPr lang="ja-JP" altLang="en-US" dirty="0">
                <a:highlight>
                  <a:srgbClr val="FFCCCC"/>
                </a:highlight>
                <a:latin typeface="メイリオ" panose="020B0604030504040204" pitchFamily="50" charset="-128"/>
              </a:rPr>
              <a:t>赤色</a:t>
            </a:r>
            <a:r>
              <a:rPr lang="ja-JP" altLang="en-US" dirty="0">
                <a:latin typeface="メイリオ" panose="020B0604030504040204" pitchFamily="50" charset="-128"/>
              </a:rPr>
              <a:t>→現地またはオンライン</a:t>
            </a:r>
            <a:endParaRPr lang="en-US" altLang="ja-JP" dirty="0">
              <a:latin typeface="メイリオ" panose="020B0604030504040204" pitchFamily="50" charset="-128"/>
            </a:endParaRPr>
          </a:p>
        </p:txBody>
      </p:sp>
    </p:spTree>
    <p:extLst>
      <p:ext uri="{BB962C8B-B14F-4D97-AF65-F5344CB8AC3E}">
        <p14:creationId xmlns:p14="http://schemas.microsoft.com/office/powerpoint/2010/main" val="2906615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1"/>
          <p:cNvPicPr>
            <a:picLocks noChangeAspect="1" noChangeArrowheads="1"/>
          </p:cNvPicPr>
          <p:nvPr/>
        </p:nvPicPr>
        <p:blipFill>
          <a:blip r:embed="rId2" cstate="email">
            <a:extLst>
              <a:ext uri="{28A0092B-C50C-407E-A947-70E740481C1C}">
                <a14:useLocalDpi xmlns:a14="http://schemas.microsoft.com/office/drawing/2010/main"/>
              </a:ext>
            </a:extLst>
          </a:blip>
          <a:srcRect r="20036"/>
          <a:stretch>
            <a:fillRect/>
          </a:stretch>
        </p:blipFill>
        <p:spPr bwMode="auto">
          <a:xfrm>
            <a:off x="285751" y="2787162"/>
            <a:ext cx="4555880" cy="993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1" name="タイトル 1"/>
          <p:cNvSpPr>
            <a:spLocks noGrp="1"/>
          </p:cNvSpPr>
          <p:nvPr>
            <p:ph type="ctrTitle"/>
          </p:nvPr>
        </p:nvSpPr>
        <p:spPr/>
        <p:txBody>
          <a:bodyPr/>
          <a:lstStyle/>
          <a:p>
            <a:r>
              <a:rPr lang="ja-JP" altLang="en-US" dirty="0"/>
              <a:t>水災リスク分野のサービスメニュー</a:t>
            </a:r>
            <a:endParaRPr dirty="0"/>
          </a:p>
        </p:txBody>
      </p:sp>
      <p:sp>
        <p:nvSpPr>
          <p:cNvPr id="12292" name="スライド番号プレースホルダー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9EA9A372-8962-4FD5-8D02-14498D4737E8}" type="slidenum">
              <a:rPr lang="en-US" altLang="ja-JP" smtClean="0">
                <a:solidFill>
                  <a:srgbClr val="414243"/>
                </a:solidFill>
              </a:rPr>
              <a:pPr>
                <a:spcBef>
                  <a:spcPct val="0"/>
                </a:spcBef>
                <a:buClrTx/>
                <a:buSzTx/>
                <a:buFontTx/>
                <a:buNone/>
              </a:pPr>
              <a:t>3</a:t>
            </a:fld>
            <a:endParaRPr lang="en-US" altLang="ja-JP">
              <a:solidFill>
                <a:srgbClr val="414243"/>
              </a:solidFill>
            </a:endParaRPr>
          </a:p>
        </p:txBody>
      </p:sp>
      <p:sp>
        <p:nvSpPr>
          <p:cNvPr id="12293"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294"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665163"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1</a:t>
            </a:r>
            <a:r>
              <a:rPr lang="ja-JP" altLang="en-US" sz="2215" b="1" dirty="0">
                <a:solidFill>
                  <a:prstClr val="white"/>
                </a:solidFill>
                <a:latin typeface="メイリオ" pitchFamily="50" charset="-128"/>
                <a:ea typeface="メイリオ" pitchFamily="50" charset="-128"/>
                <a:cs typeface="メイリオ" pitchFamily="50" charset="-128"/>
              </a:rPr>
              <a:t>　水災リスク分析</a:t>
            </a:r>
            <a:endParaRPr lang="en-US" altLang="ja-JP" sz="2215" b="1" dirty="0">
              <a:solidFill>
                <a:prstClr val="white"/>
              </a:solidFill>
              <a:latin typeface="メイリオ" pitchFamily="50" charset="-128"/>
              <a:ea typeface="メイリオ" pitchFamily="50" charset="-128"/>
              <a:cs typeface="メイリオ" pitchFamily="50" charset="-128"/>
            </a:endParaRPr>
          </a:p>
        </p:txBody>
      </p:sp>
      <p:sp>
        <p:nvSpPr>
          <p:cNvPr id="10" name="テキスト ボックス 9"/>
          <p:cNvSpPr txBox="1"/>
          <p:nvPr/>
        </p:nvSpPr>
        <p:spPr>
          <a:xfrm>
            <a:off x="285750" y="3903272"/>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こんなお客さまに最適です</a:t>
            </a:r>
          </a:p>
        </p:txBody>
      </p:sp>
      <p:sp>
        <p:nvSpPr>
          <p:cNvPr id="12299" name="テキスト ボックス 2"/>
          <p:cNvSpPr txBox="1">
            <a:spLocks noChangeArrowheads="1"/>
          </p:cNvSpPr>
          <p:nvPr/>
        </p:nvSpPr>
        <p:spPr bwMode="auto">
          <a:xfrm>
            <a:off x="243254" y="4208585"/>
            <a:ext cx="5282712" cy="49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・新規の保険付保や既存の保険契約の見直しを検討するにあたり、</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　自然災害リスクを定量的に把握し、適切なリスク処理を行いたい。</a:t>
            </a:r>
            <a:endParaRPr lang="en-US" altLang="ja-JP" sz="1292" dirty="0">
              <a:solidFill>
                <a:srgbClr val="000000"/>
              </a:solidFill>
              <a:latin typeface="メイリオ" panose="020B0604030504040204" pitchFamily="50" charset="-128"/>
            </a:endParaRPr>
          </a:p>
        </p:txBody>
      </p:sp>
      <p:sp>
        <p:nvSpPr>
          <p:cNvPr id="13" name="テキスト ボックス 12"/>
          <p:cNvSpPr txBox="1"/>
          <p:nvPr/>
        </p:nvSpPr>
        <p:spPr>
          <a:xfrm>
            <a:off x="284285" y="4786900"/>
            <a:ext cx="2425212"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サービス内容の特徴</a:t>
            </a:r>
          </a:p>
        </p:txBody>
      </p:sp>
      <p:sp>
        <p:nvSpPr>
          <p:cNvPr id="12301" name="テキスト ボックス 2"/>
          <p:cNvSpPr txBox="1">
            <a:spLocks noChangeArrowheads="1"/>
          </p:cNvSpPr>
          <p:nvPr/>
        </p:nvSpPr>
        <p:spPr bwMode="auto">
          <a:xfrm>
            <a:off x="213947" y="5108331"/>
            <a:ext cx="5993423" cy="49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・分析に必要な物件情報（右欄）を頂くことで、机上での分析が可能です。</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・水災だけでなく、地震や風災リスクについても分析が可能です。</a:t>
            </a:r>
            <a:endParaRPr lang="en-US" altLang="ja-JP" sz="1292" dirty="0">
              <a:solidFill>
                <a:srgbClr val="000000"/>
              </a:solidFill>
              <a:latin typeface="メイリオ" panose="020B0604030504040204" pitchFamily="50" charset="-128"/>
            </a:endParaRPr>
          </a:p>
        </p:txBody>
      </p:sp>
      <p:grpSp>
        <p:nvGrpSpPr>
          <p:cNvPr id="12302" name="グループ化 34"/>
          <p:cNvGrpSpPr>
            <a:grpSpLocks/>
          </p:cNvGrpSpPr>
          <p:nvPr/>
        </p:nvGrpSpPr>
        <p:grpSpPr bwMode="auto">
          <a:xfrm>
            <a:off x="5399231" y="2564423"/>
            <a:ext cx="3322738" cy="2048224"/>
            <a:chOff x="5775301" y="1890596"/>
            <a:chExt cx="3600799" cy="2218589"/>
          </a:xfrm>
        </p:grpSpPr>
        <p:sp>
          <p:nvSpPr>
            <p:cNvPr id="12313" name="Line 394"/>
            <p:cNvSpPr>
              <a:spLocks noChangeShapeType="1"/>
            </p:cNvSpPr>
            <p:nvPr/>
          </p:nvSpPr>
          <p:spPr bwMode="auto">
            <a:xfrm flipV="1">
              <a:off x="6773116" y="2016269"/>
              <a:ext cx="0" cy="1557450"/>
            </a:xfrm>
            <a:prstGeom prst="line">
              <a:avLst/>
            </a:prstGeom>
            <a:noFill/>
            <a:ln w="38100">
              <a:solidFill>
                <a:srgbClr val="00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ja-JP" altLang="en-US" sz="1662"/>
            </a:p>
          </p:txBody>
        </p:sp>
        <p:sp>
          <p:nvSpPr>
            <p:cNvPr id="12314" name="Line 395"/>
            <p:cNvSpPr>
              <a:spLocks noChangeShapeType="1"/>
            </p:cNvSpPr>
            <p:nvPr/>
          </p:nvSpPr>
          <p:spPr bwMode="auto">
            <a:xfrm rot="5400000" flipH="1" flipV="1">
              <a:off x="8074608" y="2264293"/>
              <a:ext cx="2" cy="2602982"/>
            </a:xfrm>
            <a:prstGeom prst="line">
              <a:avLst/>
            </a:prstGeom>
            <a:noFill/>
            <a:ln w="38100">
              <a:solidFill>
                <a:srgbClr val="000066"/>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ja-JP" altLang="en-US" sz="1662"/>
            </a:p>
          </p:txBody>
        </p:sp>
        <p:sp>
          <p:nvSpPr>
            <p:cNvPr id="12315" name="AutoShape 396"/>
            <p:cNvSpPr>
              <a:spLocks noChangeArrowheads="1"/>
            </p:cNvSpPr>
            <p:nvPr/>
          </p:nvSpPr>
          <p:spPr bwMode="auto">
            <a:xfrm>
              <a:off x="6863579" y="2103745"/>
              <a:ext cx="1200246" cy="1395363"/>
            </a:xfrm>
            <a:prstGeom prst="roundRect">
              <a:avLst>
                <a:gd name="adj" fmla="val 16667"/>
              </a:avLst>
            </a:prstGeom>
            <a:gradFill rotWithShape="1">
              <a:gsLst>
                <a:gs pos="0">
                  <a:srgbClr val="FFCCFF"/>
                </a:gs>
                <a:gs pos="100000">
                  <a:srgbClr val="FF66CC"/>
                </a:gs>
              </a:gsLst>
              <a:path path="shape">
                <a:fillToRect l="50000" t="50000" r="50000" b="50000"/>
              </a:path>
            </a:gra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662" b="1">
                  <a:latin typeface="Meiryo UI" panose="020B0604030504040204" pitchFamily="50" charset="-128"/>
                  <a:ea typeface="Meiryo UI" panose="020B0604030504040204" pitchFamily="50" charset="-128"/>
                </a:rPr>
                <a:t>リスクの</a:t>
              </a:r>
              <a:endParaRPr lang="en-US" altLang="ja-JP" sz="1662" b="1">
                <a:latin typeface="Meiryo UI" panose="020B0604030504040204" pitchFamily="50" charset="-128"/>
                <a:ea typeface="Meiryo UI" panose="020B0604030504040204" pitchFamily="50" charset="-128"/>
              </a:endParaRPr>
            </a:p>
            <a:p>
              <a:pPr algn="ctr" eaLnBrk="1" hangingPunct="1">
                <a:spcBef>
                  <a:spcPct val="0"/>
                </a:spcBef>
                <a:buClrTx/>
                <a:buSzTx/>
                <a:buFontTx/>
                <a:buNone/>
              </a:pPr>
              <a:r>
                <a:rPr lang="ja-JP" altLang="en-US" sz="1662" b="1">
                  <a:latin typeface="Meiryo UI" panose="020B0604030504040204" pitchFamily="50" charset="-128"/>
                  <a:ea typeface="Meiryo UI" panose="020B0604030504040204" pitchFamily="50" charset="-128"/>
                </a:rPr>
                <a:t>保有</a:t>
              </a:r>
              <a:endParaRPr lang="en-US" altLang="ja-JP" sz="1108">
                <a:latin typeface="Meiryo UI" panose="020B0604030504040204" pitchFamily="50" charset="-128"/>
                <a:ea typeface="Meiryo UI" panose="020B0604030504040204" pitchFamily="50" charset="-128"/>
              </a:endParaRPr>
            </a:p>
          </p:txBody>
        </p:sp>
        <p:sp>
          <p:nvSpPr>
            <p:cNvPr id="12316" name="AutoShape 397"/>
            <p:cNvSpPr>
              <a:spLocks noChangeArrowheads="1"/>
            </p:cNvSpPr>
            <p:nvPr/>
          </p:nvSpPr>
          <p:spPr bwMode="auto">
            <a:xfrm>
              <a:off x="8087715" y="2090943"/>
              <a:ext cx="1200246" cy="1398537"/>
            </a:xfrm>
            <a:prstGeom prst="roundRect">
              <a:avLst>
                <a:gd name="adj" fmla="val 16667"/>
              </a:avLst>
            </a:prstGeom>
            <a:gradFill rotWithShape="1">
              <a:gsLst>
                <a:gs pos="0">
                  <a:srgbClr val="6FE3CD"/>
                </a:gs>
                <a:gs pos="100000">
                  <a:srgbClr val="22AF93"/>
                </a:gs>
              </a:gsLst>
              <a:path path="shape">
                <a:fillToRect l="50000" t="50000" r="50000" b="50000"/>
              </a:path>
            </a:gra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662" b="1">
                  <a:latin typeface="Meiryo UI" panose="020B0604030504040204" pitchFamily="50" charset="-128"/>
                  <a:ea typeface="Meiryo UI" panose="020B0604030504040204" pitchFamily="50" charset="-128"/>
                </a:rPr>
                <a:t>リスクの</a:t>
              </a:r>
              <a:endParaRPr lang="en-US" altLang="ja-JP" sz="1662" b="1">
                <a:latin typeface="Meiryo UI" panose="020B0604030504040204" pitchFamily="50" charset="-128"/>
                <a:ea typeface="Meiryo UI" panose="020B0604030504040204" pitchFamily="50" charset="-128"/>
              </a:endParaRPr>
            </a:p>
            <a:p>
              <a:pPr algn="ctr" eaLnBrk="1" hangingPunct="1">
                <a:spcBef>
                  <a:spcPct val="0"/>
                </a:spcBef>
                <a:buClrTx/>
                <a:buSzTx/>
                <a:buFontTx/>
                <a:buNone/>
              </a:pPr>
              <a:r>
                <a:rPr lang="ja-JP" altLang="en-US" sz="1662" b="1">
                  <a:latin typeface="Meiryo UI" panose="020B0604030504040204" pitchFamily="50" charset="-128"/>
                  <a:ea typeface="Meiryo UI" panose="020B0604030504040204" pitchFamily="50" charset="-128"/>
                </a:rPr>
                <a:t>転嫁</a:t>
              </a:r>
            </a:p>
          </p:txBody>
        </p:sp>
        <p:sp>
          <p:nvSpPr>
            <p:cNvPr id="12317" name="Text Box 400"/>
            <p:cNvSpPr txBox="1">
              <a:spLocks noChangeArrowheads="1"/>
            </p:cNvSpPr>
            <p:nvPr/>
          </p:nvSpPr>
          <p:spPr bwMode="auto">
            <a:xfrm>
              <a:off x="6684145" y="3547445"/>
              <a:ext cx="2679032" cy="5617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108">
                  <a:solidFill>
                    <a:srgbClr val="002060"/>
                  </a:solidFill>
                  <a:latin typeface="Meiryo UI" panose="020B0604030504040204" pitchFamily="50" charset="-128"/>
                  <a:ea typeface="Meiryo UI" panose="020B0604030504040204" pitchFamily="50" charset="-128"/>
                </a:rPr>
                <a:t>小　　　　　　　　　　　　　　　　　　　　大</a:t>
              </a:r>
              <a:endParaRPr lang="en-US" altLang="ja-JP" sz="1846">
                <a:solidFill>
                  <a:srgbClr val="002060"/>
                </a:solidFill>
                <a:latin typeface="Meiryo UI" panose="020B0604030504040204" pitchFamily="50" charset="-128"/>
                <a:ea typeface="Meiryo UI" panose="020B0604030504040204" pitchFamily="50" charset="-128"/>
              </a:endParaRPr>
            </a:p>
            <a:p>
              <a:pPr algn="ctr" eaLnBrk="1" hangingPunct="1">
                <a:spcBef>
                  <a:spcPct val="0"/>
                </a:spcBef>
                <a:buClrTx/>
                <a:buSzTx/>
                <a:buFontTx/>
                <a:buNone/>
              </a:pPr>
              <a:r>
                <a:rPr lang="ja-JP" altLang="en-US" sz="1662">
                  <a:solidFill>
                    <a:srgbClr val="002060"/>
                  </a:solidFill>
                  <a:latin typeface="Meiryo UI" panose="020B0604030504040204" pitchFamily="50" charset="-128"/>
                  <a:ea typeface="Meiryo UI" panose="020B0604030504040204" pitchFamily="50" charset="-128"/>
                </a:rPr>
                <a:t>リスクの大きさ</a:t>
              </a:r>
              <a:r>
                <a:rPr lang="ja-JP" altLang="en-US" sz="1292">
                  <a:solidFill>
                    <a:srgbClr val="FF0000"/>
                  </a:solidFill>
                  <a:latin typeface="Meiryo UI" panose="020B0604030504040204" pitchFamily="50" charset="-128"/>
                  <a:ea typeface="Meiryo UI" panose="020B0604030504040204" pitchFamily="50" charset="-128"/>
                </a:rPr>
                <a:t>（被害想定額）</a:t>
              </a:r>
            </a:p>
          </p:txBody>
        </p:sp>
        <p:sp>
          <p:nvSpPr>
            <p:cNvPr id="12318" name="Text Box 401"/>
            <p:cNvSpPr txBox="1">
              <a:spLocks noChangeArrowheads="1"/>
            </p:cNvSpPr>
            <p:nvPr/>
          </p:nvSpPr>
          <p:spPr bwMode="auto">
            <a:xfrm rot="16200000">
              <a:off x="5271389" y="2430039"/>
              <a:ext cx="1785301" cy="777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662">
                  <a:solidFill>
                    <a:srgbClr val="002060"/>
                  </a:solidFill>
                  <a:latin typeface="Meiryo UI" panose="020B0604030504040204" pitchFamily="50" charset="-128"/>
                  <a:ea typeface="Meiryo UI" panose="020B0604030504040204" pitchFamily="50" charset="-128"/>
                </a:rPr>
                <a:t>リスクの発生確率</a:t>
              </a:r>
              <a:endParaRPr lang="en-US" altLang="ja-JP" sz="1662">
                <a:solidFill>
                  <a:srgbClr val="002060"/>
                </a:solidFill>
                <a:latin typeface="Meiryo UI" panose="020B0604030504040204" pitchFamily="50" charset="-128"/>
                <a:ea typeface="Meiryo UI" panose="020B0604030504040204" pitchFamily="50" charset="-128"/>
              </a:endParaRPr>
            </a:p>
            <a:p>
              <a:pPr algn="ctr" eaLnBrk="1" hangingPunct="1">
                <a:spcBef>
                  <a:spcPct val="0"/>
                </a:spcBef>
                <a:buClrTx/>
                <a:buSzTx/>
                <a:buFontTx/>
                <a:buNone/>
              </a:pPr>
              <a:r>
                <a:rPr lang="ja-JP" altLang="en-US" sz="1292">
                  <a:solidFill>
                    <a:srgbClr val="FF0000"/>
                  </a:solidFill>
                  <a:latin typeface="Meiryo UI" panose="020B0604030504040204" pitchFamily="50" charset="-128"/>
                  <a:ea typeface="Meiryo UI" panose="020B0604030504040204" pitchFamily="50" charset="-128"/>
                </a:rPr>
                <a:t>（年超過確率）</a:t>
              </a:r>
              <a:endParaRPr lang="en-US" altLang="ja-JP" sz="1292">
                <a:solidFill>
                  <a:srgbClr val="FF0000"/>
                </a:solidFill>
                <a:latin typeface="Meiryo UI" panose="020B0604030504040204" pitchFamily="50" charset="-128"/>
                <a:ea typeface="Meiryo UI" panose="020B0604030504040204" pitchFamily="50" charset="-128"/>
              </a:endParaRPr>
            </a:p>
            <a:p>
              <a:pPr algn="ctr" eaLnBrk="1" hangingPunct="1">
                <a:spcBef>
                  <a:spcPct val="0"/>
                </a:spcBef>
                <a:buClrTx/>
                <a:buSzTx/>
                <a:buFontTx/>
                <a:buNone/>
              </a:pPr>
              <a:r>
                <a:rPr lang="ja-JP" altLang="en-US" sz="1108">
                  <a:solidFill>
                    <a:srgbClr val="002060"/>
                  </a:solidFill>
                  <a:latin typeface="Meiryo UI" panose="020B0604030504040204" pitchFamily="50" charset="-128"/>
                  <a:ea typeface="Meiryo UI" panose="020B0604030504040204" pitchFamily="50" charset="-128"/>
                </a:rPr>
                <a:t>低　　　　　　　　　　　高</a:t>
              </a:r>
            </a:p>
          </p:txBody>
        </p:sp>
        <p:sp>
          <p:nvSpPr>
            <p:cNvPr id="12319" name="正方形/長方形 4"/>
            <p:cNvSpPr>
              <a:spLocks noChangeArrowheads="1"/>
            </p:cNvSpPr>
            <p:nvPr/>
          </p:nvSpPr>
          <p:spPr bwMode="auto">
            <a:xfrm>
              <a:off x="7360246" y="1890596"/>
              <a:ext cx="1416124" cy="28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50000"/>
                </a:spcBef>
                <a:buClrTx/>
                <a:buSzTx/>
                <a:buFontTx/>
                <a:buNone/>
              </a:pPr>
              <a:r>
                <a:rPr lang="ja-JP" altLang="en-US" sz="1108">
                  <a:latin typeface="Meiryo UI" panose="020B0604030504040204" pitchFamily="50" charset="-128"/>
                  <a:ea typeface="Meiryo UI" panose="020B0604030504040204" pitchFamily="50" charset="-128"/>
                </a:rPr>
                <a:t>リスクファイナンシング</a:t>
              </a:r>
            </a:p>
          </p:txBody>
        </p:sp>
        <p:sp>
          <p:nvSpPr>
            <p:cNvPr id="12320" name="正方形/長方形 4"/>
            <p:cNvSpPr>
              <a:spLocks noChangeArrowheads="1"/>
            </p:cNvSpPr>
            <p:nvPr/>
          </p:nvSpPr>
          <p:spPr bwMode="auto">
            <a:xfrm>
              <a:off x="6916007" y="3055311"/>
              <a:ext cx="1150341" cy="46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50000"/>
                </a:spcBef>
                <a:buClrTx/>
                <a:buSzTx/>
                <a:buFontTx/>
                <a:buNone/>
              </a:pPr>
              <a:r>
                <a:rPr lang="ja-JP" altLang="en-US" sz="1108">
                  <a:latin typeface="Meiryo UI" panose="020B0604030504040204" pitchFamily="50" charset="-128"/>
                  <a:ea typeface="Meiryo UI" panose="020B0604030504040204" pitchFamily="50" charset="-128"/>
                </a:rPr>
                <a:t>準備金・</a:t>
              </a:r>
              <a:endParaRPr lang="en-US" altLang="ja-JP" sz="1108">
                <a:latin typeface="Meiryo UI" panose="020B0604030504040204" pitchFamily="50" charset="-128"/>
                <a:ea typeface="Meiryo UI" panose="020B0604030504040204" pitchFamily="50" charset="-128"/>
              </a:endParaRPr>
            </a:p>
            <a:p>
              <a:pPr eaLnBrk="1" hangingPunct="1">
                <a:spcBef>
                  <a:spcPct val="0"/>
                </a:spcBef>
                <a:buClrTx/>
                <a:buSzTx/>
                <a:buFontTx/>
                <a:buNone/>
              </a:pPr>
              <a:r>
                <a:rPr lang="ja-JP" altLang="en-US" sz="1108">
                  <a:latin typeface="Meiryo UI" panose="020B0604030504040204" pitchFamily="50" charset="-128"/>
                  <a:ea typeface="Meiryo UI" panose="020B0604030504040204" pitchFamily="50" charset="-128"/>
                </a:rPr>
                <a:t>自家保険 </a:t>
              </a:r>
              <a:r>
                <a:rPr lang="en-US" altLang="ja-JP" sz="1108">
                  <a:latin typeface="Meiryo UI" panose="020B0604030504040204" pitchFamily="50" charset="-128"/>
                  <a:ea typeface="Meiryo UI" panose="020B0604030504040204" pitchFamily="50" charset="-128"/>
                </a:rPr>
                <a:t>etc.</a:t>
              </a:r>
              <a:endParaRPr lang="ja-JP" altLang="en-US" sz="1108">
                <a:latin typeface="Meiryo UI" panose="020B0604030504040204" pitchFamily="50" charset="-128"/>
                <a:ea typeface="Meiryo UI" panose="020B0604030504040204" pitchFamily="50" charset="-128"/>
              </a:endParaRPr>
            </a:p>
          </p:txBody>
        </p:sp>
        <p:sp>
          <p:nvSpPr>
            <p:cNvPr id="12321" name="正方形/長方形 4"/>
            <p:cNvSpPr>
              <a:spLocks noChangeArrowheads="1"/>
            </p:cNvSpPr>
            <p:nvPr/>
          </p:nvSpPr>
          <p:spPr bwMode="auto">
            <a:xfrm>
              <a:off x="8095196" y="3212481"/>
              <a:ext cx="1226775" cy="28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50000"/>
                </a:spcBef>
                <a:buClrTx/>
                <a:buSzTx/>
                <a:buFontTx/>
                <a:buNone/>
              </a:pPr>
              <a:r>
                <a:rPr lang="ja-JP" altLang="en-US" sz="1108">
                  <a:latin typeface="Meiryo UI" panose="020B0604030504040204" pitchFamily="50" charset="-128"/>
                  <a:ea typeface="Meiryo UI" panose="020B0604030504040204" pitchFamily="50" charset="-128"/>
                </a:rPr>
                <a:t>保険・共済 </a:t>
              </a:r>
              <a:r>
                <a:rPr lang="en-US" altLang="ja-JP" sz="1108">
                  <a:latin typeface="Meiryo UI" panose="020B0604030504040204" pitchFamily="50" charset="-128"/>
                  <a:ea typeface="Meiryo UI" panose="020B0604030504040204" pitchFamily="50" charset="-128"/>
                </a:rPr>
                <a:t>etc.</a:t>
              </a:r>
              <a:endParaRPr lang="ja-JP" altLang="en-US" sz="1108">
                <a:latin typeface="Meiryo UI" panose="020B0604030504040204" pitchFamily="50" charset="-128"/>
                <a:ea typeface="Meiryo UI" panose="020B0604030504040204" pitchFamily="50" charset="-128"/>
              </a:endParaRPr>
            </a:p>
          </p:txBody>
        </p:sp>
      </p:grpSp>
      <p:sp>
        <p:nvSpPr>
          <p:cNvPr id="52" name="テキスト ボックス 51"/>
          <p:cNvSpPr txBox="1"/>
          <p:nvPr/>
        </p:nvSpPr>
        <p:spPr>
          <a:xfrm>
            <a:off x="285750" y="1526418"/>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水災リスク分析の概要</a:t>
            </a:r>
          </a:p>
        </p:txBody>
      </p:sp>
      <p:sp>
        <p:nvSpPr>
          <p:cNvPr id="12304" name="テキスト ボックス 2"/>
          <p:cNvSpPr txBox="1">
            <a:spLocks noChangeArrowheads="1"/>
          </p:cNvSpPr>
          <p:nvPr/>
        </p:nvSpPr>
        <p:spPr bwMode="auto">
          <a:xfrm>
            <a:off x="225670" y="1862505"/>
            <a:ext cx="8865577" cy="88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a:t>
            </a:r>
            <a:r>
              <a:rPr lang="ja-JP" altLang="en-US" sz="1292" dirty="0">
                <a:latin typeface="メイリオ" panose="020B0604030504040204" pitchFamily="50" charset="-128"/>
              </a:rPr>
              <a:t>洪水と高潮を対象に直接的な被害が発生するリスクを、発生確率と被害想定額で示します（確率分析）。</a:t>
            </a:r>
          </a:p>
          <a:p>
            <a:pPr>
              <a:spcBef>
                <a:spcPct val="0"/>
              </a:spcBef>
              <a:buClrTx/>
              <a:buSzTx/>
              <a:buFont typeface="Wingdings" panose="05000000000000000000" pitchFamily="2" charset="2"/>
              <a:buNone/>
            </a:pPr>
            <a:r>
              <a:rPr lang="ja-JP" altLang="en-US" sz="1292" dirty="0">
                <a:latin typeface="メイリオ" panose="020B0604030504040204" pitchFamily="50" charset="-128"/>
              </a:rPr>
              <a:t>・対象拠点に特に影響を及ぼす特定の風水災による被害想定額を示します（シナリオ分析）</a:t>
            </a:r>
            <a:r>
              <a:rPr lang="ja-JP" altLang="en-US" sz="1292" dirty="0">
                <a:solidFill>
                  <a:srgbClr val="000000"/>
                </a:solidFill>
                <a:latin typeface="メイリオ" panose="020B0604030504040204" pitchFamily="50" charset="-128"/>
              </a:rPr>
              <a:t>。</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・自然災害による中長期的な財務インパクトを把握し、適切なリスクファイナンシングを支援するための基礎情報</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　として活用いただけます。</a:t>
            </a:r>
            <a:endParaRPr lang="en-US" altLang="ja-JP" sz="1292" dirty="0">
              <a:solidFill>
                <a:srgbClr val="000000"/>
              </a:solidFill>
              <a:latin typeface="メイリオ" panose="020B0604030504040204" pitchFamily="50" charset="-128"/>
            </a:endParaRPr>
          </a:p>
        </p:txBody>
      </p:sp>
      <p:graphicFrame>
        <p:nvGraphicFramePr>
          <p:cNvPr id="11" name="表 10"/>
          <p:cNvGraphicFramePr>
            <a:graphicFrameLocks noGrp="1"/>
          </p:cNvGraphicFramePr>
          <p:nvPr/>
        </p:nvGraphicFramePr>
        <p:xfrm>
          <a:off x="6249866" y="4777154"/>
          <a:ext cx="2655277" cy="1404426"/>
        </p:xfrm>
        <a:graphic>
          <a:graphicData uri="http://schemas.openxmlformats.org/drawingml/2006/table">
            <a:tbl>
              <a:tblPr firstRow="1" bandRow="1">
                <a:tableStyleId>{2A488322-F2BA-4B5B-9748-0D474271808F}</a:tableStyleId>
              </a:tblPr>
              <a:tblGrid>
                <a:gridCol w="2655277">
                  <a:extLst>
                    <a:ext uri="{9D8B030D-6E8A-4147-A177-3AD203B41FA5}">
                      <a16:colId xmlns:a16="http://schemas.microsoft.com/office/drawing/2014/main" val="20000"/>
                    </a:ext>
                  </a:extLst>
                </a:gridCol>
              </a:tblGrid>
              <a:tr h="342229">
                <a:tc>
                  <a:txBody>
                    <a:bodyPr/>
                    <a:lstStyle/>
                    <a:p>
                      <a:r>
                        <a:rPr kumimoji="1" lang="ja-JP" altLang="en-US" sz="1500" dirty="0">
                          <a:latin typeface="Meiryo UI" panose="020B0604030504040204" pitchFamily="50" charset="-128"/>
                          <a:ea typeface="Meiryo UI" panose="020B0604030504040204" pitchFamily="50" charset="-128"/>
                        </a:rPr>
                        <a:t>分析に用いる物件情報</a:t>
                      </a:r>
                    </a:p>
                  </a:txBody>
                  <a:tcPr marL="84404" marR="84404" marT="42193" marB="42193">
                    <a:lnT w="28575"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6C60"/>
                    </a:solidFill>
                  </a:tcPr>
                </a:tc>
                <a:extLst>
                  <a:ext uri="{0D108BD9-81ED-4DB2-BD59-A6C34878D82A}">
                    <a16:rowId xmlns:a16="http://schemas.microsoft.com/office/drawing/2014/main" val="10000"/>
                  </a:ext>
                </a:extLst>
              </a:tr>
              <a:tr h="299065">
                <a:tc>
                  <a:txBody>
                    <a:bodyPr/>
                    <a:lstStyle/>
                    <a:p>
                      <a:pPr marL="0" indent="0" eaLnBrk="0" fontAlgn="auto" hangingPunct="0">
                        <a:spcBef>
                          <a:spcPts val="0"/>
                        </a:spcBef>
                        <a:spcAft>
                          <a:spcPts val="0"/>
                        </a:spcAft>
                        <a:buFont typeface="Wingdings" panose="05000000000000000000" pitchFamily="2" charset="2"/>
                        <a:buNone/>
                        <a:defRPr/>
                      </a:pPr>
                      <a:r>
                        <a:rPr kumimoji="0" lang="ja-JP" altLang="en-US" sz="1300" kern="0" dirty="0">
                          <a:latin typeface="Meiryo UI" panose="020B0604030504040204" pitchFamily="50" charset="-128"/>
                          <a:ea typeface="Meiryo UI" panose="020B0604030504040204" pitchFamily="50" charset="-128"/>
                        </a:rPr>
                        <a:t>企業名・物件名・所在地</a:t>
                      </a:r>
                      <a:endParaRPr kumimoji="0" lang="en-US" altLang="ja-JP" sz="1300" kern="0" dirty="0">
                        <a:latin typeface="Meiryo UI" panose="020B0604030504040204" pitchFamily="50" charset="-128"/>
                        <a:ea typeface="Meiryo UI" panose="020B0604030504040204" pitchFamily="50" charset="-128"/>
                      </a:endParaRPr>
                    </a:p>
                  </a:txBody>
                  <a:tcPr marL="84404" marR="84404" marT="42193" marB="42193">
                    <a:lnT w="28575"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1"/>
                  </a:ext>
                </a:extLst>
              </a:tr>
              <a:tr h="281334">
                <a:tc>
                  <a:txBody>
                    <a:bodyPr/>
                    <a:lstStyle/>
                    <a:p>
                      <a:pPr marL="0" indent="0" eaLnBrk="0" fontAlgn="auto" hangingPunct="0">
                        <a:spcBef>
                          <a:spcPts val="0"/>
                        </a:spcBef>
                        <a:spcAft>
                          <a:spcPts val="0"/>
                        </a:spcAft>
                        <a:buFont typeface="Wingdings" panose="05000000000000000000" pitchFamily="2" charset="2"/>
                        <a:buNone/>
                        <a:defRPr/>
                      </a:pPr>
                      <a:r>
                        <a:rPr kumimoji="0" lang="ja-JP" altLang="en-US" sz="1300" kern="0" dirty="0">
                          <a:latin typeface="Meiryo UI" panose="020B0604030504040204" pitchFamily="50" charset="-128"/>
                          <a:ea typeface="Meiryo UI" panose="020B0604030504040204" pitchFamily="50" charset="-128"/>
                        </a:rPr>
                        <a:t>各建物の建築年・構造・階数・用途</a:t>
                      </a:r>
                      <a:endParaRPr kumimoji="0" lang="en-US" altLang="ja-JP" sz="1300" kern="0" dirty="0">
                        <a:latin typeface="Meiryo UI" panose="020B0604030504040204" pitchFamily="50" charset="-128"/>
                        <a:ea typeface="Meiryo UI" panose="020B0604030504040204" pitchFamily="50" charset="-128"/>
                      </a:endParaRPr>
                    </a:p>
                  </a:txBody>
                  <a:tcPr marL="84404" marR="84404" marT="42193" marB="42193">
                    <a:solidFill>
                      <a:srgbClr val="F6F6EA"/>
                    </a:solidFill>
                  </a:tcPr>
                </a:tc>
                <a:extLst>
                  <a:ext uri="{0D108BD9-81ED-4DB2-BD59-A6C34878D82A}">
                    <a16:rowId xmlns:a16="http://schemas.microsoft.com/office/drawing/2014/main" val="10002"/>
                  </a:ext>
                </a:extLst>
              </a:tr>
              <a:tr h="478281">
                <a:tc>
                  <a:txBody>
                    <a:bodyPr/>
                    <a:lstStyle/>
                    <a:p>
                      <a:pPr marL="0" indent="0" eaLnBrk="0" fontAlgn="auto" hangingPunct="0">
                        <a:spcBef>
                          <a:spcPts val="0"/>
                        </a:spcBef>
                        <a:spcAft>
                          <a:spcPts val="0"/>
                        </a:spcAft>
                        <a:buFont typeface="Wingdings" panose="05000000000000000000" pitchFamily="2" charset="2"/>
                        <a:buNone/>
                        <a:defRPr/>
                      </a:pPr>
                      <a:r>
                        <a:rPr kumimoji="0" lang="ja-JP" altLang="en-US" sz="1300" kern="0" dirty="0">
                          <a:latin typeface="Meiryo UI" panose="020B0604030504040204" pitchFamily="50" charset="-128"/>
                          <a:ea typeface="Meiryo UI" panose="020B0604030504040204" pitchFamily="50" charset="-128"/>
                        </a:rPr>
                        <a:t>各建物の評価額</a:t>
                      </a:r>
                      <a:endParaRPr kumimoji="0" lang="en-US" altLang="ja-JP" sz="1300" kern="0" dirty="0">
                        <a:latin typeface="Meiryo UI" panose="020B0604030504040204" pitchFamily="50" charset="-128"/>
                        <a:ea typeface="Meiryo UI" panose="020B0604030504040204" pitchFamily="50" charset="-128"/>
                      </a:endParaRPr>
                    </a:p>
                    <a:p>
                      <a:pPr eaLnBrk="0" fontAlgn="auto" hangingPunct="0">
                        <a:spcBef>
                          <a:spcPts val="0"/>
                        </a:spcBef>
                        <a:spcAft>
                          <a:spcPts val="0"/>
                        </a:spcAft>
                        <a:defRPr/>
                      </a:pPr>
                      <a:r>
                        <a:rPr kumimoji="0" lang="ja-JP" altLang="en-US" sz="1300" kern="0" dirty="0">
                          <a:latin typeface="Meiryo UI" panose="020B0604030504040204" pitchFamily="50" charset="-128"/>
                          <a:ea typeface="Meiryo UI" panose="020B0604030504040204" pitchFamily="50" charset="-128"/>
                        </a:rPr>
                        <a:t>（建物・動産の新価もしくは時価）</a:t>
                      </a:r>
                      <a:endParaRPr kumimoji="1" lang="ja-JP" altLang="en-US" sz="1300" dirty="0">
                        <a:latin typeface="Meiryo UI" panose="020B0604030504040204" pitchFamily="50" charset="-128"/>
                        <a:ea typeface="Meiryo UI" panose="020B0604030504040204" pitchFamily="50" charset="-128"/>
                      </a:endParaRPr>
                    </a:p>
                  </a:txBody>
                  <a:tcPr marL="84404" marR="84404" marT="42193" marB="42193">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59208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タイトル 1"/>
          <p:cNvSpPr>
            <a:spLocks noGrp="1"/>
          </p:cNvSpPr>
          <p:nvPr>
            <p:ph type="ctrTitle"/>
          </p:nvPr>
        </p:nvSpPr>
        <p:spPr/>
        <p:txBody>
          <a:bodyPr/>
          <a:lstStyle/>
          <a:p>
            <a:r>
              <a:rPr lang="ja-JP" altLang="en-US" dirty="0"/>
              <a:t>水災リスク分野のサービスメニュー</a:t>
            </a:r>
            <a:endParaRPr dirty="0"/>
          </a:p>
        </p:txBody>
      </p:sp>
      <p:sp>
        <p:nvSpPr>
          <p:cNvPr id="14339" name="スライド番号プレースホルダー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C9CBFD36-BB66-4FCF-B307-EB6E22A3FD8F}" type="slidenum">
              <a:rPr lang="en-US" altLang="ja-JP" smtClean="0">
                <a:solidFill>
                  <a:srgbClr val="414243"/>
                </a:solidFill>
              </a:rPr>
              <a:pPr>
                <a:spcBef>
                  <a:spcPct val="0"/>
                </a:spcBef>
                <a:buClrTx/>
                <a:buSzTx/>
                <a:buFontTx/>
                <a:buNone/>
              </a:pPr>
              <a:t>4</a:t>
            </a:fld>
            <a:endParaRPr lang="en-US" altLang="ja-JP">
              <a:solidFill>
                <a:srgbClr val="414243"/>
              </a:solidFill>
            </a:endParaRPr>
          </a:p>
        </p:txBody>
      </p:sp>
      <p:sp>
        <p:nvSpPr>
          <p:cNvPr id="14340"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4341"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665163"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2-1</a:t>
            </a:r>
            <a:r>
              <a:rPr lang="ja-JP" altLang="en-US" sz="2215" b="1" dirty="0">
                <a:solidFill>
                  <a:prstClr val="white"/>
                </a:solidFill>
                <a:latin typeface="メイリオ" pitchFamily="50" charset="-128"/>
                <a:ea typeface="メイリオ" pitchFamily="50" charset="-128"/>
                <a:cs typeface="メイリオ" pitchFamily="50" charset="-128"/>
              </a:rPr>
              <a:t>　水災リスクサーベイ</a:t>
            </a:r>
            <a:endParaRPr lang="en-US" altLang="ja-JP" sz="2215" b="1" dirty="0">
              <a:solidFill>
                <a:prstClr val="white"/>
              </a:solidFill>
              <a:latin typeface="メイリオ" pitchFamily="50" charset="-128"/>
              <a:ea typeface="メイリオ" pitchFamily="50" charset="-128"/>
              <a:cs typeface="メイリオ" pitchFamily="50" charset="-128"/>
            </a:endParaRPr>
          </a:p>
        </p:txBody>
      </p:sp>
      <p:sp>
        <p:nvSpPr>
          <p:cNvPr id="10" name="テキスト ボックス 9"/>
          <p:cNvSpPr txBox="1"/>
          <p:nvPr/>
        </p:nvSpPr>
        <p:spPr>
          <a:xfrm>
            <a:off x="284285" y="2505295"/>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6666">
                    <a:lumMod val="50000"/>
                  </a:srgbClr>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こんなお客さまに最適です</a:t>
            </a:r>
          </a:p>
        </p:txBody>
      </p:sp>
      <p:sp>
        <p:nvSpPr>
          <p:cNvPr id="14346" name="テキスト ボックス 2"/>
          <p:cNvSpPr txBox="1">
            <a:spLocks noChangeArrowheads="1"/>
          </p:cNvSpPr>
          <p:nvPr/>
        </p:nvSpPr>
        <p:spPr bwMode="auto">
          <a:xfrm>
            <a:off x="279889" y="2812074"/>
            <a:ext cx="8669215" cy="68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・水災に対し対応力を強化することになったが、何から手を付けたらいいか困っている。</a:t>
            </a:r>
            <a:endParaRPr lang="en-US" altLang="ja-JP" sz="1292" dirty="0">
              <a:solidFill>
                <a:srgbClr val="000000"/>
              </a:solidFill>
              <a:latin typeface="メイリオ" panose="020B0604030504040204" pitchFamily="50" charset="-128"/>
            </a:endParaRPr>
          </a:p>
          <a:p>
            <a:pPr>
              <a:spcBef>
                <a:spcPct val="0"/>
              </a:spcBef>
              <a:buClrTx/>
              <a:buSzTx/>
              <a:buFontTx/>
              <a:buNone/>
            </a:pPr>
            <a:r>
              <a:rPr lang="ja-JP" altLang="en-US" sz="1292" dirty="0">
                <a:solidFill>
                  <a:srgbClr val="000000"/>
                </a:solidFill>
                <a:latin typeface="メイリオ" panose="020B0604030504040204" pitchFamily="50" charset="-128"/>
              </a:rPr>
              <a:t>・自社で課題を洗い出し対策を実施しているがマンネリ化している。第三者の目線で改めて改善提案してほしい。</a:t>
            </a:r>
            <a:endParaRPr lang="en-US" altLang="ja-JP" sz="1292" dirty="0">
              <a:solidFill>
                <a:srgbClr val="000000"/>
              </a:solidFill>
              <a:latin typeface="メイリオ" panose="020B0604030504040204" pitchFamily="50" charset="-128"/>
            </a:endParaRPr>
          </a:p>
          <a:p>
            <a:pPr>
              <a:spcBef>
                <a:spcPct val="0"/>
              </a:spcBef>
              <a:buClrTx/>
              <a:buSzTx/>
              <a:buFontTx/>
              <a:buNone/>
            </a:pPr>
            <a:r>
              <a:rPr lang="ja-JP" altLang="en-US" sz="1292" dirty="0">
                <a:solidFill>
                  <a:srgbClr val="000000"/>
                </a:solidFill>
                <a:latin typeface="メイリオ" panose="020B0604030504040204" pitchFamily="50" charset="-128"/>
              </a:rPr>
              <a:t>・建物・設備の部分修繕を繰り返しているが大規模修繕に踏み切れない。第三者の客観的なコメントがほしい。</a:t>
            </a:r>
            <a:endParaRPr lang="en-US" altLang="ja-JP" sz="1292" dirty="0">
              <a:solidFill>
                <a:srgbClr val="000000"/>
              </a:solidFill>
              <a:latin typeface="メイリオ" panose="020B0604030504040204" pitchFamily="50" charset="-128"/>
            </a:endParaRPr>
          </a:p>
        </p:txBody>
      </p:sp>
      <p:sp>
        <p:nvSpPr>
          <p:cNvPr id="13" name="テキスト ボックス 12"/>
          <p:cNvSpPr txBox="1"/>
          <p:nvPr/>
        </p:nvSpPr>
        <p:spPr>
          <a:xfrm>
            <a:off x="284285" y="1526418"/>
            <a:ext cx="2425212"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6666">
                    <a:lumMod val="50000"/>
                  </a:srgbClr>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サービス内容の特徴</a:t>
            </a:r>
          </a:p>
        </p:txBody>
      </p:sp>
      <p:sp>
        <p:nvSpPr>
          <p:cNvPr id="14348" name="テキスト ボックス 2"/>
          <p:cNvSpPr txBox="1">
            <a:spLocks noChangeArrowheads="1"/>
          </p:cNvSpPr>
          <p:nvPr/>
        </p:nvSpPr>
        <p:spPr bwMode="auto">
          <a:xfrm>
            <a:off x="279889" y="1827336"/>
            <a:ext cx="7282962" cy="68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r>
              <a:rPr lang="ja-JP" altLang="en-US" sz="1292" dirty="0">
                <a:solidFill>
                  <a:srgbClr val="000000"/>
                </a:solidFill>
                <a:latin typeface="メイリオ" panose="020B0604030504040204" pitchFamily="50" charset="-128"/>
                <a:ea typeface="Meiryo UI" panose="020B0604030504040204" pitchFamily="50" charset="-128"/>
              </a:rPr>
              <a:t>・土地の形状、周辺河川の情報、過去の事故情報、当社サーベイヤーによる現地調査などから得られた情報を</a:t>
            </a:r>
            <a:endParaRPr lang="en-US" altLang="ja-JP" sz="1292" dirty="0">
              <a:solidFill>
                <a:srgbClr val="000000"/>
              </a:solidFill>
              <a:latin typeface="メイリオ" panose="020B0604030504040204" pitchFamily="50" charset="-128"/>
              <a:ea typeface="Meiryo UI" panose="020B0604030504040204" pitchFamily="50" charset="-128"/>
            </a:endParaRPr>
          </a:p>
          <a:p>
            <a:pPr>
              <a:spcBef>
                <a:spcPct val="0"/>
              </a:spcBef>
              <a:buClrTx/>
              <a:buSzTx/>
              <a:buNone/>
            </a:pPr>
            <a:r>
              <a:rPr lang="ja-JP" altLang="en-US" sz="1292" dirty="0">
                <a:solidFill>
                  <a:srgbClr val="000000"/>
                </a:solidFill>
                <a:latin typeface="メイリオ" panose="020B0604030504040204" pitchFamily="50" charset="-128"/>
                <a:ea typeface="Meiryo UI" panose="020B0604030504040204" pitchFamily="50" charset="-128"/>
              </a:rPr>
              <a:t>  もとに、お客さま施設の水災リスク状況を確認・整理し、リスク低減のための対策をご提案します。</a:t>
            </a:r>
          </a:p>
          <a:p>
            <a:pPr>
              <a:spcBef>
                <a:spcPct val="0"/>
              </a:spcBef>
              <a:buClrTx/>
              <a:buSzTx/>
              <a:buFontTx/>
              <a:buNone/>
            </a:pPr>
            <a:r>
              <a:rPr lang="ja-JP" altLang="en-US" sz="1292" dirty="0">
                <a:solidFill>
                  <a:srgbClr val="000000"/>
                </a:solidFill>
                <a:latin typeface="メイリオ" panose="020B0604030504040204" pitchFamily="50" charset="-128"/>
                <a:ea typeface="Meiryo UI" panose="020B0604030504040204" pitchFamily="50" charset="-128"/>
              </a:rPr>
              <a:t>・水災以外に、風災や地震リスクなどの調査も可能です。</a:t>
            </a:r>
          </a:p>
        </p:txBody>
      </p:sp>
      <p:sp>
        <p:nvSpPr>
          <p:cNvPr id="23" name="AutoShape 5"/>
          <p:cNvSpPr>
            <a:spLocks noChangeArrowheads="1"/>
          </p:cNvSpPr>
          <p:nvPr/>
        </p:nvSpPr>
        <p:spPr bwMode="auto">
          <a:xfrm>
            <a:off x="417932" y="4307964"/>
            <a:ext cx="2160000" cy="232615"/>
          </a:xfrm>
          <a:prstGeom prst="roundRect">
            <a:avLst>
              <a:gd name="adj" fmla="val 50000"/>
            </a:avLst>
          </a:prstGeom>
          <a:solidFill>
            <a:srgbClr val="22AF93"/>
          </a:solidFill>
          <a:ln w="19050" algn="ctr">
            <a:noFill/>
            <a:round/>
            <a:headEnd/>
            <a:tailEnd/>
          </a:ln>
          <a:effectLst/>
          <a:scene3d>
            <a:camera prst="orthographicFront">
              <a:rot lat="0" lon="0" rev="0"/>
            </a:camera>
            <a:lightRig rig="contrasting" dir="t">
              <a:rot lat="0" lon="0" rev="1500000"/>
            </a:lightRig>
          </a:scene3d>
          <a:sp3d prstMaterial="metal">
            <a:bevelT w="88900" h="88900"/>
          </a:sp3d>
        </p:spPr>
        <p:txBody>
          <a:bodyPr wrap="none" tIns="33231" bIns="0" anchor="ct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fontAlgn="auto">
              <a:spcBef>
                <a:spcPts val="0"/>
              </a:spcBef>
              <a:spcAft>
                <a:spcPts val="0"/>
              </a:spcAft>
              <a:defRPr/>
            </a:pPr>
            <a:r>
              <a:rPr lang="ja-JP" altLang="en-US" sz="1292" dirty="0">
                <a:solidFill>
                  <a:schemeClr val="bg1"/>
                </a:solidFill>
                <a:latin typeface="メイリオ" panose="020B0604030504040204" pitchFamily="50" charset="-128"/>
                <a:ea typeface="メイリオ" panose="020B0604030504040204" pitchFamily="50" charset="-128"/>
                <a:sym typeface="Arial"/>
              </a:rPr>
              <a:t>２．</a:t>
            </a:r>
            <a:r>
              <a:rPr lang="zh-TW" altLang="en-US" sz="1292" dirty="0">
                <a:solidFill>
                  <a:schemeClr val="bg1"/>
                </a:solidFill>
                <a:latin typeface="メイリオ" panose="020B0604030504040204" pitchFamily="50" charset="-128"/>
                <a:ea typeface="メイリオ" panose="020B0604030504040204" pitchFamily="50" charset="-128"/>
                <a:sym typeface="Arial"/>
              </a:rPr>
              <a:t>資料収集、事前準備</a:t>
            </a:r>
          </a:p>
        </p:txBody>
      </p:sp>
      <p:sp>
        <p:nvSpPr>
          <p:cNvPr id="24" name="AutoShape 5"/>
          <p:cNvSpPr>
            <a:spLocks noChangeArrowheads="1"/>
          </p:cNvSpPr>
          <p:nvPr/>
        </p:nvSpPr>
        <p:spPr bwMode="auto">
          <a:xfrm>
            <a:off x="417932" y="4967891"/>
            <a:ext cx="2160000" cy="232615"/>
          </a:xfrm>
          <a:prstGeom prst="roundRect">
            <a:avLst>
              <a:gd name="adj" fmla="val 50000"/>
            </a:avLst>
          </a:prstGeom>
          <a:solidFill>
            <a:srgbClr val="22AF93"/>
          </a:solidFill>
          <a:ln w="19050" algn="ctr">
            <a:noFill/>
            <a:round/>
            <a:headEnd/>
            <a:tailEnd/>
          </a:ln>
          <a:effectLst/>
          <a:scene3d>
            <a:camera prst="orthographicFront">
              <a:rot lat="0" lon="0" rev="0"/>
            </a:camera>
            <a:lightRig rig="contrasting" dir="t">
              <a:rot lat="0" lon="0" rev="1500000"/>
            </a:lightRig>
          </a:scene3d>
          <a:sp3d prstMaterial="metal">
            <a:bevelT w="88900" h="88900"/>
          </a:sp3d>
        </p:spPr>
        <p:txBody>
          <a:bodyPr wrap="none" tIns="33231" bIns="0" anchor="ct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defRPr/>
            </a:pPr>
            <a:r>
              <a:rPr lang="ja-JP" altLang="en-US" sz="1292" dirty="0">
                <a:solidFill>
                  <a:schemeClr val="bg1"/>
                </a:solidFill>
                <a:latin typeface="メイリオ" panose="020B0604030504040204" pitchFamily="50" charset="-128"/>
                <a:ea typeface="メイリオ" panose="020B0604030504040204" pitchFamily="50" charset="-128"/>
                <a:sym typeface="Arial"/>
              </a:rPr>
              <a:t>３．</a:t>
            </a:r>
            <a:r>
              <a:rPr lang="ja-JP" altLang="en-US" sz="1292" dirty="0">
                <a:solidFill>
                  <a:schemeClr val="bg1"/>
                </a:solidFill>
                <a:latin typeface="メイリオ" panose="020B0604030504040204" pitchFamily="50" charset="-128"/>
                <a:ea typeface="メイリオ" panose="020B0604030504040204" pitchFamily="50" charset="-128"/>
              </a:rPr>
              <a:t>現場調査</a:t>
            </a:r>
          </a:p>
        </p:txBody>
      </p:sp>
      <p:sp>
        <p:nvSpPr>
          <p:cNvPr id="25" name="AutoShape 5"/>
          <p:cNvSpPr>
            <a:spLocks noChangeArrowheads="1"/>
          </p:cNvSpPr>
          <p:nvPr/>
        </p:nvSpPr>
        <p:spPr bwMode="auto">
          <a:xfrm>
            <a:off x="417932" y="5627818"/>
            <a:ext cx="2160000" cy="232615"/>
          </a:xfrm>
          <a:prstGeom prst="roundRect">
            <a:avLst>
              <a:gd name="adj" fmla="val 50000"/>
            </a:avLst>
          </a:prstGeom>
          <a:solidFill>
            <a:srgbClr val="22AF93"/>
          </a:solidFill>
          <a:ln w="19050" algn="ctr">
            <a:noFill/>
            <a:round/>
            <a:headEnd/>
            <a:tailEnd/>
          </a:ln>
          <a:effectLst/>
          <a:scene3d>
            <a:camera prst="orthographicFront">
              <a:rot lat="0" lon="0" rev="0"/>
            </a:camera>
            <a:lightRig rig="contrasting" dir="t">
              <a:rot lat="0" lon="0" rev="1500000"/>
            </a:lightRig>
          </a:scene3d>
          <a:sp3d prstMaterial="metal">
            <a:bevelT w="88900" h="88900"/>
          </a:sp3d>
        </p:spPr>
        <p:txBody>
          <a:bodyPr wrap="none" tIns="33231" bIns="0" anchor="ct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defRPr/>
            </a:pPr>
            <a:r>
              <a:rPr lang="ja-JP" altLang="en-US" sz="1292" dirty="0">
                <a:solidFill>
                  <a:schemeClr val="bg1"/>
                </a:solidFill>
                <a:latin typeface="メイリオ" panose="020B0604030504040204" pitchFamily="50" charset="-128"/>
                <a:ea typeface="メイリオ" panose="020B0604030504040204" pitchFamily="50" charset="-128"/>
                <a:sym typeface="Arial"/>
              </a:rPr>
              <a:t>４．</a:t>
            </a:r>
            <a:r>
              <a:rPr lang="ja-JP" altLang="en-US" sz="1292" dirty="0">
                <a:solidFill>
                  <a:schemeClr val="bg1"/>
                </a:solidFill>
                <a:latin typeface="メイリオ" panose="020B0604030504040204" pitchFamily="50" charset="-128"/>
                <a:ea typeface="メイリオ" panose="020B0604030504040204" pitchFamily="50" charset="-128"/>
              </a:rPr>
              <a:t>調査結果の報告</a:t>
            </a:r>
          </a:p>
        </p:txBody>
      </p:sp>
      <p:sp>
        <p:nvSpPr>
          <p:cNvPr id="14358" name="テキスト ボックス 2"/>
          <p:cNvSpPr txBox="1">
            <a:spLocks noChangeArrowheads="1"/>
          </p:cNvSpPr>
          <p:nvPr/>
        </p:nvSpPr>
        <p:spPr bwMode="auto">
          <a:xfrm>
            <a:off x="445477" y="4064978"/>
            <a:ext cx="8669215" cy="262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r>
              <a:rPr lang="ja-JP" altLang="en-US" sz="1108" dirty="0">
                <a:latin typeface="メイリオ" panose="020B0604030504040204" pitchFamily="50" charset="-128"/>
              </a:rPr>
              <a:t>・対象拠点、調査方法、調査スケジュール等を決定します。</a:t>
            </a:r>
            <a:endParaRPr lang="en-US" altLang="ja-JP" sz="1108" dirty="0">
              <a:latin typeface="Meiryo UI" panose="020B0604030504040204" pitchFamily="50" charset="-128"/>
              <a:ea typeface="Meiryo UI" panose="020B0604030504040204" pitchFamily="50" charset="-128"/>
            </a:endParaRPr>
          </a:p>
        </p:txBody>
      </p:sp>
      <p:sp>
        <p:nvSpPr>
          <p:cNvPr id="28" name="AutoShape 5"/>
          <p:cNvSpPr>
            <a:spLocks noChangeArrowheads="1"/>
          </p:cNvSpPr>
          <p:nvPr/>
        </p:nvSpPr>
        <p:spPr bwMode="auto">
          <a:xfrm>
            <a:off x="417932" y="3818498"/>
            <a:ext cx="2160000" cy="232615"/>
          </a:xfrm>
          <a:prstGeom prst="roundRect">
            <a:avLst>
              <a:gd name="adj" fmla="val 50000"/>
            </a:avLst>
          </a:prstGeom>
          <a:solidFill>
            <a:srgbClr val="22AF93"/>
          </a:solidFill>
          <a:ln w="19050" algn="ctr">
            <a:noFill/>
            <a:round/>
            <a:headEnd/>
            <a:tailEnd/>
          </a:ln>
          <a:effectLst/>
          <a:scene3d>
            <a:camera prst="orthographicFront">
              <a:rot lat="0" lon="0" rev="0"/>
            </a:camera>
            <a:lightRig rig="contrasting" dir="t">
              <a:rot lat="0" lon="0" rev="1500000"/>
            </a:lightRig>
          </a:scene3d>
          <a:sp3d prstMaterial="metal">
            <a:bevelT w="88900" h="88900"/>
          </a:sp3d>
        </p:spPr>
        <p:txBody>
          <a:bodyPr wrap="none" tIns="33231" bIns="0" anchor="ctr"/>
          <a:ls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fontAlgn="auto">
              <a:spcBef>
                <a:spcPts val="0"/>
              </a:spcBef>
              <a:spcAft>
                <a:spcPts val="0"/>
              </a:spcAft>
              <a:defRPr/>
            </a:pPr>
            <a:r>
              <a:rPr lang="ja-JP" altLang="en-US" sz="1292" dirty="0">
                <a:solidFill>
                  <a:schemeClr val="bg1"/>
                </a:solidFill>
                <a:latin typeface="メイリオ" panose="020B0604030504040204" pitchFamily="50" charset="-128"/>
                <a:ea typeface="メイリオ" panose="020B0604030504040204" pitchFamily="50" charset="-128"/>
                <a:sym typeface="Arial"/>
              </a:rPr>
              <a:t>１．調査事項の決定</a:t>
            </a:r>
            <a:endParaRPr lang="zh-TW" altLang="en-US" sz="1292" dirty="0">
              <a:solidFill>
                <a:schemeClr val="bg1"/>
              </a:solidFill>
              <a:latin typeface="メイリオ" panose="020B0604030504040204" pitchFamily="50" charset="-128"/>
              <a:ea typeface="メイリオ" panose="020B0604030504040204" pitchFamily="50" charset="-128"/>
              <a:sym typeface="Arial"/>
            </a:endParaRPr>
          </a:p>
        </p:txBody>
      </p:sp>
      <p:sp>
        <p:nvSpPr>
          <p:cNvPr id="14362" name="テキスト ボックス 2"/>
          <p:cNvSpPr txBox="1">
            <a:spLocks noChangeArrowheads="1"/>
          </p:cNvSpPr>
          <p:nvPr/>
        </p:nvSpPr>
        <p:spPr bwMode="auto">
          <a:xfrm>
            <a:off x="445477" y="4542693"/>
            <a:ext cx="8669215"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108" dirty="0">
                <a:latin typeface="メイリオ" panose="020B0604030504040204" pitchFamily="50" charset="-128"/>
              </a:rPr>
              <a:t>・必要な資料（リスク調査アンケート、建物レイアウト図、建築構造図　など）をご提供いただきます。</a:t>
            </a:r>
          </a:p>
          <a:p>
            <a:pPr>
              <a:spcBef>
                <a:spcPct val="0"/>
              </a:spcBef>
              <a:buClrTx/>
              <a:buSzTx/>
              <a:buFontTx/>
              <a:buNone/>
            </a:pPr>
            <a:r>
              <a:rPr lang="ja-JP" altLang="en-US" sz="1108" dirty="0">
                <a:latin typeface="メイリオ" panose="020B0604030504040204" pitchFamily="50" charset="-128"/>
              </a:rPr>
              <a:t>・事前調査（文献調査、地形・気象データの収集など）を現場調査前に実施します。</a:t>
            </a:r>
            <a:endParaRPr lang="en-US" altLang="ja-JP" sz="1108" dirty="0">
              <a:latin typeface="Meiryo UI" panose="020B0604030504040204" pitchFamily="50" charset="-128"/>
              <a:ea typeface="Meiryo UI" panose="020B0604030504040204" pitchFamily="50" charset="-128"/>
            </a:endParaRPr>
          </a:p>
        </p:txBody>
      </p:sp>
      <p:sp>
        <p:nvSpPr>
          <p:cNvPr id="14363" name="テキスト ボックス 2"/>
          <p:cNvSpPr txBox="1">
            <a:spLocks noChangeArrowheads="1"/>
          </p:cNvSpPr>
          <p:nvPr/>
        </p:nvSpPr>
        <p:spPr bwMode="auto">
          <a:xfrm>
            <a:off x="445477" y="5210908"/>
            <a:ext cx="8222274"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108" dirty="0">
                <a:latin typeface="メイリオ" panose="020B0604030504040204" pitchFamily="50" charset="-128"/>
              </a:rPr>
              <a:t>・建物や設備の破損・劣化状況や、ハード面・ソフト面の管理・対策状況をヒアリングや目視で確認します。</a:t>
            </a:r>
          </a:p>
          <a:p>
            <a:pPr>
              <a:spcBef>
                <a:spcPct val="0"/>
              </a:spcBef>
              <a:buClrTx/>
              <a:buSzTx/>
              <a:buFont typeface="Wingdings" panose="05000000000000000000" pitchFamily="2" charset="2"/>
              <a:buNone/>
            </a:pPr>
            <a:r>
              <a:rPr lang="ja-JP" altLang="en-US" sz="1108" dirty="0">
                <a:latin typeface="メイリオ" panose="020B0604030504040204" pitchFamily="50" charset="-128"/>
              </a:rPr>
              <a:t>・お客さまとの事前合意を得て、サーモカメラやドローン等の機器を用いる場合もあります。</a:t>
            </a:r>
          </a:p>
        </p:txBody>
      </p:sp>
      <p:sp>
        <p:nvSpPr>
          <p:cNvPr id="14364" name="テキスト ボックス 2"/>
          <p:cNvSpPr txBox="1">
            <a:spLocks noChangeArrowheads="1"/>
          </p:cNvSpPr>
          <p:nvPr/>
        </p:nvSpPr>
        <p:spPr bwMode="auto">
          <a:xfrm>
            <a:off x="445477" y="5861539"/>
            <a:ext cx="8669215"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108" dirty="0">
                <a:latin typeface="メイリオ" panose="020B0604030504040204" pitchFamily="50" charset="-128"/>
              </a:rPr>
              <a:t>・調査当日、重要な指摘事項をフィードバックします。</a:t>
            </a:r>
          </a:p>
          <a:p>
            <a:pPr>
              <a:spcBef>
                <a:spcPct val="0"/>
              </a:spcBef>
              <a:buClrTx/>
              <a:buSzTx/>
              <a:buFont typeface="Wingdings" panose="05000000000000000000" pitchFamily="2" charset="2"/>
              <a:buNone/>
            </a:pPr>
            <a:r>
              <a:rPr lang="ja-JP" altLang="en-US" sz="1108" dirty="0">
                <a:latin typeface="メイリオ" panose="020B0604030504040204" pitchFamily="50" charset="-128"/>
              </a:rPr>
              <a:t>・防災上の課題、改善提案等をまとめた報告書を後日提出します。必要に応じ、報告会も実施します。</a:t>
            </a:r>
          </a:p>
        </p:txBody>
      </p:sp>
      <p:pic>
        <p:nvPicPr>
          <p:cNvPr id="14365" name="Picture 26" descr="マルチコプター・ドローンのイラスト"/>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388469" y="4423997"/>
            <a:ext cx="915866" cy="915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6"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318989" y="3719147"/>
            <a:ext cx="766396" cy="1036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テキスト ボックス 36"/>
          <p:cNvSpPr txBox="1"/>
          <p:nvPr/>
        </p:nvSpPr>
        <p:spPr>
          <a:xfrm>
            <a:off x="297474" y="3463657"/>
            <a:ext cx="2425211"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6666">
                    <a:lumMod val="50000"/>
                  </a:srgbClr>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実施手順</a:t>
            </a:r>
          </a:p>
        </p:txBody>
      </p:sp>
      <p:pic>
        <p:nvPicPr>
          <p:cNvPr id="14368" name="図 37"/>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049359" y="5210908"/>
            <a:ext cx="939311"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図 25"/>
          <p:cNvPicPr>
            <a:picLocks noChangeAspect="1"/>
          </p:cNvPicPr>
          <p:nvPr/>
        </p:nvPicPr>
        <p:blipFill rotWithShape="1">
          <a:blip r:embed="rId5" cstate="email">
            <a:grayscl/>
            <a:extLst>
              <a:ext uri="{28A0092B-C50C-407E-A947-70E740481C1C}">
                <a14:useLocalDpi xmlns:a14="http://schemas.microsoft.com/office/drawing/2010/main"/>
              </a:ext>
            </a:extLst>
          </a:blip>
          <a:srcRect/>
          <a:stretch/>
        </p:blipFill>
        <p:spPr>
          <a:xfrm>
            <a:off x="7944156" y="1439110"/>
            <a:ext cx="1214200" cy="1059326"/>
          </a:xfrm>
          <a:prstGeom prst="ellipse">
            <a:avLst/>
          </a:prstGeom>
          <a:ln>
            <a:noFill/>
          </a:ln>
          <a:effectLst>
            <a:softEdge rad="112500"/>
          </a:effectLst>
        </p:spPr>
      </p:pic>
      <p:pic>
        <p:nvPicPr>
          <p:cNvPr id="35" name="図 34"/>
          <p:cNvPicPr>
            <a:picLocks noChangeAspect="1"/>
          </p:cNvPicPr>
          <p:nvPr/>
        </p:nvPicPr>
        <p:blipFill rotWithShape="1">
          <a:blip r:embed="rId6" cstate="email">
            <a:grayscl/>
            <a:extLst>
              <a:ext uri="{28A0092B-C50C-407E-A947-70E740481C1C}">
                <a14:useLocalDpi xmlns:a14="http://schemas.microsoft.com/office/drawing/2010/main"/>
              </a:ext>
            </a:extLst>
          </a:blip>
          <a:srcRect/>
          <a:stretch/>
        </p:blipFill>
        <p:spPr>
          <a:xfrm>
            <a:off x="6964882" y="1900215"/>
            <a:ext cx="1206695" cy="1049919"/>
          </a:xfrm>
          <a:prstGeom prst="ellipse">
            <a:avLst/>
          </a:prstGeom>
          <a:ln>
            <a:noFill/>
          </a:ln>
          <a:effectLst>
            <a:softEdge rad="112500"/>
          </a:effectLst>
        </p:spPr>
      </p:pic>
    </p:spTree>
    <p:extLst>
      <p:ext uri="{BB962C8B-B14F-4D97-AF65-F5344CB8AC3E}">
        <p14:creationId xmlns:p14="http://schemas.microsoft.com/office/powerpoint/2010/main" val="16859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タイトル 1"/>
          <p:cNvSpPr>
            <a:spLocks noGrp="1"/>
          </p:cNvSpPr>
          <p:nvPr>
            <p:ph type="ctrTitle"/>
          </p:nvPr>
        </p:nvSpPr>
        <p:spPr/>
        <p:txBody>
          <a:bodyPr/>
          <a:lstStyle/>
          <a:p>
            <a:r>
              <a:rPr lang="ja-JP" altLang="en-US" dirty="0"/>
              <a:t>水災リスク分野のサービスメニュー</a:t>
            </a:r>
            <a:endParaRPr dirty="0"/>
          </a:p>
        </p:txBody>
      </p:sp>
      <p:sp>
        <p:nvSpPr>
          <p:cNvPr id="14339" name="スライド番号プレースホルダー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C9CBFD36-BB66-4FCF-B307-EB6E22A3FD8F}" type="slidenum">
              <a:rPr lang="en-US" altLang="ja-JP" smtClean="0">
                <a:solidFill>
                  <a:srgbClr val="414243"/>
                </a:solidFill>
              </a:rPr>
              <a:pPr>
                <a:spcBef>
                  <a:spcPct val="0"/>
                </a:spcBef>
                <a:buClrTx/>
                <a:buSzTx/>
                <a:buFontTx/>
                <a:buNone/>
              </a:pPr>
              <a:t>5</a:t>
            </a:fld>
            <a:endParaRPr lang="en-US" altLang="ja-JP">
              <a:solidFill>
                <a:srgbClr val="414243"/>
              </a:solidFill>
            </a:endParaRPr>
          </a:p>
        </p:txBody>
      </p:sp>
      <p:sp>
        <p:nvSpPr>
          <p:cNvPr id="14340"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4341"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665163"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2-2</a:t>
            </a:r>
            <a:r>
              <a:rPr lang="ja-JP" altLang="en-US" sz="2215" b="1" dirty="0">
                <a:solidFill>
                  <a:prstClr val="white"/>
                </a:solidFill>
                <a:latin typeface="メイリオ" pitchFamily="50" charset="-128"/>
                <a:ea typeface="メイリオ" pitchFamily="50" charset="-128"/>
                <a:cs typeface="メイリオ" pitchFamily="50" charset="-128"/>
              </a:rPr>
              <a:t>　水災ＡＲシステム</a:t>
            </a:r>
            <a:endParaRPr lang="en-US" altLang="ja-JP" sz="2215" b="1" dirty="0">
              <a:solidFill>
                <a:prstClr val="white"/>
              </a:solidFill>
              <a:latin typeface="メイリオ" pitchFamily="50" charset="-128"/>
              <a:ea typeface="メイリオ" pitchFamily="50" charset="-128"/>
              <a:cs typeface="メイリオ" pitchFamily="50" charset="-128"/>
            </a:endParaRPr>
          </a:p>
        </p:txBody>
      </p:sp>
      <p:pic>
        <p:nvPicPr>
          <p:cNvPr id="20" name="図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6731" y="2987112"/>
            <a:ext cx="3796902" cy="3109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グループ化 21"/>
          <p:cNvGrpSpPr/>
          <p:nvPr/>
        </p:nvGrpSpPr>
        <p:grpSpPr>
          <a:xfrm>
            <a:off x="4716016" y="3012185"/>
            <a:ext cx="3974836" cy="3255117"/>
            <a:chOff x="7187001" y="1939975"/>
            <a:chExt cx="2643477" cy="1951694"/>
          </a:xfrm>
        </p:grpSpPr>
        <p:pic>
          <p:nvPicPr>
            <p:cNvPr id="23" name="図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7001" y="1939975"/>
              <a:ext cx="2590535" cy="184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テキスト ボックス 6"/>
            <p:cNvSpPr txBox="1"/>
            <p:nvPr/>
          </p:nvSpPr>
          <p:spPr bwMode="auto">
            <a:xfrm>
              <a:off x="8273141" y="3672594"/>
              <a:ext cx="1557337" cy="219075"/>
            </a:xfrm>
            <a:prstGeom prst="rect">
              <a:avLst/>
            </a:prstGeom>
            <a:noFill/>
            <a:ln w="6350">
              <a:noFill/>
            </a:ln>
          </p:spPr>
          <p:txBody>
            <a:bodyPr/>
            <a:lstStyle/>
            <a:p>
              <a:pPr algn="r">
                <a:defRPr/>
              </a:pPr>
              <a:r>
                <a:rPr lang="en-US" sz="462" kern="100" dirty="0">
                  <a:solidFill>
                    <a:schemeClr val="bg1"/>
                  </a:solidFill>
                  <a:latin typeface="游明朝" panose="02020400000000000000" pitchFamily="18" charset="-128"/>
                  <a:ea typeface="游明朝" panose="02020400000000000000" pitchFamily="18" charset="-128"/>
                  <a:cs typeface="Times New Roman" panose="02020603050405020304" pitchFamily="18" charset="0"/>
                </a:rPr>
                <a:t>Disaster Scope®© 2020Tomoki </a:t>
              </a:r>
              <a:r>
                <a:rPr lang="en-US" sz="462" kern="100" dirty="0" err="1">
                  <a:solidFill>
                    <a:schemeClr val="bg1"/>
                  </a:solidFill>
                  <a:latin typeface="游明朝" panose="02020400000000000000" pitchFamily="18" charset="-128"/>
                  <a:ea typeface="游明朝" panose="02020400000000000000" pitchFamily="18" charset="-128"/>
                  <a:cs typeface="Times New Roman" panose="02020603050405020304" pitchFamily="18" charset="0"/>
                </a:rPr>
                <a:t>Itamiya</a:t>
              </a:r>
              <a:endParaRPr lang="ja-JP" altLang="en-US" sz="969" kern="100" dirty="0">
                <a:solidFill>
                  <a:schemeClr val="bg1"/>
                </a:solidFill>
                <a:latin typeface="游明朝" panose="02020400000000000000" pitchFamily="18" charset="-128"/>
                <a:ea typeface="游明朝" panose="02020400000000000000" pitchFamily="18" charset="-128"/>
                <a:cs typeface="Times New Roman" panose="02020603050405020304" pitchFamily="18" charset="0"/>
              </a:endParaRPr>
            </a:p>
          </p:txBody>
        </p:sp>
      </p:grpSp>
      <p:sp>
        <p:nvSpPr>
          <p:cNvPr id="25" name="Text Box 80"/>
          <p:cNvSpPr txBox="1">
            <a:spLocks noChangeArrowheads="1"/>
          </p:cNvSpPr>
          <p:nvPr/>
        </p:nvSpPr>
        <p:spPr bwMode="auto">
          <a:xfrm>
            <a:off x="251520" y="1900215"/>
            <a:ext cx="8697927" cy="886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marL="84994" indent="-84994">
              <a:spcBef>
                <a:spcPct val="0"/>
              </a:spcBef>
              <a:buNone/>
            </a:pPr>
            <a:r>
              <a:rPr lang="ja-JP" altLang="en-US" sz="1290" dirty="0">
                <a:latin typeface="メイリオ" panose="020B0604030504040204" pitchFamily="50" charset="-128"/>
                <a:ea typeface="メイリオ" panose="020B0604030504040204" pitchFamily="50" charset="-128"/>
              </a:rPr>
              <a:t>・浸水対策を検討したい建物や設備の画像に浸水の</a:t>
            </a:r>
            <a:r>
              <a:rPr lang="en-US" altLang="ja-JP" sz="1290" dirty="0">
                <a:latin typeface="メイリオ" panose="020B0604030504040204" pitchFamily="50" charset="-128"/>
                <a:ea typeface="メイリオ" panose="020B0604030504040204" pitchFamily="50" charset="-128"/>
              </a:rPr>
              <a:t>CG</a:t>
            </a:r>
            <a:r>
              <a:rPr lang="ja-JP" altLang="en-US" sz="1290" dirty="0">
                <a:latin typeface="メイリオ" panose="020B0604030504040204" pitchFamily="50" charset="-128"/>
                <a:ea typeface="メイリオ" panose="020B0604030504040204" pitchFamily="50" charset="-128"/>
              </a:rPr>
              <a:t>を重ねることができる「水災</a:t>
            </a:r>
            <a:r>
              <a:rPr lang="en-US" altLang="ja-JP" sz="1290" dirty="0">
                <a:latin typeface="メイリオ" panose="020B0604030504040204" pitchFamily="50" charset="-128"/>
                <a:ea typeface="メイリオ" panose="020B0604030504040204" pitchFamily="50" charset="-128"/>
              </a:rPr>
              <a:t>AR</a:t>
            </a:r>
            <a:r>
              <a:rPr lang="ja-JP" altLang="en-US" sz="1290" dirty="0">
                <a:latin typeface="メイリオ" panose="020B0604030504040204" pitchFamily="50" charset="-128"/>
                <a:ea typeface="メイリオ" panose="020B0604030504040204" pitchFamily="50" charset="-128"/>
              </a:rPr>
              <a:t>タブレット」を開発しました。</a:t>
            </a:r>
            <a:endParaRPr lang="en-US" altLang="ja-JP" sz="1290" dirty="0">
              <a:latin typeface="メイリオ" panose="020B0604030504040204" pitchFamily="50" charset="-128"/>
              <a:ea typeface="メイリオ" panose="020B0604030504040204" pitchFamily="50" charset="-128"/>
            </a:endParaRPr>
          </a:p>
          <a:p>
            <a:pPr marL="84994" indent="-84994">
              <a:spcBef>
                <a:spcPct val="0"/>
              </a:spcBef>
              <a:buNone/>
            </a:pPr>
            <a:r>
              <a:rPr lang="ja-JP" altLang="en-US" sz="1290" dirty="0">
                <a:latin typeface="メイリオ" panose="020B0604030504040204" pitchFamily="50" charset="-128"/>
                <a:ea typeface="メイリオ" panose="020B0604030504040204" pitchFamily="50" charset="-128"/>
              </a:rPr>
              <a:t>・お客さま施設の水災による罹災イメージを視覚的に把握できます。</a:t>
            </a:r>
            <a:endParaRPr lang="en-US" altLang="ja-JP" sz="1290" dirty="0">
              <a:latin typeface="メイリオ" panose="020B0604030504040204" pitchFamily="50" charset="-128"/>
              <a:ea typeface="メイリオ" panose="020B0604030504040204" pitchFamily="50" charset="-128"/>
            </a:endParaRPr>
          </a:p>
          <a:p>
            <a:pPr marL="84994" indent="-84994">
              <a:spcBef>
                <a:spcPct val="0"/>
              </a:spcBef>
              <a:buNone/>
            </a:pPr>
            <a:r>
              <a:rPr lang="ja-JP" altLang="en-US" sz="1290" dirty="0">
                <a:latin typeface="メイリオ" panose="020B0604030504040204" pitchFamily="50" charset="-128"/>
                <a:ea typeface="メイリオ" panose="020B0604030504040204" pitchFamily="50" charset="-128"/>
              </a:rPr>
              <a:t>・浸水深は任意に設定し、屋内、屋外での撮影（静止画、動画）が可能です。</a:t>
            </a:r>
            <a:endParaRPr lang="en-US" altLang="ja-JP" sz="1290" dirty="0">
              <a:latin typeface="メイリオ" panose="020B0604030504040204" pitchFamily="50" charset="-128"/>
              <a:ea typeface="メイリオ" panose="020B0604030504040204" pitchFamily="50" charset="-128"/>
            </a:endParaRPr>
          </a:p>
          <a:p>
            <a:pPr marL="84994" indent="-84994">
              <a:spcBef>
                <a:spcPct val="0"/>
              </a:spcBef>
              <a:buNone/>
            </a:pPr>
            <a:r>
              <a:rPr lang="ja-JP" altLang="en-US" sz="1290" dirty="0">
                <a:latin typeface="メイリオ" panose="020B0604030504040204" pitchFamily="50" charset="-128"/>
                <a:ea typeface="メイリオ" panose="020B0604030504040204" pitchFamily="50" charset="-128"/>
              </a:rPr>
              <a:t>・水災リスクサーベイのオプションとなります。</a:t>
            </a:r>
            <a:endParaRPr lang="en-US" altLang="ja-JP" sz="1290" dirty="0">
              <a:latin typeface="メイリオ" panose="020B0604030504040204" pitchFamily="50" charset="-128"/>
              <a:ea typeface="メイリオ" panose="020B0604030504040204" pitchFamily="50" charset="-128"/>
            </a:endParaRPr>
          </a:p>
        </p:txBody>
      </p:sp>
      <p:sp>
        <p:nvSpPr>
          <p:cNvPr id="26" name="テキスト ボックス 25"/>
          <p:cNvSpPr txBox="1"/>
          <p:nvPr/>
        </p:nvSpPr>
        <p:spPr>
          <a:xfrm>
            <a:off x="307941" y="1555699"/>
            <a:ext cx="2227179" cy="348109"/>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wrap="square" anchor="ctr">
            <a:spAutoFit/>
          </a:bodyPr>
          <a:lstStyle/>
          <a:p>
            <a:pPr>
              <a:defRPr/>
            </a:pPr>
            <a:r>
              <a:rPr kumimoji="0" lang="ja-JP" altLang="en-US" sz="1662" kern="0" dirty="0">
                <a:solidFill>
                  <a:srgbClr val="006666">
                    <a:lumMod val="50000"/>
                  </a:srgbClr>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サービス内容の特徴</a:t>
            </a:r>
          </a:p>
        </p:txBody>
      </p:sp>
      <p:sp>
        <p:nvSpPr>
          <p:cNvPr id="27" name="テキスト ボックス 5"/>
          <p:cNvSpPr txBox="1">
            <a:spLocks noChangeArrowheads="1"/>
          </p:cNvSpPr>
          <p:nvPr/>
        </p:nvSpPr>
        <p:spPr bwMode="auto">
          <a:xfrm>
            <a:off x="6018471" y="5606140"/>
            <a:ext cx="1714373" cy="262829"/>
          </a:xfrm>
          <a:prstGeom prst="rect">
            <a:avLst/>
          </a:prstGeom>
          <a:solidFill>
            <a:srgbClr val="FFFFFF">
              <a:alpha val="40000"/>
            </a:srgbClr>
          </a:solidFill>
          <a:ln>
            <a:noFill/>
          </a:ln>
        </p:spPr>
        <p:txBody>
          <a:bodyPr wrap="square" anchor="ct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108" dirty="0">
                <a:latin typeface="メイリオ" panose="020B0604030504040204" pitchFamily="50" charset="-128"/>
              </a:rPr>
              <a:t>浸水イメージ（屋内）</a:t>
            </a:r>
          </a:p>
        </p:txBody>
      </p:sp>
      <p:sp>
        <p:nvSpPr>
          <p:cNvPr id="28" name="テキスト ボックス 5"/>
          <p:cNvSpPr txBox="1">
            <a:spLocks noChangeArrowheads="1"/>
          </p:cNvSpPr>
          <p:nvPr/>
        </p:nvSpPr>
        <p:spPr bwMode="auto">
          <a:xfrm>
            <a:off x="1337209" y="5571620"/>
            <a:ext cx="1755945" cy="262829"/>
          </a:xfrm>
          <a:prstGeom prst="rect">
            <a:avLst/>
          </a:prstGeom>
          <a:solidFill>
            <a:srgbClr val="FFFFFF">
              <a:alpha val="40000"/>
            </a:srgbClr>
          </a:solidFill>
          <a:ln>
            <a:noFill/>
          </a:ln>
        </p:spPr>
        <p:txBody>
          <a:bodyPr wrap="square" anchor="ct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108" dirty="0">
                <a:latin typeface="メイリオ" panose="020B0604030504040204" pitchFamily="50" charset="-128"/>
              </a:rPr>
              <a:t>浸水イメージ（屋外）</a:t>
            </a:r>
          </a:p>
        </p:txBody>
      </p:sp>
      <p:sp>
        <p:nvSpPr>
          <p:cNvPr id="32" name="テキスト ボックス 6">
            <a:extLst>
              <a:ext uri="{FF2B5EF4-FFF2-40B4-BE49-F238E27FC236}">
                <a16:creationId xmlns:a16="http://schemas.microsoft.com/office/drawing/2014/main" id="{5D917160-4EDA-412C-857B-88A228B32978}"/>
              </a:ext>
            </a:extLst>
          </p:cNvPr>
          <p:cNvSpPr txBox="1"/>
          <p:nvPr/>
        </p:nvSpPr>
        <p:spPr bwMode="auto">
          <a:xfrm>
            <a:off x="2596099" y="5898361"/>
            <a:ext cx="1557337" cy="219075"/>
          </a:xfrm>
          <a:prstGeom prst="rect">
            <a:avLst/>
          </a:prstGeom>
          <a:noFill/>
          <a:ln w="6350">
            <a:noFill/>
          </a:ln>
        </p:spPr>
        <p:txBody>
          <a:bodyPr/>
          <a:lstStyle/>
          <a:p>
            <a:pPr algn="r">
              <a:spcAft>
                <a:spcPts val="0"/>
              </a:spcAft>
              <a:defRPr/>
            </a:pPr>
            <a:r>
              <a:rPr lang="en-US" sz="500" kern="100" dirty="0">
                <a:solidFill>
                  <a:schemeClr val="bg1"/>
                </a:solidFill>
                <a:latin typeface="游明朝" panose="02020400000000000000" pitchFamily="18" charset="-128"/>
                <a:ea typeface="游明朝" panose="02020400000000000000" pitchFamily="18" charset="-128"/>
                <a:cs typeface="Times New Roman" panose="02020603050405020304" pitchFamily="18" charset="0"/>
              </a:rPr>
              <a:t>Disaster Scope®© 2020Tomoki </a:t>
            </a:r>
            <a:r>
              <a:rPr lang="en-US" sz="500" kern="100" dirty="0" err="1">
                <a:solidFill>
                  <a:schemeClr val="bg1"/>
                </a:solidFill>
                <a:latin typeface="游明朝" panose="02020400000000000000" pitchFamily="18" charset="-128"/>
                <a:ea typeface="游明朝" panose="02020400000000000000" pitchFamily="18" charset="-128"/>
                <a:cs typeface="Times New Roman" panose="02020603050405020304" pitchFamily="18" charset="0"/>
              </a:rPr>
              <a:t>Itamiya</a:t>
            </a:r>
            <a:endParaRPr lang="ja-JP" sz="1050" kern="100" dirty="0">
              <a:solidFill>
                <a:schemeClr val="bg1"/>
              </a:solidFill>
              <a:latin typeface="游明朝" panose="02020400000000000000" pitchFamily="18" charset="-128"/>
              <a:ea typeface="游明朝"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2065505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タイトル 1"/>
          <p:cNvSpPr>
            <a:spLocks noGrp="1"/>
          </p:cNvSpPr>
          <p:nvPr>
            <p:ph type="ctrTitle"/>
          </p:nvPr>
        </p:nvSpPr>
        <p:spPr/>
        <p:txBody>
          <a:bodyPr>
            <a:normAutofit/>
          </a:bodyPr>
          <a:lstStyle/>
          <a:p>
            <a:r>
              <a:rPr lang="ja-JP" altLang="en-US" dirty="0"/>
              <a:t>水災リスク分野のサービスメニュー</a:t>
            </a:r>
            <a:endParaRPr dirty="0"/>
          </a:p>
        </p:txBody>
      </p:sp>
      <p:sp>
        <p:nvSpPr>
          <p:cNvPr id="13315" name="スライド番号プレースホルダー 3"/>
          <p:cNvSpPr>
            <a:spLocks noGrp="1"/>
          </p:cNvSpPr>
          <p:nvPr>
            <p:ph type="sldNum" sz="quarter" idx="10"/>
          </p:nvPr>
        </p:nvSpPr>
        <p:spPr bwMode="auto">
          <a:xfrm>
            <a:off x="6909290" y="6473403"/>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5B3CD080-F360-45A3-9EA7-2779500C5AA7}" type="slidenum">
              <a:rPr lang="en-US" altLang="ja-JP" smtClean="0">
                <a:solidFill>
                  <a:srgbClr val="414243"/>
                </a:solidFill>
              </a:rPr>
              <a:pPr>
                <a:spcBef>
                  <a:spcPct val="0"/>
                </a:spcBef>
                <a:buClrTx/>
                <a:buSzTx/>
                <a:buFontTx/>
                <a:buNone/>
              </a:pPr>
              <a:t>6</a:t>
            </a:fld>
            <a:endParaRPr lang="en-US" altLang="ja-JP" dirty="0">
              <a:solidFill>
                <a:srgbClr val="414243"/>
              </a:solidFill>
            </a:endParaRPr>
          </a:p>
        </p:txBody>
      </p:sp>
      <p:sp>
        <p:nvSpPr>
          <p:cNvPr id="13316"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3317"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710809"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3-1</a:t>
            </a:r>
            <a:r>
              <a:rPr lang="ja-JP" altLang="en-US" sz="2215" b="1" dirty="0">
                <a:solidFill>
                  <a:prstClr val="white"/>
                </a:solidFill>
                <a:latin typeface="メイリオ" pitchFamily="50" charset="-128"/>
                <a:ea typeface="メイリオ" pitchFamily="50" charset="-128"/>
                <a:cs typeface="メイリオ" pitchFamily="50" charset="-128"/>
              </a:rPr>
              <a:t>　水災リスク評価</a:t>
            </a:r>
            <a:r>
              <a:rPr lang="en-US" altLang="ja-JP" sz="2215" b="1" dirty="0">
                <a:solidFill>
                  <a:prstClr val="white"/>
                </a:solidFill>
                <a:latin typeface="メイリオ" pitchFamily="50" charset="-128"/>
                <a:ea typeface="メイリオ" pitchFamily="50" charset="-128"/>
                <a:cs typeface="メイリオ" pitchFamily="50" charset="-128"/>
              </a:rPr>
              <a:t>(</a:t>
            </a:r>
            <a:r>
              <a:rPr lang="ja-JP" altLang="en-US" sz="2215" b="1" dirty="0">
                <a:solidFill>
                  <a:prstClr val="white"/>
                </a:solidFill>
                <a:latin typeface="メイリオ" pitchFamily="50" charset="-128"/>
                <a:ea typeface="メイリオ" pitchFamily="50" charset="-128"/>
                <a:cs typeface="メイリオ" pitchFamily="50" charset="-128"/>
              </a:rPr>
              <a:t>危険度判定</a:t>
            </a:r>
            <a:r>
              <a:rPr lang="en-US" altLang="ja-JP" sz="2215" b="1" dirty="0">
                <a:solidFill>
                  <a:prstClr val="white"/>
                </a:solidFill>
                <a:latin typeface="メイリオ" pitchFamily="50" charset="-128"/>
                <a:ea typeface="メイリオ" pitchFamily="50" charset="-128"/>
                <a:cs typeface="メイリオ" pitchFamily="50" charset="-128"/>
              </a:rPr>
              <a:t>)</a:t>
            </a:r>
          </a:p>
        </p:txBody>
      </p:sp>
      <p:sp>
        <p:nvSpPr>
          <p:cNvPr id="36" name="テキスト ボックス 35"/>
          <p:cNvSpPr txBox="1"/>
          <p:nvPr/>
        </p:nvSpPr>
        <p:spPr>
          <a:xfrm>
            <a:off x="285750" y="1526418"/>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水災リスク評価の概要</a:t>
            </a:r>
          </a:p>
        </p:txBody>
      </p:sp>
      <p:sp>
        <p:nvSpPr>
          <p:cNvPr id="13324" name="テキスト ボックス 2"/>
          <p:cNvSpPr txBox="1">
            <a:spLocks noChangeArrowheads="1"/>
          </p:cNvSpPr>
          <p:nvPr/>
        </p:nvSpPr>
        <p:spPr bwMode="auto">
          <a:xfrm>
            <a:off x="225670" y="1862504"/>
            <a:ext cx="8865577" cy="68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b="1" dirty="0">
                <a:solidFill>
                  <a:srgbClr val="006666"/>
                </a:solidFill>
                <a:latin typeface="メイリオ" panose="020B0604030504040204" pitchFamily="50" charset="-128"/>
              </a:rPr>
              <a:t>①水災危険度判定：</a:t>
            </a:r>
            <a:endParaRPr lang="en-US" altLang="ja-JP" sz="1292" b="1" dirty="0">
              <a:solidFill>
                <a:srgbClr val="006666"/>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　物件の所在地情報を基に、浸水想定に係わる公的情報を調査・整理し、複数拠点の浸水危険度を一括判定します。</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b="1" dirty="0">
                <a:solidFill>
                  <a:srgbClr val="FF0000"/>
                </a:solidFill>
                <a:latin typeface="メイリオ" panose="020B0604030504040204" pitchFamily="50" charset="-128"/>
              </a:rPr>
              <a:t>　⇒現地訪問せずに、拠点所在地の情報のみご提供いただければ実施することが可能です。</a:t>
            </a:r>
            <a:endParaRPr lang="en-US" altLang="ja-JP" sz="1292" dirty="0">
              <a:solidFill>
                <a:srgbClr val="000000"/>
              </a:solidFill>
              <a:latin typeface="メイリオ" panose="020B0604030504040204" pitchFamily="50" charset="-128"/>
            </a:endParaRPr>
          </a:p>
        </p:txBody>
      </p:sp>
      <p:pic>
        <p:nvPicPr>
          <p:cNvPr id="16" name="Picture 2">
            <a:extLst>
              <a:ext uri="{FF2B5EF4-FFF2-40B4-BE49-F238E27FC236}">
                <a16:creationId xmlns:a16="http://schemas.microsoft.com/office/drawing/2014/main" id="{B9FBCC49-9A27-45EC-9E4A-458A03B7FE34}"/>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35703" y="2551347"/>
            <a:ext cx="4872594" cy="27488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テキスト ボックス 5">
            <a:extLst>
              <a:ext uri="{FF2B5EF4-FFF2-40B4-BE49-F238E27FC236}">
                <a16:creationId xmlns:a16="http://schemas.microsoft.com/office/drawing/2014/main" id="{CCDEA124-562F-47D4-AD27-07389DF4F813}"/>
              </a:ext>
            </a:extLst>
          </p:cNvPr>
          <p:cNvSpPr txBox="1">
            <a:spLocks noChangeArrowheads="1"/>
          </p:cNvSpPr>
          <p:nvPr/>
        </p:nvSpPr>
        <p:spPr bwMode="auto">
          <a:xfrm>
            <a:off x="3251099" y="5300166"/>
            <a:ext cx="3187211" cy="29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292" dirty="0">
                <a:latin typeface="メイリオ" panose="020B0604030504040204" pitchFamily="50" charset="-128"/>
              </a:rPr>
              <a:t>①浸水危険度判定結果</a:t>
            </a:r>
            <a:r>
              <a:rPr lang="en-US" altLang="ja-JP" sz="1292" dirty="0">
                <a:latin typeface="メイリオ" panose="020B0604030504040204" pitchFamily="50" charset="-128"/>
              </a:rPr>
              <a:t>(</a:t>
            </a:r>
            <a:r>
              <a:rPr lang="ja-JP" altLang="en-US" sz="1292" dirty="0">
                <a:latin typeface="メイリオ" panose="020B0604030504040204" pitchFamily="50" charset="-128"/>
              </a:rPr>
              <a:t>イメージ</a:t>
            </a:r>
            <a:r>
              <a:rPr lang="en-US" altLang="ja-JP" sz="1292" dirty="0">
                <a:latin typeface="メイリオ" panose="020B0604030504040204" pitchFamily="50" charset="-128"/>
              </a:rPr>
              <a:t>)</a:t>
            </a:r>
            <a:endParaRPr lang="ja-JP" altLang="en-US" sz="1292" dirty="0">
              <a:latin typeface="メイリオ" panose="020B0604030504040204" pitchFamily="50" charset="-128"/>
            </a:endParaRPr>
          </a:p>
        </p:txBody>
      </p:sp>
      <p:sp>
        <p:nvSpPr>
          <p:cNvPr id="18" name="テキスト ボックス 17">
            <a:extLst>
              <a:ext uri="{FF2B5EF4-FFF2-40B4-BE49-F238E27FC236}">
                <a16:creationId xmlns:a16="http://schemas.microsoft.com/office/drawing/2014/main" id="{87B55764-D45E-4D91-A9F3-88059CB658A3}"/>
              </a:ext>
            </a:extLst>
          </p:cNvPr>
          <p:cNvSpPr txBox="1"/>
          <p:nvPr/>
        </p:nvSpPr>
        <p:spPr>
          <a:xfrm>
            <a:off x="285750" y="5543279"/>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こんなお客さまに最適です</a:t>
            </a:r>
          </a:p>
        </p:txBody>
      </p:sp>
      <p:sp>
        <p:nvSpPr>
          <p:cNvPr id="19" name="テキスト ボックス 2">
            <a:extLst>
              <a:ext uri="{FF2B5EF4-FFF2-40B4-BE49-F238E27FC236}">
                <a16:creationId xmlns:a16="http://schemas.microsoft.com/office/drawing/2014/main" id="{466811DC-D1D4-4D22-815F-63CFEEF61D3F}"/>
              </a:ext>
            </a:extLst>
          </p:cNvPr>
          <p:cNvSpPr txBox="1">
            <a:spLocks noChangeArrowheads="1"/>
          </p:cNvSpPr>
          <p:nvPr/>
        </p:nvSpPr>
        <p:spPr bwMode="auto">
          <a:xfrm>
            <a:off x="189035" y="5834449"/>
            <a:ext cx="8669215" cy="29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dirty="0">
                <a:latin typeface="メイリオ" panose="020B0604030504040204" pitchFamily="50" charset="-128"/>
              </a:rPr>
              <a:t>・お客さまがどの所有拠点から水災対策を講じるべきか悩んでいる。</a:t>
            </a:r>
            <a:endParaRPr lang="en-US" altLang="ja-JP" sz="1292" b="1" dirty="0">
              <a:solidFill>
                <a:srgbClr val="006666"/>
              </a:solidFill>
              <a:latin typeface="メイリオ" panose="020B0604030504040204" pitchFamily="50" charset="-128"/>
            </a:endParaRPr>
          </a:p>
        </p:txBody>
      </p:sp>
    </p:spTree>
    <p:extLst>
      <p:ext uri="{BB962C8B-B14F-4D97-AF65-F5344CB8AC3E}">
        <p14:creationId xmlns:p14="http://schemas.microsoft.com/office/powerpoint/2010/main" val="3905048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タイトル 1"/>
          <p:cNvSpPr>
            <a:spLocks noGrp="1"/>
          </p:cNvSpPr>
          <p:nvPr>
            <p:ph type="ctrTitle"/>
          </p:nvPr>
        </p:nvSpPr>
        <p:spPr/>
        <p:txBody>
          <a:bodyPr>
            <a:normAutofit/>
          </a:bodyPr>
          <a:lstStyle/>
          <a:p>
            <a:r>
              <a:rPr lang="ja-JP" altLang="en-US" dirty="0"/>
              <a:t>水災リスク分野のサービスメニュー</a:t>
            </a:r>
            <a:endParaRPr dirty="0"/>
          </a:p>
        </p:txBody>
      </p:sp>
      <p:sp>
        <p:nvSpPr>
          <p:cNvPr id="13315" name="スライド番号プレースホルダー 3"/>
          <p:cNvSpPr>
            <a:spLocks noGrp="1"/>
          </p:cNvSpPr>
          <p:nvPr>
            <p:ph type="sldNum" sz="quarter" idx="10"/>
          </p:nvPr>
        </p:nvSpPr>
        <p:spPr bwMode="auto">
          <a:xfrm>
            <a:off x="6909290" y="6473403"/>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5B3CD080-F360-45A3-9EA7-2779500C5AA7}" type="slidenum">
              <a:rPr lang="en-US" altLang="ja-JP" smtClean="0">
                <a:solidFill>
                  <a:srgbClr val="414243"/>
                </a:solidFill>
              </a:rPr>
              <a:pPr>
                <a:spcBef>
                  <a:spcPct val="0"/>
                </a:spcBef>
                <a:buClrTx/>
                <a:buSzTx/>
                <a:buFontTx/>
                <a:buNone/>
              </a:pPr>
              <a:t>7</a:t>
            </a:fld>
            <a:endParaRPr lang="en-US" altLang="ja-JP" dirty="0">
              <a:solidFill>
                <a:srgbClr val="414243"/>
              </a:solidFill>
            </a:endParaRPr>
          </a:p>
        </p:txBody>
      </p:sp>
      <p:sp>
        <p:nvSpPr>
          <p:cNvPr id="13316"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3317"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710809"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3-1</a:t>
            </a:r>
            <a:r>
              <a:rPr lang="ja-JP" altLang="en-US" sz="2215" b="1" dirty="0">
                <a:solidFill>
                  <a:prstClr val="white"/>
                </a:solidFill>
                <a:latin typeface="メイリオ" pitchFamily="50" charset="-128"/>
                <a:ea typeface="メイリオ" pitchFamily="50" charset="-128"/>
                <a:cs typeface="メイリオ" pitchFamily="50" charset="-128"/>
              </a:rPr>
              <a:t>　水災リスク評価</a:t>
            </a:r>
            <a:r>
              <a:rPr lang="en-US" altLang="ja-JP" sz="2215" b="1" dirty="0">
                <a:solidFill>
                  <a:prstClr val="white"/>
                </a:solidFill>
                <a:latin typeface="メイリオ" pitchFamily="50" charset="-128"/>
                <a:ea typeface="メイリオ" pitchFamily="50" charset="-128"/>
                <a:cs typeface="メイリオ" pitchFamily="50" charset="-128"/>
              </a:rPr>
              <a:t>(</a:t>
            </a:r>
            <a:r>
              <a:rPr lang="ja-JP" altLang="en-US" sz="2215" b="1" dirty="0">
                <a:solidFill>
                  <a:prstClr val="white"/>
                </a:solidFill>
                <a:latin typeface="メイリオ" pitchFamily="50" charset="-128"/>
                <a:ea typeface="メイリオ" pitchFamily="50" charset="-128"/>
                <a:cs typeface="メイリオ" pitchFamily="50" charset="-128"/>
              </a:rPr>
              <a:t>簡易シミュレーション</a:t>
            </a:r>
            <a:r>
              <a:rPr lang="en-US" altLang="ja-JP" sz="2215" b="1" dirty="0">
                <a:solidFill>
                  <a:prstClr val="white"/>
                </a:solidFill>
                <a:latin typeface="メイリオ" pitchFamily="50" charset="-128"/>
                <a:ea typeface="メイリオ" pitchFamily="50" charset="-128"/>
                <a:cs typeface="メイリオ" pitchFamily="50" charset="-128"/>
              </a:rPr>
              <a:t>)</a:t>
            </a:r>
          </a:p>
        </p:txBody>
      </p:sp>
      <p:sp>
        <p:nvSpPr>
          <p:cNvPr id="10" name="テキスト ボックス 9"/>
          <p:cNvSpPr txBox="1"/>
          <p:nvPr/>
        </p:nvSpPr>
        <p:spPr>
          <a:xfrm>
            <a:off x="284285" y="5521639"/>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こんなお客さまに最適です</a:t>
            </a:r>
          </a:p>
        </p:txBody>
      </p:sp>
      <p:sp>
        <p:nvSpPr>
          <p:cNvPr id="13322" name="テキスト ボックス 2"/>
          <p:cNvSpPr txBox="1">
            <a:spLocks noChangeArrowheads="1"/>
          </p:cNvSpPr>
          <p:nvPr/>
        </p:nvSpPr>
        <p:spPr bwMode="auto">
          <a:xfrm>
            <a:off x="284285" y="5843576"/>
            <a:ext cx="8669215" cy="29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r>
              <a:rPr lang="ja-JP" altLang="en-US" sz="1292" dirty="0">
                <a:latin typeface="メイリオ" panose="020B0604030504040204" pitchFamily="50" charset="-128"/>
              </a:rPr>
              <a:t>・公表されているハザードマップよりも具体化した浸水深を評価してほしい。</a:t>
            </a:r>
            <a:endParaRPr lang="en-US" altLang="ja-JP" sz="1292" b="1" dirty="0">
              <a:solidFill>
                <a:srgbClr val="0070C0"/>
              </a:solidFill>
              <a:latin typeface="メイリオ" panose="020B0604030504040204" pitchFamily="50" charset="-128"/>
            </a:endParaRPr>
          </a:p>
        </p:txBody>
      </p:sp>
      <p:sp>
        <p:nvSpPr>
          <p:cNvPr id="36" name="テキスト ボックス 35"/>
          <p:cNvSpPr txBox="1"/>
          <p:nvPr/>
        </p:nvSpPr>
        <p:spPr>
          <a:xfrm>
            <a:off x="285750" y="1526418"/>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水災リスク評価の概要</a:t>
            </a:r>
          </a:p>
        </p:txBody>
      </p:sp>
      <p:sp>
        <p:nvSpPr>
          <p:cNvPr id="13324" name="テキスト ボックス 2"/>
          <p:cNvSpPr txBox="1">
            <a:spLocks noChangeArrowheads="1"/>
          </p:cNvSpPr>
          <p:nvPr/>
        </p:nvSpPr>
        <p:spPr bwMode="auto">
          <a:xfrm>
            <a:off x="225670" y="1862504"/>
            <a:ext cx="8865577" cy="88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 typeface="Wingdings" panose="05000000000000000000" pitchFamily="2" charset="2"/>
              <a:buNone/>
            </a:pPr>
            <a:r>
              <a:rPr lang="ja-JP" altLang="en-US" sz="1292" b="1" dirty="0">
                <a:solidFill>
                  <a:srgbClr val="0070C0"/>
                </a:solidFill>
                <a:latin typeface="メイリオ" panose="020B0604030504040204" pitchFamily="50" charset="-128"/>
              </a:rPr>
              <a:t>②水災簡易シミュレーション：</a:t>
            </a:r>
            <a:endParaRPr lang="en-US" altLang="ja-JP" sz="1292" b="1" dirty="0">
              <a:solidFill>
                <a:srgbClr val="0070C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　洪水分析ソフトを用いて、対象拠点付近の浸水状況（浸水の最大値）を細かいメッシュで評価します。</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dirty="0">
                <a:solidFill>
                  <a:srgbClr val="000000"/>
                </a:solidFill>
                <a:latin typeface="メイリオ" panose="020B0604030504040204" pitchFamily="50" charset="-128"/>
              </a:rPr>
              <a:t>　詳細な地形データをベースとした、弊社オリジナルの浸水想定マップを作成します。</a:t>
            </a:r>
            <a:endParaRPr lang="en-US" altLang="ja-JP" sz="1292" dirty="0">
              <a:solidFill>
                <a:srgbClr val="000000"/>
              </a:solidFill>
              <a:latin typeface="メイリオ" panose="020B0604030504040204" pitchFamily="50" charset="-128"/>
            </a:endParaRPr>
          </a:p>
          <a:p>
            <a:pPr>
              <a:spcBef>
                <a:spcPct val="0"/>
              </a:spcBef>
              <a:buClrTx/>
              <a:buSzTx/>
              <a:buFont typeface="Wingdings" panose="05000000000000000000" pitchFamily="2" charset="2"/>
              <a:buNone/>
            </a:pPr>
            <a:r>
              <a:rPr lang="ja-JP" altLang="en-US" sz="1292" b="1" dirty="0">
                <a:solidFill>
                  <a:srgbClr val="FF0000"/>
                </a:solidFill>
                <a:latin typeface="メイリオ" panose="020B0604030504040204" pitchFamily="50" charset="-128"/>
              </a:rPr>
              <a:t>　⇒現地訪問せずに、拠点所在地の情報のみご提供いただければ実施することが可能です。</a:t>
            </a:r>
            <a:endParaRPr lang="en-US" altLang="ja-JP" sz="1292" b="1" dirty="0">
              <a:solidFill>
                <a:srgbClr val="FF0000"/>
              </a:solidFill>
              <a:latin typeface="メイリオ" panose="020B0604030504040204" pitchFamily="50" charset="-128"/>
            </a:endParaRPr>
          </a:p>
        </p:txBody>
      </p:sp>
      <p:pic>
        <p:nvPicPr>
          <p:cNvPr id="13325" name="Picture 1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447823" y="2805586"/>
            <a:ext cx="4248354" cy="2377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28" name="テキスト ボックス 5"/>
          <p:cNvSpPr txBox="1">
            <a:spLocks noChangeArrowheads="1"/>
          </p:cNvSpPr>
          <p:nvPr/>
        </p:nvSpPr>
        <p:spPr bwMode="auto">
          <a:xfrm>
            <a:off x="2710962" y="5159840"/>
            <a:ext cx="3915508" cy="29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lgn="ctr" eaLnBrk="1" hangingPunct="1">
              <a:spcBef>
                <a:spcPct val="0"/>
              </a:spcBef>
              <a:buClrTx/>
              <a:buSzTx/>
              <a:buFontTx/>
              <a:buNone/>
            </a:pPr>
            <a:r>
              <a:rPr lang="ja-JP" altLang="en-US" sz="1292" dirty="0">
                <a:latin typeface="メイリオ" panose="020B0604030504040204" pitchFamily="50" charset="-128"/>
              </a:rPr>
              <a:t>②水災簡易シミュレーション結果</a:t>
            </a:r>
            <a:r>
              <a:rPr lang="en-US" altLang="ja-JP" sz="1292" dirty="0">
                <a:latin typeface="メイリオ" panose="020B0604030504040204" pitchFamily="50" charset="-128"/>
              </a:rPr>
              <a:t>(</a:t>
            </a:r>
            <a:r>
              <a:rPr lang="ja-JP" altLang="en-US" sz="1292" dirty="0">
                <a:latin typeface="メイリオ" panose="020B0604030504040204" pitchFamily="50" charset="-128"/>
              </a:rPr>
              <a:t>イメージ</a:t>
            </a:r>
            <a:r>
              <a:rPr lang="en-US" altLang="ja-JP" sz="1292" dirty="0">
                <a:latin typeface="メイリオ" panose="020B0604030504040204" pitchFamily="50" charset="-128"/>
              </a:rPr>
              <a:t>)</a:t>
            </a:r>
            <a:endParaRPr lang="ja-JP" altLang="en-US" sz="1292" dirty="0">
              <a:latin typeface="メイリオ" panose="020B0604030504040204" pitchFamily="50" charset="-128"/>
            </a:endParaRPr>
          </a:p>
        </p:txBody>
      </p:sp>
      <p:sp>
        <p:nvSpPr>
          <p:cNvPr id="2" name="角丸四角形吹き出し 1"/>
          <p:cNvSpPr/>
          <p:nvPr/>
        </p:nvSpPr>
        <p:spPr>
          <a:xfrm>
            <a:off x="7033847" y="3194517"/>
            <a:ext cx="1884485" cy="1574899"/>
          </a:xfrm>
          <a:prstGeom prst="wedgeRoundRectCallout">
            <a:avLst>
              <a:gd name="adj1" fmla="val -78252"/>
              <a:gd name="adj2" fmla="val 33187"/>
              <a:gd name="adj3" fmla="val 16667"/>
            </a:avLst>
          </a:prstGeom>
          <a:solidFill>
            <a:srgbClr val="FFFF00">
              <a:alpha val="20000"/>
            </a:srgb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spAutoFit/>
          </a:bodyPr>
          <a:lstStyle/>
          <a:p>
            <a:pPr>
              <a:lnSpc>
                <a:spcPts val="1477"/>
              </a:lnSpc>
              <a:spcAft>
                <a:spcPts val="554"/>
              </a:spcAft>
              <a:defRPr/>
            </a:pPr>
            <a:r>
              <a:rPr lang="ja-JP" altLang="en-US" sz="1108" dirty="0">
                <a:solidFill>
                  <a:schemeClr val="tx1"/>
                </a:solidFill>
                <a:latin typeface="メイリオ" panose="020B0604030504040204" pitchFamily="50" charset="-128"/>
                <a:ea typeface="メイリオ" panose="020B0604030504040204" pitchFamily="50" charset="-128"/>
              </a:rPr>
              <a:t>ご要望に応じて、事業所や周辺河川の現地調査結果を反映した</a:t>
            </a:r>
            <a:r>
              <a:rPr lang="ja-JP" altLang="en-US" sz="1108" b="1" dirty="0">
                <a:solidFill>
                  <a:srgbClr val="0000FF"/>
                </a:solidFill>
                <a:latin typeface="メイリオ" panose="020B0604030504040204" pitchFamily="50" charset="-128"/>
                <a:ea typeface="メイリオ" panose="020B0604030504040204" pitchFamily="50" charset="-128"/>
              </a:rPr>
              <a:t>詳細シミュレーション</a:t>
            </a:r>
            <a:r>
              <a:rPr lang="en-US" altLang="ja-JP" sz="1108" b="1" baseline="30000" dirty="0">
                <a:solidFill>
                  <a:srgbClr val="0000FF"/>
                </a:solidFill>
                <a:latin typeface="メイリオ" panose="020B0604030504040204" pitchFamily="50" charset="-128"/>
                <a:ea typeface="メイリオ" panose="020B0604030504040204" pitchFamily="50" charset="-128"/>
              </a:rPr>
              <a:t>※</a:t>
            </a:r>
            <a:r>
              <a:rPr lang="ja-JP" altLang="en-US" sz="1108" dirty="0">
                <a:solidFill>
                  <a:schemeClr val="tx1"/>
                </a:solidFill>
                <a:latin typeface="メイリオ" panose="020B0604030504040204" pitchFamily="50" charset="-128"/>
                <a:ea typeface="メイリオ" panose="020B0604030504040204" pitchFamily="50" charset="-128"/>
              </a:rPr>
              <a:t>も実施可能です。</a:t>
            </a:r>
            <a:endParaRPr lang="en-US" altLang="ja-JP" sz="1108" dirty="0">
              <a:solidFill>
                <a:schemeClr val="tx1"/>
              </a:solidFill>
              <a:latin typeface="メイリオ" panose="020B0604030504040204" pitchFamily="50" charset="-128"/>
              <a:ea typeface="メイリオ" panose="020B0604030504040204" pitchFamily="50" charset="-128"/>
            </a:endParaRPr>
          </a:p>
          <a:p>
            <a:pPr>
              <a:lnSpc>
                <a:spcPts val="1477"/>
              </a:lnSpc>
              <a:spcAft>
                <a:spcPts val="554"/>
              </a:spcAft>
              <a:defRPr/>
            </a:pPr>
            <a:r>
              <a:rPr lang="ja-JP" altLang="en-US" sz="1108" dirty="0">
                <a:solidFill>
                  <a:schemeClr val="tx1"/>
                </a:solidFill>
                <a:latin typeface="メイリオ" panose="020B0604030504040204" pitchFamily="50" charset="-128"/>
                <a:ea typeface="メイリオ" panose="020B0604030504040204" pitchFamily="50" charset="-128"/>
              </a:rPr>
              <a:t>洪水シミュレーション動画の作成や防水壁設置効果検証を行うことができます。</a:t>
            </a:r>
            <a:endParaRPr lang="en-US" altLang="ja-JP" sz="1108"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72578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タイトル 1"/>
          <p:cNvSpPr>
            <a:spLocks noGrp="1"/>
          </p:cNvSpPr>
          <p:nvPr>
            <p:ph type="ctrTitle"/>
          </p:nvPr>
        </p:nvSpPr>
        <p:spPr/>
        <p:txBody>
          <a:bodyPr/>
          <a:lstStyle/>
          <a:p>
            <a:r>
              <a:rPr lang="ja-JP" altLang="en-US" dirty="0"/>
              <a:t>水災リスク分野</a:t>
            </a:r>
            <a:r>
              <a:rPr dirty="0"/>
              <a:t>のサービスメニュー</a:t>
            </a:r>
          </a:p>
        </p:txBody>
      </p:sp>
      <p:sp>
        <p:nvSpPr>
          <p:cNvPr id="13315" name="スライド番号プレースホルダー 3"/>
          <p:cNvSpPr>
            <a:spLocks noGrp="1"/>
          </p:cNvSpPr>
          <p:nvPr>
            <p:ph type="sldNum" sz="quarter" idx="10"/>
          </p:nvPr>
        </p:nvSpPr>
        <p:spPr bwMode="auto">
          <a:xfrm>
            <a:off x="8571131" y="6554182"/>
            <a:ext cx="426427" cy="247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5B3CD080-F360-45A3-9EA7-2779500C5AA7}" type="slidenum">
              <a:rPr lang="en-US" altLang="ja-JP" smtClean="0">
                <a:solidFill>
                  <a:srgbClr val="414243"/>
                </a:solidFill>
              </a:rPr>
              <a:pPr>
                <a:spcBef>
                  <a:spcPct val="0"/>
                </a:spcBef>
                <a:buClrTx/>
                <a:buSzTx/>
                <a:buFontTx/>
                <a:buNone/>
              </a:pPr>
              <a:t>8</a:t>
            </a:fld>
            <a:endParaRPr lang="en-US" altLang="ja-JP" dirty="0">
              <a:solidFill>
                <a:srgbClr val="414243"/>
              </a:solidFill>
            </a:endParaRPr>
          </a:p>
        </p:txBody>
      </p:sp>
      <p:sp>
        <p:nvSpPr>
          <p:cNvPr id="13316" name="AutoShape 4" descr="「悩む人 イラスト」の画像検索結果"/>
          <p:cNvSpPr>
            <a:spLocks noChangeAspect="1" noChangeArrowheads="1"/>
          </p:cNvSpPr>
          <p:nvPr/>
        </p:nvSpPr>
        <p:spPr bwMode="auto">
          <a:xfrm>
            <a:off x="143608" y="-271097"/>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3317"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710809"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3-2</a:t>
            </a:r>
            <a:r>
              <a:rPr lang="ja-JP" altLang="en-US" sz="2215" b="1" dirty="0">
                <a:solidFill>
                  <a:prstClr val="white"/>
                </a:solidFill>
                <a:latin typeface="メイリオ" pitchFamily="50" charset="-128"/>
                <a:ea typeface="メイリオ" pitchFamily="50" charset="-128"/>
                <a:cs typeface="メイリオ" pitchFamily="50" charset="-128"/>
              </a:rPr>
              <a:t>　水災リスク評価</a:t>
            </a:r>
            <a:r>
              <a:rPr lang="en-US" altLang="ja-JP" sz="2215" b="1" dirty="0">
                <a:solidFill>
                  <a:prstClr val="white"/>
                </a:solidFill>
                <a:latin typeface="メイリオ" pitchFamily="50" charset="-128"/>
                <a:ea typeface="メイリオ" pitchFamily="50" charset="-128"/>
                <a:cs typeface="メイリオ" pitchFamily="50" charset="-128"/>
              </a:rPr>
              <a:t>(</a:t>
            </a:r>
            <a:r>
              <a:rPr lang="ja-JP" altLang="en-US" sz="2215" b="1" dirty="0">
                <a:solidFill>
                  <a:prstClr val="white"/>
                </a:solidFill>
                <a:latin typeface="メイリオ" pitchFamily="50" charset="-128"/>
                <a:ea typeface="メイリオ" pitchFamily="50" charset="-128"/>
                <a:cs typeface="メイリオ" pitchFamily="50" charset="-128"/>
              </a:rPr>
              <a:t>詳細シミュレーション</a:t>
            </a:r>
            <a:r>
              <a:rPr lang="en-US" altLang="ja-JP" sz="2215" b="1" dirty="0">
                <a:solidFill>
                  <a:prstClr val="white"/>
                </a:solidFill>
                <a:latin typeface="メイリオ" pitchFamily="50" charset="-128"/>
                <a:ea typeface="メイリオ" pitchFamily="50" charset="-128"/>
                <a:cs typeface="メイリオ" pitchFamily="50" charset="-128"/>
              </a:rPr>
              <a:t>)</a:t>
            </a:r>
          </a:p>
        </p:txBody>
      </p:sp>
      <p:sp>
        <p:nvSpPr>
          <p:cNvPr id="10" name="テキスト ボックス 9"/>
          <p:cNvSpPr txBox="1"/>
          <p:nvPr/>
        </p:nvSpPr>
        <p:spPr>
          <a:xfrm>
            <a:off x="284285" y="3292619"/>
            <a:ext cx="1661538"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サービスの流れ</a:t>
            </a:r>
          </a:p>
        </p:txBody>
      </p:sp>
      <p:sp>
        <p:nvSpPr>
          <p:cNvPr id="36" name="テキスト ボックス 35"/>
          <p:cNvSpPr txBox="1"/>
          <p:nvPr/>
        </p:nvSpPr>
        <p:spPr>
          <a:xfrm>
            <a:off x="285751" y="1526418"/>
            <a:ext cx="1661538"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サービスの概要</a:t>
            </a:r>
          </a:p>
        </p:txBody>
      </p:sp>
      <p:sp>
        <p:nvSpPr>
          <p:cNvPr id="13324" name="テキスト ボックス 2"/>
          <p:cNvSpPr txBox="1">
            <a:spLocks noChangeArrowheads="1"/>
          </p:cNvSpPr>
          <p:nvPr/>
        </p:nvSpPr>
        <p:spPr bwMode="auto">
          <a:xfrm>
            <a:off x="225670" y="1862505"/>
            <a:ext cx="5970706" cy="1364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marL="263776" indent="-263776">
              <a:buFont typeface="Wingdings" panose="05000000000000000000" charset="0"/>
              <a:buChar char="ü"/>
            </a:pPr>
            <a:r>
              <a:rPr lang="ja-JP" altLang="en-US" sz="1292" dirty="0">
                <a:latin typeface="Meiryo UI" panose="020B0604030504040204" charset="-128"/>
                <a:ea typeface="Meiryo UI" panose="020B0604030504040204" charset="-128"/>
                <a:sym typeface="+mn-ea"/>
              </a:rPr>
              <a:t>水災分析ソフト（</a:t>
            </a:r>
            <a:r>
              <a:rPr lang="en-US" altLang="ja-JP" sz="1292" dirty="0" err="1">
                <a:latin typeface="Meiryo UI" panose="020B0604030504040204" charset="-128"/>
                <a:ea typeface="Meiryo UI" panose="020B0604030504040204" charset="-128"/>
                <a:sym typeface="+mn-ea"/>
              </a:rPr>
              <a:t>DioVISTA</a:t>
            </a:r>
            <a:r>
              <a:rPr lang="en-US" altLang="ja-JP" sz="1292" dirty="0">
                <a:latin typeface="Meiryo UI" panose="020B0604030504040204" charset="-128"/>
                <a:ea typeface="Meiryo UI" panose="020B0604030504040204" charset="-128"/>
                <a:sym typeface="+mn-ea"/>
              </a:rPr>
              <a:t>/Flood Simulator</a:t>
            </a:r>
            <a:r>
              <a:rPr lang="ja-JP" altLang="en-US" sz="1292" dirty="0">
                <a:latin typeface="Meiryo UI" panose="020B0604030504040204" charset="-128"/>
                <a:ea typeface="Meiryo UI" panose="020B0604030504040204" charset="-128"/>
                <a:sym typeface="+mn-ea"/>
              </a:rPr>
              <a:t>）を使用して、対象拠点の地形・河川等の各種データをもとに詳細な浸水シミュレーションを実施します。</a:t>
            </a:r>
          </a:p>
          <a:p>
            <a:pPr marL="263776" indent="-263776">
              <a:buFont typeface="Wingdings" panose="05000000000000000000" charset="0"/>
              <a:buChar char="ü"/>
            </a:pPr>
            <a:r>
              <a:rPr lang="ja-JP" altLang="en-US" sz="1292" dirty="0">
                <a:latin typeface="Meiryo UI" panose="020B0604030504040204" charset="-128"/>
                <a:ea typeface="Meiryo UI" panose="020B0604030504040204" charset="-128"/>
                <a:sym typeface="+mn-ea"/>
              </a:rPr>
              <a:t>破堤から拠点構内への浸水経路、浸水影響の時系列推移といった、ハザードマップや簡易シミュレーションでは把握できない情報について、より精微な分析が可能です。</a:t>
            </a:r>
          </a:p>
          <a:p>
            <a:pPr marL="263776" indent="-263776">
              <a:buFont typeface="Wingdings" panose="05000000000000000000" charset="0"/>
              <a:buChar char="ü"/>
            </a:pPr>
            <a:r>
              <a:rPr lang="ja-JP" altLang="en-US" sz="1292" dirty="0">
                <a:latin typeface="Meiryo UI" panose="020B0604030504040204" charset="-128"/>
                <a:ea typeface="Meiryo UI" panose="020B0604030504040204" charset="-128"/>
                <a:sym typeface="+mn-ea"/>
              </a:rPr>
              <a:t>堤防が決壊してから拠点構内が浸水するまで、水が引くまでの時間を推定することで、より具体的な水災対策を検討することができます。</a:t>
            </a:r>
          </a:p>
        </p:txBody>
      </p:sp>
      <p:sp>
        <p:nvSpPr>
          <p:cNvPr id="16" name="コンテンツプレースホルダ 2"/>
          <p:cNvSpPr>
            <a:spLocks noGrp="1" noChangeAspect="1"/>
          </p:cNvSpPr>
          <p:nvPr/>
        </p:nvSpPr>
        <p:spPr>
          <a:xfrm>
            <a:off x="5934964" y="6020694"/>
            <a:ext cx="3156923" cy="213086"/>
          </a:xfrm>
          <a:prstGeom prst="rect">
            <a:avLst/>
          </a:prstGeom>
        </p:spPr>
        <p:txBody>
          <a:bodyPr vert="horz" wrap="square" lIns="84406" tIns="42203" rIns="84406" bIns="42203"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sz="923" dirty="0">
                <a:latin typeface="Meiryo UI" panose="020B0604030504040204" charset="-128"/>
                <a:ea typeface="Meiryo UI" panose="020B0604030504040204" charset="-128"/>
                <a:sym typeface="+mn-ea"/>
              </a:rPr>
              <a:t>※</a:t>
            </a:r>
            <a:r>
              <a:rPr lang="en-US" altLang="ja-JP" sz="923" dirty="0" err="1">
                <a:latin typeface="Meiryo UI" panose="020B0604030504040204" charset="-128"/>
                <a:ea typeface="Meiryo UI" panose="020B0604030504040204" charset="-128"/>
                <a:sym typeface="+mn-ea"/>
              </a:rPr>
              <a:t>DioVISTA</a:t>
            </a:r>
            <a:r>
              <a:rPr lang="ja-JP" altLang="en-US" sz="923" dirty="0">
                <a:latin typeface="Meiryo UI" panose="020B0604030504040204" charset="-128"/>
                <a:ea typeface="Meiryo UI" panose="020B0604030504040204" charset="-128"/>
                <a:sym typeface="+mn-ea"/>
              </a:rPr>
              <a:t>は㈱日立パワーソリューションズの登録商標です。</a:t>
            </a:r>
          </a:p>
        </p:txBody>
      </p:sp>
      <p:sp>
        <p:nvSpPr>
          <p:cNvPr id="17" name="テキストボックス 21"/>
          <p:cNvSpPr txBox="1"/>
          <p:nvPr/>
        </p:nvSpPr>
        <p:spPr>
          <a:xfrm>
            <a:off x="315294" y="3723041"/>
            <a:ext cx="3323077" cy="291170"/>
          </a:xfrm>
          <a:prstGeom prst="rect">
            <a:avLst/>
          </a:prstGeom>
          <a:gradFill>
            <a:gsLst>
              <a:gs pos="0">
                <a:srgbClr val="3C8A97"/>
              </a:gs>
              <a:gs pos="50000">
                <a:srgbClr val="3C8A97"/>
              </a:gs>
              <a:gs pos="90000">
                <a:srgbClr val="3C8A97">
                  <a:alpha val="100000"/>
                </a:srgbClr>
              </a:gs>
            </a:gsLst>
          </a:gradFill>
          <a:ln w="28575" cmpd="sng">
            <a:solidFill>
              <a:srgbClr val="3C8A97"/>
            </a:solidFill>
            <a:prstDash val="solid"/>
          </a:ln>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ja-JP" altLang="en-US" sz="1292" b="1" dirty="0">
                <a:latin typeface="Meiryo UI" panose="020B0604030504040204" charset="-128"/>
                <a:ea typeface="Meiryo UI" panose="020B0604030504040204" charset="-128"/>
                <a:cs typeface="Meiryo UI" panose="020B0604030504040204" charset="-128"/>
              </a:rPr>
              <a:t>①河川管理者から詳細データを入手</a:t>
            </a:r>
          </a:p>
        </p:txBody>
      </p:sp>
      <p:sp>
        <p:nvSpPr>
          <p:cNvPr id="18" name="テキストボックス 23"/>
          <p:cNvSpPr txBox="1"/>
          <p:nvPr/>
        </p:nvSpPr>
        <p:spPr>
          <a:xfrm>
            <a:off x="877678" y="4313665"/>
            <a:ext cx="3489231" cy="291170"/>
          </a:xfrm>
          <a:prstGeom prst="rect">
            <a:avLst/>
          </a:prstGeom>
          <a:gradFill>
            <a:gsLst>
              <a:gs pos="0">
                <a:srgbClr val="3C8A97"/>
              </a:gs>
              <a:gs pos="50000">
                <a:srgbClr val="3C8A97"/>
              </a:gs>
              <a:gs pos="90000">
                <a:srgbClr val="3C8A97">
                  <a:alpha val="100000"/>
                </a:srgbClr>
              </a:gs>
            </a:gsLst>
          </a:gradFill>
          <a:ln w="28575" cmpd="sng">
            <a:solidFill>
              <a:srgbClr val="3C8A97"/>
            </a:solidFill>
            <a:prstDash val="solid"/>
          </a:ln>
        </p:spPr>
        <p:style>
          <a:lnRef idx="1">
            <a:schemeClr val="accent2"/>
          </a:lnRef>
          <a:fillRef idx="3">
            <a:schemeClr val="accent2"/>
          </a:fillRef>
          <a:effectRef idx="2">
            <a:schemeClr val="accent2"/>
          </a:effectRef>
          <a:fontRef idx="minor">
            <a:schemeClr val="lt1"/>
          </a:fontRef>
        </p:style>
        <p:txBody>
          <a:bodyPr vertOverflow="overflow" horzOverflow="overflow" vert="horz" wrap="square" numCol="1" spcCol="0" rtlCol="0" fromWordArt="0" anchor="ctr" anchorCtr="0" forceAA="0" compatLnSpc="1">
            <a:spAutoFit/>
          </a:bodyPr>
          <a:lstStyle/>
          <a:p>
            <a:pPr lvl="0" algn="ctr"/>
            <a:r>
              <a:rPr lang="ja-JP" altLang="en-US" sz="1292" b="1" dirty="0">
                <a:latin typeface="Meiryo UI" panose="020B0604030504040204" charset="-128"/>
                <a:ea typeface="Meiryo UI" panose="020B0604030504040204" charset="-128"/>
                <a:cs typeface="Meiryo UI" panose="020B0604030504040204" charset="-128"/>
                <a:sym typeface="+mn-ea"/>
              </a:rPr>
              <a:t>②河川流域・対象拠点周辺の現場調査</a:t>
            </a:r>
          </a:p>
        </p:txBody>
      </p:sp>
      <p:sp>
        <p:nvSpPr>
          <p:cNvPr id="19" name="テキストボックス 24"/>
          <p:cNvSpPr txBox="1"/>
          <p:nvPr/>
        </p:nvSpPr>
        <p:spPr>
          <a:xfrm>
            <a:off x="1845125" y="4944502"/>
            <a:ext cx="3489231" cy="291170"/>
          </a:xfrm>
          <a:prstGeom prst="rect">
            <a:avLst/>
          </a:prstGeom>
          <a:gradFill>
            <a:gsLst>
              <a:gs pos="0">
                <a:srgbClr val="3C8A97"/>
              </a:gs>
              <a:gs pos="50000">
                <a:srgbClr val="3C8A97"/>
              </a:gs>
              <a:gs pos="90000">
                <a:srgbClr val="3C8A97">
                  <a:alpha val="100000"/>
                </a:srgbClr>
              </a:gs>
            </a:gsLst>
          </a:gradFill>
          <a:ln w="28575" cmpd="sng">
            <a:solidFill>
              <a:srgbClr val="3C8A97"/>
            </a:solidFill>
            <a:prstDash val="solid"/>
          </a:ln>
        </p:spPr>
        <p:style>
          <a:lnRef idx="1">
            <a:schemeClr val="accent2"/>
          </a:lnRef>
          <a:fillRef idx="3">
            <a:schemeClr val="accent2"/>
          </a:fillRef>
          <a:effectRef idx="2">
            <a:schemeClr val="accent2"/>
          </a:effectRef>
          <a:fontRef idx="minor">
            <a:schemeClr val="lt1"/>
          </a:fontRef>
        </p:style>
        <p:txBody>
          <a:bodyPr vertOverflow="overflow" horzOverflow="overflow" vert="horz" wrap="square" numCol="1" spcCol="0" rtlCol="0" fromWordArt="0" anchor="ctr" anchorCtr="0" forceAA="0" compatLnSpc="1">
            <a:spAutoFit/>
          </a:bodyPr>
          <a:lstStyle/>
          <a:p>
            <a:pPr lvl="0" algn="ctr"/>
            <a:r>
              <a:rPr lang="ja-JP" altLang="en-US" sz="1292" b="1" dirty="0">
                <a:latin typeface="Meiryo UI" panose="020B0604030504040204" charset="-128"/>
                <a:ea typeface="Meiryo UI" panose="020B0604030504040204" charset="-128"/>
                <a:cs typeface="Meiryo UI" panose="020B0604030504040204" charset="-128"/>
                <a:sym typeface="+mn-ea"/>
              </a:rPr>
              <a:t>③浸水影響の時系列シミュレーション</a:t>
            </a:r>
          </a:p>
        </p:txBody>
      </p:sp>
      <p:sp>
        <p:nvSpPr>
          <p:cNvPr id="20" name="テキストボックス 25"/>
          <p:cNvSpPr txBox="1"/>
          <p:nvPr/>
        </p:nvSpPr>
        <p:spPr>
          <a:xfrm>
            <a:off x="2557450" y="5576574"/>
            <a:ext cx="3489231" cy="291170"/>
          </a:xfrm>
          <a:prstGeom prst="rect">
            <a:avLst/>
          </a:prstGeom>
          <a:gradFill>
            <a:gsLst>
              <a:gs pos="0">
                <a:srgbClr val="3C8A97"/>
              </a:gs>
              <a:gs pos="50000">
                <a:srgbClr val="3C8A97"/>
              </a:gs>
              <a:gs pos="90000">
                <a:srgbClr val="3C8A97">
                  <a:alpha val="100000"/>
                </a:srgbClr>
              </a:gs>
            </a:gsLst>
          </a:gradFill>
          <a:ln w="28575" cmpd="sng">
            <a:solidFill>
              <a:srgbClr val="3C8A97"/>
            </a:solidFill>
            <a:prstDash val="solid"/>
          </a:ln>
        </p:spPr>
        <p:style>
          <a:lnRef idx="1">
            <a:schemeClr val="accent2"/>
          </a:lnRef>
          <a:fillRef idx="3">
            <a:schemeClr val="accent2"/>
          </a:fillRef>
          <a:effectRef idx="2">
            <a:schemeClr val="accent2"/>
          </a:effectRef>
          <a:fontRef idx="minor">
            <a:schemeClr val="lt1"/>
          </a:fontRef>
        </p:style>
        <p:txBody>
          <a:bodyPr vertOverflow="overflow" horzOverflow="overflow" vert="horz" wrap="square" numCol="1" spcCol="0" rtlCol="0" fromWordArt="0" anchor="ctr" anchorCtr="0" forceAA="0" compatLnSpc="1">
            <a:spAutoFit/>
          </a:bodyPr>
          <a:lstStyle/>
          <a:p>
            <a:pPr lvl="0" algn="ctr"/>
            <a:r>
              <a:rPr lang="ja-JP" altLang="en-US" sz="1292" b="1" dirty="0">
                <a:latin typeface="Meiryo UI" panose="020B0604030504040204" charset="-128"/>
                <a:ea typeface="Meiryo UI" panose="020B0604030504040204" charset="-128"/>
                <a:cs typeface="Meiryo UI" panose="020B0604030504040204" charset="-128"/>
                <a:sym typeface="+mn-ea"/>
              </a:rPr>
              <a:t>④③の結果に基づく現場調査・リスク分析・提案</a:t>
            </a:r>
          </a:p>
        </p:txBody>
      </p:sp>
      <p:sp>
        <p:nvSpPr>
          <p:cNvPr id="21" name="フローチャート：組合せ 26"/>
          <p:cNvSpPr/>
          <p:nvPr/>
        </p:nvSpPr>
        <p:spPr>
          <a:xfrm>
            <a:off x="1764938" y="4090927"/>
            <a:ext cx="423789" cy="182880"/>
          </a:xfrm>
          <a:prstGeom prst="flowChartMerge">
            <a:avLst/>
          </a:prstGeom>
          <a:solidFill>
            <a:srgbClr val="3C8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92">
              <a:solidFill>
                <a:srgbClr val="FF0000"/>
              </a:solidFill>
              <a:latin typeface="Meiryo UI" panose="020B0604030504040204" charset="-128"/>
              <a:ea typeface="Meiryo UI" panose="020B0604030504040204" charset="-128"/>
            </a:endParaRPr>
          </a:p>
        </p:txBody>
      </p:sp>
      <p:sp>
        <p:nvSpPr>
          <p:cNvPr id="22" name="フローチャート：組合せ 27"/>
          <p:cNvSpPr/>
          <p:nvPr/>
        </p:nvSpPr>
        <p:spPr>
          <a:xfrm>
            <a:off x="2410399" y="4722158"/>
            <a:ext cx="423789" cy="182880"/>
          </a:xfrm>
          <a:prstGeom prst="flowChartMerge">
            <a:avLst/>
          </a:prstGeom>
          <a:solidFill>
            <a:srgbClr val="3C8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92">
              <a:solidFill>
                <a:srgbClr val="FF0000"/>
              </a:solidFill>
              <a:latin typeface="Meiryo UI" panose="020B0604030504040204" charset="-128"/>
              <a:ea typeface="Meiryo UI" panose="020B0604030504040204" charset="-128"/>
            </a:endParaRPr>
          </a:p>
        </p:txBody>
      </p:sp>
      <p:sp>
        <p:nvSpPr>
          <p:cNvPr id="23" name="フローチャート：組合せ 28"/>
          <p:cNvSpPr/>
          <p:nvPr/>
        </p:nvSpPr>
        <p:spPr>
          <a:xfrm>
            <a:off x="3378682" y="5356599"/>
            <a:ext cx="423789" cy="182880"/>
          </a:xfrm>
          <a:prstGeom prst="flowChartMerge">
            <a:avLst/>
          </a:prstGeom>
          <a:solidFill>
            <a:srgbClr val="3C8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92">
              <a:solidFill>
                <a:srgbClr val="FF0000"/>
              </a:solidFill>
              <a:latin typeface="Meiryo UI" panose="020B0604030504040204" charset="-128"/>
              <a:ea typeface="Meiryo UI" panose="020B0604030504040204" charset="-128"/>
            </a:endParaRPr>
          </a:p>
        </p:txBody>
      </p:sp>
      <p:sp>
        <p:nvSpPr>
          <p:cNvPr id="24" name="コンテンツプレースホルダ 2"/>
          <p:cNvSpPr>
            <a:spLocks noGrp="1" noChangeAspect="1"/>
          </p:cNvSpPr>
          <p:nvPr/>
        </p:nvSpPr>
        <p:spPr>
          <a:xfrm>
            <a:off x="3641435" y="3694876"/>
            <a:ext cx="2695429" cy="847421"/>
          </a:xfrm>
          <a:prstGeom prst="rect">
            <a:avLst/>
          </a:prstGeom>
        </p:spPr>
        <p:txBody>
          <a:bodyPr vert="horz" wrap="square" lIns="84406" tIns="42203" rIns="84406" bIns="42203"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dirty="0">
                <a:latin typeface="Meiryo UI" panose="020B0604030504040204" charset="-128"/>
                <a:ea typeface="Meiryo UI" panose="020B0604030504040204" charset="-128"/>
                <a:sym typeface="+mn-ea"/>
              </a:rPr>
              <a:t>河川管理者から提供される情報等から</a:t>
            </a:r>
            <a:br>
              <a:rPr lang="ja-JP" altLang="en-US"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破堤・越流が懸念される河川を特定し、</a:t>
            </a:r>
            <a:br>
              <a:rPr lang="ja-JP" altLang="en-US"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　　　　　　対象拠点周辺の現地調査</a:t>
            </a:r>
            <a:br>
              <a:rPr lang="ja-JP" altLang="en-US"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　　　　　　　　を実施します。</a:t>
            </a:r>
          </a:p>
        </p:txBody>
      </p:sp>
      <p:sp>
        <p:nvSpPr>
          <p:cNvPr id="25" name="コンテンツプレースホルダ 2"/>
          <p:cNvSpPr>
            <a:spLocks noGrp="1" noChangeAspect="1"/>
          </p:cNvSpPr>
          <p:nvPr/>
        </p:nvSpPr>
        <p:spPr>
          <a:xfrm>
            <a:off x="254850" y="5295948"/>
            <a:ext cx="3187179" cy="924747"/>
          </a:xfrm>
          <a:prstGeom prst="rect">
            <a:avLst/>
          </a:prstGeom>
        </p:spPr>
        <p:txBody>
          <a:bodyPr vert="horz" wrap="square" lIns="84406" tIns="42203" rIns="84406" bIns="42203"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200" dirty="0" err="1">
                <a:latin typeface="Meiryo UI" panose="020B0604030504040204" charset="-128"/>
                <a:ea typeface="Meiryo UI" panose="020B0604030504040204" charset="-128"/>
                <a:sym typeface="+mn-ea"/>
              </a:rPr>
              <a:t>DioVISTA</a:t>
            </a:r>
            <a:r>
              <a:rPr lang="en-US" altLang="ja-JP" sz="1200" dirty="0">
                <a:latin typeface="Meiryo UI" panose="020B0604030504040204" charset="-128"/>
                <a:ea typeface="Meiryo UI" panose="020B0604030504040204" charset="-128"/>
                <a:sym typeface="+mn-ea"/>
              </a:rPr>
              <a:t>/Flood Simulator</a:t>
            </a:r>
            <a:br>
              <a:rPr lang="en-US" altLang="ja-JP"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で氾濫流による影響（浸水経路、</a:t>
            </a:r>
            <a:br>
              <a:rPr lang="ja-JP" altLang="en-US"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時系列の浸水程度）を評価し、</a:t>
            </a:r>
            <a:br>
              <a:rPr lang="ja-JP" altLang="en-US"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再度現場調査でより精度の高い</a:t>
            </a:r>
            <a:br>
              <a:rPr lang="en-US" altLang="ja-JP" sz="1200" dirty="0">
                <a:latin typeface="Meiryo UI" panose="020B0604030504040204" charset="-128"/>
                <a:ea typeface="Meiryo UI" panose="020B0604030504040204" charset="-128"/>
                <a:sym typeface="+mn-ea"/>
              </a:rPr>
            </a:br>
            <a:r>
              <a:rPr lang="ja-JP" altLang="en-US" sz="1200" dirty="0">
                <a:latin typeface="Meiryo UI" panose="020B0604030504040204" charset="-128"/>
                <a:ea typeface="Meiryo UI" panose="020B0604030504040204" charset="-128"/>
                <a:sym typeface="+mn-ea"/>
              </a:rPr>
              <a:t>リスク分析・提案を行います。</a:t>
            </a:r>
          </a:p>
        </p:txBody>
      </p:sp>
      <p:pic>
        <p:nvPicPr>
          <p:cNvPr id="27" name="図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29498" y="1534010"/>
            <a:ext cx="2507916" cy="199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 name="グループ化 27"/>
          <p:cNvGrpSpPr>
            <a:grpSpLocks noChangeAspect="1"/>
          </p:cNvGrpSpPr>
          <p:nvPr/>
        </p:nvGrpSpPr>
        <p:grpSpPr>
          <a:xfrm>
            <a:off x="6034316" y="3658856"/>
            <a:ext cx="3026932" cy="2327063"/>
            <a:chOff x="542925" y="1500188"/>
            <a:chExt cx="6316663" cy="4856162"/>
          </a:xfrm>
        </p:grpSpPr>
        <p:pic>
          <p:nvPicPr>
            <p:cNvPr id="29" name="図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775" y="1500188"/>
              <a:ext cx="5800725" cy="485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AutoShape 26"/>
            <p:cNvSpPr>
              <a:spLocks noChangeArrowheads="1"/>
            </p:cNvSpPr>
            <p:nvPr/>
          </p:nvSpPr>
          <p:spPr bwMode="auto">
            <a:xfrm>
              <a:off x="4652963" y="1828800"/>
              <a:ext cx="261937" cy="301625"/>
            </a:xfrm>
            <a:prstGeom prst="triangle">
              <a:avLst>
                <a:gd name="adj" fmla="val 50000"/>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9pPr>
            </a:lstStyle>
            <a:p>
              <a:pPr eaLnBrk="1" hangingPunct="1">
                <a:lnSpc>
                  <a:spcPct val="90000"/>
                </a:lnSpc>
                <a:spcBef>
                  <a:spcPct val="0"/>
                </a:spcBef>
                <a:buClrTx/>
                <a:buSzTx/>
                <a:buFontTx/>
                <a:buNone/>
              </a:pPr>
              <a:endParaRPr lang="ja-JP" altLang="en-US" sz="1662">
                <a:latin typeface="メイリオ" panose="020B0604030504040204" pitchFamily="50" charset="-128"/>
                <a:ea typeface="メイリオ" panose="020B0604030504040204" pitchFamily="50" charset="-128"/>
              </a:endParaRPr>
            </a:p>
          </p:txBody>
        </p:sp>
        <p:sp>
          <p:nvSpPr>
            <p:cNvPr id="31" name="AutoShape 28"/>
            <p:cNvSpPr>
              <a:spLocks noChangeArrowheads="1"/>
            </p:cNvSpPr>
            <p:nvPr/>
          </p:nvSpPr>
          <p:spPr bwMode="auto">
            <a:xfrm>
              <a:off x="5399088" y="1560513"/>
              <a:ext cx="1460500" cy="1509712"/>
            </a:xfrm>
            <a:prstGeom prst="wedgeRectCallout">
              <a:avLst>
                <a:gd name="adj1" fmla="val -83096"/>
                <a:gd name="adj2" fmla="val -13766"/>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646" dirty="0">
                  <a:latin typeface="メイリオ" panose="020B0604030504040204" pitchFamily="50" charset="-128"/>
                  <a:ea typeface="メイリオ" panose="020B0604030504040204" pitchFamily="50" charset="-128"/>
                  <a:cs typeface="メイリオ" panose="020B0604030504040204" pitchFamily="50" charset="-128"/>
                </a:rPr>
                <a:t>水位計</a:t>
              </a:r>
            </a:p>
            <a:p>
              <a:pPr eaLnBrk="1" hangingPunct="1">
                <a:lnSpc>
                  <a:spcPct val="90000"/>
                </a:lnSpc>
                <a:defRPr/>
              </a:pPr>
              <a:r>
                <a:rPr lang="ja-JP" altLang="en-US" sz="646" dirty="0">
                  <a:latin typeface="メイリオ" panose="020B0604030504040204" pitchFamily="50" charset="-128"/>
                  <a:ea typeface="メイリオ" panose="020B0604030504040204" pitchFamily="50" charset="-128"/>
                  <a:cs typeface="メイリオ" panose="020B0604030504040204" pitchFamily="50" charset="-128"/>
                </a:rPr>
                <a:t>　　危険水位</a:t>
              </a:r>
              <a:endParaRPr lang="en-US" altLang="ja-JP" sz="646"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90000"/>
                </a:lnSpc>
                <a:defRPr/>
              </a:pPr>
              <a:r>
                <a:rPr lang="ja-JP" altLang="en-US" sz="646" dirty="0">
                  <a:latin typeface="メイリオ" panose="020B0604030504040204" pitchFamily="50" charset="-128"/>
                  <a:ea typeface="メイリオ" panose="020B0604030504040204" pitchFamily="50" charset="-128"/>
                  <a:cs typeface="メイリオ" panose="020B0604030504040204" pitchFamily="50" charset="-128"/>
                </a:rPr>
                <a:t>　　</a:t>
              </a:r>
            </a:p>
            <a:p>
              <a:pPr eaLnBrk="1" hangingPunct="1">
                <a:lnSpc>
                  <a:spcPct val="90000"/>
                </a:lnSpc>
                <a:defRPr/>
              </a:pPr>
              <a:r>
                <a:rPr lang="ja-JP" altLang="en-US" sz="646" dirty="0">
                  <a:latin typeface="メイリオ" panose="020B0604030504040204" pitchFamily="50" charset="-128"/>
                  <a:ea typeface="メイリオ" panose="020B0604030504040204" pitchFamily="50" charset="-128"/>
                  <a:cs typeface="メイリオ" panose="020B0604030504040204" pitchFamily="50" charset="-128"/>
                </a:rPr>
                <a:t>　　注意水位</a:t>
              </a:r>
              <a:endParaRPr lang="en-US" altLang="ja-JP" sz="646"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90000"/>
                </a:lnSpc>
                <a:defRPr/>
              </a:pPr>
              <a:r>
                <a:rPr lang="ja-JP" altLang="en-US" sz="646" dirty="0">
                  <a:latin typeface="メイリオ" panose="020B0604030504040204" pitchFamily="50" charset="-128"/>
                  <a:ea typeface="メイリオ" panose="020B0604030504040204" pitchFamily="50" charset="-128"/>
                  <a:cs typeface="メイリオ" panose="020B0604030504040204" pitchFamily="50" charset="-128"/>
                </a:rPr>
                <a:t>　　</a:t>
              </a:r>
            </a:p>
            <a:p>
              <a:pPr eaLnBrk="1" hangingPunct="1">
                <a:lnSpc>
                  <a:spcPct val="90000"/>
                </a:lnSpc>
                <a:defRPr/>
              </a:pPr>
              <a:r>
                <a:rPr lang="ja-JP" altLang="en-US" sz="646" dirty="0">
                  <a:latin typeface="メイリオ" panose="020B0604030504040204" pitchFamily="50" charset="-128"/>
                  <a:ea typeface="メイリオ" panose="020B0604030504040204" pitchFamily="50" charset="-128"/>
                  <a:cs typeface="メイリオ" panose="020B0604030504040204" pitchFamily="50" charset="-128"/>
                </a:rPr>
                <a:t>　　通常水位</a:t>
              </a:r>
            </a:p>
          </p:txBody>
        </p:sp>
        <p:sp>
          <p:nvSpPr>
            <p:cNvPr id="32" name="AutoShape 29"/>
            <p:cNvSpPr>
              <a:spLocks noChangeArrowheads="1"/>
            </p:cNvSpPr>
            <p:nvPr/>
          </p:nvSpPr>
          <p:spPr bwMode="auto">
            <a:xfrm>
              <a:off x="1447800" y="1676400"/>
              <a:ext cx="2038350" cy="1116013"/>
            </a:xfrm>
            <a:prstGeom prst="wedgeRectCallout">
              <a:avLst>
                <a:gd name="adj1" fmla="val 81432"/>
                <a:gd name="adj2" fmla="val 77952"/>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浸水エリア　　</a:t>
              </a:r>
            </a:p>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　　　　　深い</a:t>
              </a:r>
              <a:endParaRPr lang="en-US" altLang="ja-JP" sz="738"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90000"/>
                </a:lnSpc>
                <a:defRPr/>
              </a:pPr>
              <a:endParaRPr lang="en-US" altLang="ja-JP" sz="738"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　　　　　浅い</a:t>
              </a:r>
            </a:p>
          </p:txBody>
        </p:sp>
        <p:sp>
          <p:nvSpPr>
            <p:cNvPr id="33" name="Text Box 32"/>
            <p:cNvSpPr txBox="1">
              <a:spLocks noChangeArrowheads="1"/>
            </p:cNvSpPr>
            <p:nvPr/>
          </p:nvSpPr>
          <p:spPr bwMode="auto">
            <a:xfrm>
              <a:off x="4654549" y="2513014"/>
              <a:ext cx="713192" cy="631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9pPr>
            </a:lstStyle>
            <a:p>
              <a:pPr eaLnBrk="1" hangingPunct="1">
                <a:lnSpc>
                  <a:spcPct val="90000"/>
                </a:lnSpc>
                <a:spcBef>
                  <a:spcPct val="0"/>
                </a:spcBef>
                <a:buClrTx/>
                <a:buSzTx/>
                <a:buFontTx/>
                <a:buNone/>
              </a:pPr>
              <a:r>
                <a:rPr lang="en-US" altLang="ja-JP" sz="1477" b="1">
                  <a:solidFill>
                    <a:srgbClr val="FF3300"/>
                  </a:solidFill>
                  <a:latin typeface="メイリオ" panose="020B0604030504040204" pitchFamily="50" charset="-128"/>
                  <a:ea typeface="メイリオ" panose="020B0604030504040204" pitchFamily="50" charset="-128"/>
                </a:rPr>
                <a:t>×</a:t>
              </a:r>
            </a:p>
          </p:txBody>
        </p:sp>
        <p:sp>
          <p:nvSpPr>
            <p:cNvPr id="34" name="Text Box 33"/>
            <p:cNvSpPr txBox="1">
              <a:spLocks noChangeArrowheads="1"/>
            </p:cNvSpPr>
            <p:nvPr/>
          </p:nvSpPr>
          <p:spPr bwMode="auto">
            <a:xfrm>
              <a:off x="2365374" y="4914900"/>
              <a:ext cx="713192" cy="631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9pPr>
            </a:lstStyle>
            <a:p>
              <a:pPr eaLnBrk="1" hangingPunct="1">
                <a:lnSpc>
                  <a:spcPct val="90000"/>
                </a:lnSpc>
                <a:spcBef>
                  <a:spcPct val="0"/>
                </a:spcBef>
                <a:buClrTx/>
                <a:buSzTx/>
                <a:buFontTx/>
                <a:buNone/>
              </a:pPr>
              <a:r>
                <a:rPr lang="en-US" altLang="ja-JP" sz="1477" b="1">
                  <a:solidFill>
                    <a:srgbClr val="FF3300"/>
                  </a:solidFill>
                  <a:latin typeface="メイリオ" panose="020B0604030504040204" pitchFamily="50" charset="-128"/>
                  <a:ea typeface="メイリオ" panose="020B0604030504040204" pitchFamily="50" charset="-128"/>
                </a:rPr>
                <a:t>×</a:t>
              </a:r>
            </a:p>
          </p:txBody>
        </p:sp>
        <p:sp>
          <p:nvSpPr>
            <p:cNvPr id="35" name="AutoShape 39"/>
            <p:cNvSpPr>
              <a:spLocks noChangeArrowheads="1"/>
            </p:cNvSpPr>
            <p:nvPr/>
          </p:nvSpPr>
          <p:spPr bwMode="auto">
            <a:xfrm>
              <a:off x="542925" y="4143375"/>
              <a:ext cx="1687513" cy="468313"/>
            </a:xfrm>
            <a:prstGeom prst="wedgeRectCallout">
              <a:avLst>
                <a:gd name="adj1" fmla="val -25776"/>
                <a:gd name="adj2" fmla="val 64115"/>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河川の断面図</a:t>
              </a:r>
            </a:p>
          </p:txBody>
        </p:sp>
        <p:sp>
          <p:nvSpPr>
            <p:cNvPr id="37" name="Rectangle 40"/>
            <p:cNvSpPr>
              <a:spLocks noChangeArrowheads="1"/>
            </p:cNvSpPr>
            <p:nvPr/>
          </p:nvSpPr>
          <p:spPr bwMode="auto">
            <a:xfrm>
              <a:off x="1447800" y="6059488"/>
              <a:ext cx="3208338" cy="2349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9pPr>
            </a:lstStyle>
            <a:p>
              <a:pPr eaLnBrk="1" hangingPunct="1">
                <a:lnSpc>
                  <a:spcPct val="90000"/>
                </a:lnSpc>
                <a:spcBef>
                  <a:spcPct val="0"/>
                </a:spcBef>
                <a:buClrTx/>
                <a:buSzTx/>
                <a:buFontTx/>
                <a:buNone/>
              </a:pPr>
              <a:endParaRPr lang="ja-JP" altLang="en-US" sz="1662">
                <a:latin typeface="メイリオ" panose="020B0604030504040204" pitchFamily="50" charset="-128"/>
                <a:ea typeface="メイリオ" panose="020B0604030504040204" pitchFamily="50" charset="-128"/>
              </a:endParaRPr>
            </a:p>
          </p:txBody>
        </p:sp>
        <p:sp>
          <p:nvSpPr>
            <p:cNvPr id="38" name="AutoShape 41"/>
            <p:cNvSpPr>
              <a:spLocks noChangeArrowheads="1"/>
            </p:cNvSpPr>
            <p:nvPr/>
          </p:nvSpPr>
          <p:spPr bwMode="auto">
            <a:xfrm>
              <a:off x="4422775" y="5745163"/>
              <a:ext cx="2233613" cy="409574"/>
            </a:xfrm>
            <a:prstGeom prst="wedgeRectCallout">
              <a:avLst>
                <a:gd name="adj1" fmla="val -68494"/>
                <a:gd name="adj2" fmla="val 44452"/>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時間コントローラ</a:t>
              </a:r>
              <a:endParaRPr lang="en-US" altLang="ja-JP" sz="738"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二等辺三角形 38"/>
            <p:cNvSpPr/>
            <p:nvPr/>
          </p:nvSpPr>
          <p:spPr>
            <a:xfrm>
              <a:off x="5495925" y="2711450"/>
              <a:ext cx="244475" cy="228600"/>
            </a:xfrm>
            <a:prstGeom prst="triangle">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eaLnBrk="1" hangingPunct="1">
                <a:defRPr/>
              </a:pPr>
              <a:endParaRPr lang="ja-JP" altLang="en-US" sz="1846" dirty="0" err="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二等辺三角形 39"/>
            <p:cNvSpPr/>
            <p:nvPr/>
          </p:nvSpPr>
          <p:spPr>
            <a:xfrm>
              <a:off x="5495925" y="2279650"/>
              <a:ext cx="244475" cy="228600"/>
            </a:xfrm>
            <a:prstGeom prst="triangle">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eaLnBrk="1" hangingPunct="1">
                <a:defRPr/>
              </a:pPr>
              <a:endParaRPr lang="ja-JP" altLang="en-US" sz="1846" dirty="0" err="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二等辺三角形 40"/>
            <p:cNvSpPr>
              <a:spLocks noChangeArrowheads="1"/>
            </p:cNvSpPr>
            <p:nvPr/>
          </p:nvSpPr>
          <p:spPr bwMode="auto">
            <a:xfrm>
              <a:off x="5495925" y="1882775"/>
              <a:ext cx="244475" cy="228600"/>
            </a:xfrm>
            <a:prstGeom prst="triangle">
              <a:avLst>
                <a:gd name="adj" fmla="val 50000"/>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ＭＳ Ｐゴシック" panose="020B0600070205080204" pitchFamily="50" charset="-128"/>
                </a:defRPr>
              </a:lvl9pPr>
            </a:lstStyle>
            <a:p>
              <a:pPr eaLnBrk="1" hangingPunct="1">
                <a:lnSpc>
                  <a:spcPct val="90000"/>
                </a:lnSpc>
                <a:spcBef>
                  <a:spcPct val="0"/>
                </a:spcBef>
                <a:buClrTx/>
                <a:buSzTx/>
                <a:buFontTx/>
                <a:buNone/>
              </a:pPr>
              <a:endParaRPr lang="ja-JP" altLang="en-US" sz="1662">
                <a:solidFill>
                  <a:schemeClr val="tx2"/>
                </a:solidFill>
                <a:latin typeface="メイリオ" panose="020B0604030504040204" pitchFamily="50" charset="-128"/>
                <a:ea typeface="メイリオ" panose="020B0604030504040204" pitchFamily="50" charset="-128"/>
              </a:endParaRPr>
            </a:p>
          </p:txBody>
        </p:sp>
        <p:pic>
          <p:nvPicPr>
            <p:cNvPr id="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5450" y="1889125"/>
              <a:ext cx="211138"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AutoShape 29"/>
            <p:cNvSpPr>
              <a:spLocks noChangeArrowheads="1"/>
            </p:cNvSpPr>
            <p:nvPr/>
          </p:nvSpPr>
          <p:spPr bwMode="auto">
            <a:xfrm>
              <a:off x="5021262" y="3486150"/>
              <a:ext cx="1519233" cy="441325"/>
            </a:xfrm>
            <a:prstGeom prst="wedgeRectCallout">
              <a:avLst>
                <a:gd name="adj1" fmla="val -60874"/>
                <a:gd name="adj2" fmla="val -217899"/>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あふれ地点</a:t>
              </a:r>
            </a:p>
          </p:txBody>
        </p:sp>
        <p:sp>
          <p:nvSpPr>
            <p:cNvPr id="44" name="AutoShape 39"/>
            <p:cNvSpPr>
              <a:spLocks noChangeArrowheads="1"/>
            </p:cNvSpPr>
            <p:nvPr/>
          </p:nvSpPr>
          <p:spPr bwMode="auto">
            <a:xfrm>
              <a:off x="2474913" y="4143375"/>
              <a:ext cx="1595437" cy="468313"/>
            </a:xfrm>
            <a:prstGeom prst="wedgeRectCallout">
              <a:avLst>
                <a:gd name="adj1" fmla="val -25776"/>
                <a:gd name="adj2" fmla="val 64115"/>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河川縦断面</a:t>
              </a:r>
              <a:endParaRPr lang="en-US" altLang="ja-JP" sz="738"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AutoShape 29"/>
            <p:cNvSpPr>
              <a:spLocks noChangeArrowheads="1"/>
            </p:cNvSpPr>
            <p:nvPr/>
          </p:nvSpPr>
          <p:spPr bwMode="auto">
            <a:xfrm>
              <a:off x="2971800" y="4713288"/>
              <a:ext cx="1416050" cy="444500"/>
            </a:xfrm>
            <a:prstGeom prst="wedgeRectCallout">
              <a:avLst>
                <a:gd name="adj1" fmla="val -75916"/>
                <a:gd name="adj2" fmla="val 34776"/>
              </a:avLst>
            </a:prstGeom>
            <a:ln>
              <a:headEnd/>
              <a:tailEnd/>
            </a:ln>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90000"/>
                </a:lnSpc>
                <a:defRPr/>
              </a:pPr>
              <a:r>
                <a:rPr lang="ja-JP" altLang="en-US" sz="738" dirty="0">
                  <a:latin typeface="メイリオ" panose="020B0604030504040204" pitchFamily="50" charset="-128"/>
                  <a:ea typeface="メイリオ" panose="020B0604030504040204" pitchFamily="50" charset="-128"/>
                  <a:cs typeface="メイリオ" panose="020B0604030504040204" pitchFamily="50" charset="-128"/>
                </a:rPr>
                <a:t>あふれ地点</a:t>
              </a:r>
            </a:p>
          </p:txBody>
        </p:sp>
      </p:grpSp>
    </p:spTree>
    <p:extLst>
      <p:ext uri="{BB962C8B-B14F-4D97-AF65-F5344CB8AC3E}">
        <p14:creationId xmlns:p14="http://schemas.microsoft.com/office/powerpoint/2010/main" val="3562426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タイトル 1"/>
          <p:cNvSpPr>
            <a:spLocks noGrp="1"/>
          </p:cNvSpPr>
          <p:nvPr>
            <p:ph type="ctrTitle"/>
          </p:nvPr>
        </p:nvSpPr>
        <p:spPr/>
        <p:txBody>
          <a:bodyPr/>
          <a:lstStyle/>
          <a:p>
            <a:r>
              <a:rPr lang="ja-JP" altLang="en-US" dirty="0"/>
              <a:t>水災リスク分野のサービスメニュー</a:t>
            </a:r>
            <a:endParaRPr dirty="0"/>
          </a:p>
        </p:txBody>
      </p:sp>
      <p:sp>
        <p:nvSpPr>
          <p:cNvPr id="15363" name="スライド番号プレースホルダー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108">
                <a:solidFill>
                  <a:schemeClr val="tx1"/>
                </a:solidFill>
                <a:latin typeface="Arial" panose="020B0604020202020204" pitchFamily="34" charset="0"/>
                <a:ea typeface="メイリオ" panose="020B0604030504040204" pitchFamily="50" charset="-128"/>
              </a:defRPr>
            </a:lvl1pPr>
            <a:lvl2pPr marL="685817" indent="-263776">
              <a:spcBef>
                <a:spcPct val="20000"/>
              </a:spcBef>
              <a:buClr>
                <a:srgbClr val="9EA0A1"/>
              </a:buClr>
              <a:buSzPct val="120000"/>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2pPr>
            <a:lvl3pPr marL="1055103"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3pPr>
            <a:lvl4pPr marL="1477145"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4pPr>
            <a:lvl5pPr marL="1899186" indent="-211021">
              <a:spcBef>
                <a:spcPct val="20000"/>
              </a:spcBef>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5pPr>
            <a:lvl6pPr marL="2321227"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6pPr>
            <a:lvl7pPr marL="2743269"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7pPr>
            <a:lvl8pPr marL="3165310"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8pPr>
            <a:lvl9pPr marL="3587351" indent="-211021" eaLnBrk="0" fontAlgn="base" hangingPunct="0">
              <a:spcBef>
                <a:spcPct val="20000"/>
              </a:spcBef>
              <a:spcAft>
                <a:spcPct val="0"/>
              </a:spcAft>
              <a:buClr>
                <a:srgbClr val="9EA0A1"/>
              </a:buClr>
              <a:buFont typeface="Arial" panose="020B0604020202020204" pitchFamily="34" charset="0"/>
              <a:buChar char="-"/>
              <a:defRPr kumimoji="1" sz="1108">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fld id="{46793D66-3EB1-4BB8-88DF-390BA7445C9F}" type="slidenum">
              <a:rPr lang="en-US" altLang="ja-JP" smtClean="0">
                <a:solidFill>
                  <a:srgbClr val="414243"/>
                </a:solidFill>
              </a:rPr>
              <a:pPr>
                <a:spcBef>
                  <a:spcPct val="0"/>
                </a:spcBef>
                <a:buClrTx/>
                <a:buSzTx/>
                <a:buFontTx/>
                <a:buNone/>
              </a:pPr>
              <a:t>9</a:t>
            </a:fld>
            <a:endParaRPr lang="en-US" altLang="ja-JP">
              <a:solidFill>
                <a:srgbClr val="414243"/>
              </a:solidFill>
            </a:endParaRPr>
          </a:p>
        </p:txBody>
      </p:sp>
      <p:sp>
        <p:nvSpPr>
          <p:cNvPr id="15364" name="AutoShape 6" descr="「悩む人 イラスト」の画像検索結果"/>
          <p:cNvSpPr>
            <a:spLocks noChangeAspect="1" noChangeArrowheads="1"/>
          </p:cNvSpPr>
          <p:nvPr/>
        </p:nvSpPr>
        <p:spPr bwMode="auto">
          <a:xfrm>
            <a:off x="284285" y="-130420"/>
            <a:ext cx="879231" cy="11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SzTx/>
              <a:buFontTx/>
              <a:buNone/>
            </a:pPr>
            <a:endParaRPr lang="ja-JP" altLang="en-US" sz="1662">
              <a:ea typeface="ＭＳ Ｐゴシック" panose="020B0600070205080204" pitchFamily="50" charset="-128"/>
            </a:endParaRPr>
          </a:p>
        </p:txBody>
      </p:sp>
      <p:sp>
        <p:nvSpPr>
          <p:cNvPr id="12" name="タイトル 1"/>
          <p:cNvSpPr txBox="1">
            <a:spLocks/>
          </p:cNvSpPr>
          <p:nvPr/>
        </p:nvSpPr>
        <p:spPr bwMode="auto">
          <a:xfrm>
            <a:off x="284285" y="1023551"/>
            <a:ext cx="8710809" cy="413727"/>
          </a:xfrm>
          <a:prstGeom prst="rect">
            <a:avLst/>
          </a:prstGeom>
          <a:solidFill>
            <a:srgbClr val="3399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rgbClr val="000000"/>
                </a:solidFill>
                <a:miter lim="800000"/>
                <a:headEnd/>
                <a:tailEnd/>
              </a14:hiddenLine>
            </a:ext>
          </a:extLst>
        </p:spPr>
        <p:txBody>
          <a:bodyPr tIns="33231" bIns="16615"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nSpc>
                <a:spcPts val="3323"/>
              </a:lnSpc>
              <a:defRPr/>
            </a:pPr>
            <a:r>
              <a:rPr lang="en-US" altLang="ja-JP" sz="2215" b="1" dirty="0">
                <a:solidFill>
                  <a:prstClr val="white"/>
                </a:solidFill>
                <a:latin typeface="メイリオ" pitchFamily="50" charset="-128"/>
                <a:ea typeface="メイリオ" pitchFamily="50" charset="-128"/>
                <a:cs typeface="メイリオ" pitchFamily="50" charset="-128"/>
              </a:rPr>
              <a:t>4</a:t>
            </a:r>
            <a:r>
              <a:rPr lang="ja-JP" altLang="en-US" sz="2215" b="1" dirty="0">
                <a:solidFill>
                  <a:prstClr val="white"/>
                </a:solidFill>
                <a:latin typeface="メイリオ" pitchFamily="50" charset="-128"/>
                <a:ea typeface="メイリオ" pitchFamily="50" charset="-128"/>
                <a:cs typeface="メイリオ" pitchFamily="50" charset="-128"/>
              </a:rPr>
              <a:t>　セミナー・マニュアル策定支援</a:t>
            </a:r>
            <a:endParaRPr lang="en-US" altLang="ja-JP" sz="2215" b="1" dirty="0">
              <a:solidFill>
                <a:prstClr val="white"/>
              </a:solidFill>
              <a:latin typeface="メイリオ" pitchFamily="50" charset="-128"/>
              <a:ea typeface="メイリオ" pitchFamily="50" charset="-128"/>
              <a:cs typeface="メイリオ" pitchFamily="50" charset="-128"/>
            </a:endParaRPr>
          </a:p>
        </p:txBody>
      </p:sp>
      <p:sp>
        <p:nvSpPr>
          <p:cNvPr id="15368" name="テキスト ボックス 2"/>
          <p:cNvSpPr txBox="1">
            <a:spLocks noChangeArrowheads="1"/>
          </p:cNvSpPr>
          <p:nvPr/>
        </p:nvSpPr>
        <p:spPr bwMode="auto">
          <a:xfrm>
            <a:off x="284284" y="1987062"/>
            <a:ext cx="5616820" cy="49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a:spcBef>
                <a:spcPct val="0"/>
              </a:spcBef>
              <a:buClrTx/>
              <a:buSzTx/>
              <a:buFontTx/>
              <a:buNone/>
            </a:pPr>
            <a:r>
              <a:rPr lang="ja-JP" altLang="en-US" sz="1292" dirty="0">
                <a:solidFill>
                  <a:srgbClr val="000000"/>
                </a:solidFill>
                <a:latin typeface="メイリオ" panose="020B0604030504040204" pitchFamily="50" charset="-128"/>
              </a:rPr>
              <a:t>・水災の種類と発生のメカニズム、過去の災害事例、風水災への備え、</a:t>
            </a:r>
          </a:p>
          <a:p>
            <a:pPr>
              <a:spcBef>
                <a:spcPct val="0"/>
              </a:spcBef>
              <a:buClrTx/>
              <a:buSzTx/>
              <a:buFontTx/>
              <a:buNone/>
            </a:pPr>
            <a:r>
              <a:rPr lang="ja-JP" altLang="en-US" sz="1292" dirty="0">
                <a:solidFill>
                  <a:srgbClr val="000000"/>
                </a:solidFill>
                <a:latin typeface="メイリオ" panose="020B0604030504040204" pitchFamily="50" charset="-128"/>
              </a:rPr>
              <a:t>　台風等の接近時の必要な対応などについて解説します。</a:t>
            </a:r>
          </a:p>
        </p:txBody>
      </p:sp>
      <p:sp>
        <p:nvSpPr>
          <p:cNvPr id="25" name="テキスト ボックス 24"/>
          <p:cNvSpPr txBox="1"/>
          <p:nvPr/>
        </p:nvSpPr>
        <p:spPr>
          <a:xfrm>
            <a:off x="284285" y="1564518"/>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風水災リスクセミナー</a:t>
            </a:r>
          </a:p>
        </p:txBody>
      </p:sp>
      <p:sp>
        <p:nvSpPr>
          <p:cNvPr id="26" name="テキスト ボックス 25"/>
          <p:cNvSpPr txBox="1"/>
          <p:nvPr/>
        </p:nvSpPr>
        <p:spPr>
          <a:xfrm>
            <a:off x="310122" y="2953053"/>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マニュアル策定支援</a:t>
            </a:r>
          </a:p>
        </p:txBody>
      </p:sp>
      <p:sp>
        <p:nvSpPr>
          <p:cNvPr id="15371" name="テキスト ボックス 2"/>
          <p:cNvSpPr txBox="1">
            <a:spLocks noChangeArrowheads="1"/>
          </p:cNvSpPr>
          <p:nvPr/>
        </p:nvSpPr>
        <p:spPr bwMode="auto">
          <a:xfrm>
            <a:off x="295184" y="3389150"/>
            <a:ext cx="5512777" cy="29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FontTx/>
              <a:buNone/>
            </a:pPr>
            <a:r>
              <a:rPr lang="ja-JP" altLang="en-US" sz="1292" dirty="0">
                <a:latin typeface="メイリオ" panose="020B0604030504040204" pitchFamily="50" charset="-128"/>
              </a:rPr>
              <a:t>・ＢＣＰ</a:t>
            </a:r>
            <a:r>
              <a:rPr lang="en-US" altLang="ja-JP" sz="1292" dirty="0">
                <a:latin typeface="メイリオ" panose="020B0604030504040204" pitchFamily="50" charset="-128"/>
              </a:rPr>
              <a:t>(</a:t>
            </a:r>
            <a:r>
              <a:rPr lang="ja-JP" altLang="en-US" sz="1292" dirty="0">
                <a:latin typeface="メイリオ" panose="020B0604030504040204" pitchFamily="50" charset="-128"/>
              </a:rPr>
              <a:t>事業継続計画</a:t>
            </a:r>
            <a:r>
              <a:rPr lang="en-US" altLang="ja-JP" sz="1292" dirty="0">
                <a:latin typeface="メイリオ" panose="020B0604030504040204" pitchFamily="50" charset="-128"/>
              </a:rPr>
              <a:t>)</a:t>
            </a:r>
            <a:r>
              <a:rPr lang="ja-JP" altLang="en-US" sz="1292" dirty="0">
                <a:latin typeface="メイリオ" panose="020B0604030504040204" pitchFamily="50" charset="-128"/>
              </a:rPr>
              <a:t>や水災タイムラインの策定支援も実施可能です。</a:t>
            </a:r>
            <a:endParaRPr lang="en-US" altLang="ja-JP" sz="1292" dirty="0">
              <a:latin typeface="メイリオ" panose="020B0604030504040204" pitchFamily="50" charset="-128"/>
            </a:endParaRPr>
          </a:p>
        </p:txBody>
      </p:sp>
      <p:pic>
        <p:nvPicPr>
          <p:cNvPr id="4" name="図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77316" y="1849732"/>
            <a:ext cx="2614246" cy="1959220"/>
          </a:xfrm>
          <a:prstGeom prst="rect">
            <a:avLst/>
          </a:prstGeom>
          <a:ln>
            <a:solidFill>
              <a:schemeClr val="accent1">
                <a:lumMod val="90000"/>
              </a:schemeClr>
            </a:solidFill>
          </a:ln>
        </p:spPr>
      </p:pic>
      <p:pic>
        <p:nvPicPr>
          <p:cNvPr id="3" name="図 2">
            <a:extLst>
              <a:ext uri="{FF2B5EF4-FFF2-40B4-BE49-F238E27FC236}">
                <a16:creationId xmlns:a16="http://schemas.microsoft.com/office/drawing/2014/main" id="{6EDD9D0B-0FA4-43C5-AECF-C3790FAE71FE}"/>
              </a:ext>
            </a:extLst>
          </p:cNvPr>
          <p:cNvPicPr>
            <a:picLocks noChangeAspect="1"/>
          </p:cNvPicPr>
          <p:nvPr/>
        </p:nvPicPr>
        <p:blipFill rotWithShape="1">
          <a:blip r:embed="rId3"/>
          <a:srcRect l="24438" t="36446" r="24801" b="10781"/>
          <a:stretch/>
        </p:blipFill>
        <p:spPr>
          <a:xfrm>
            <a:off x="5550505" y="4205943"/>
            <a:ext cx="3267868" cy="1910095"/>
          </a:xfrm>
          <a:prstGeom prst="rect">
            <a:avLst/>
          </a:prstGeom>
        </p:spPr>
      </p:pic>
      <p:sp>
        <p:nvSpPr>
          <p:cNvPr id="17" name="テキスト ボックス 16">
            <a:extLst>
              <a:ext uri="{FF2B5EF4-FFF2-40B4-BE49-F238E27FC236}">
                <a16:creationId xmlns:a16="http://schemas.microsoft.com/office/drawing/2014/main" id="{E1605374-F090-409B-BAF8-A9FB6448F4B3}"/>
              </a:ext>
            </a:extLst>
          </p:cNvPr>
          <p:cNvSpPr txBox="1"/>
          <p:nvPr/>
        </p:nvSpPr>
        <p:spPr>
          <a:xfrm>
            <a:off x="282920" y="4419671"/>
            <a:ext cx="2426677" cy="291170"/>
          </a:xfrm>
          <a:prstGeom prst="rect">
            <a:avLst/>
          </a:prstGeom>
          <a:gradFill rotWithShape="1">
            <a:gsLst>
              <a:gs pos="0">
                <a:srgbClr val="006666">
                  <a:tint val="50000"/>
                  <a:satMod val="300000"/>
                </a:srgbClr>
              </a:gs>
              <a:gs pos="35000">
                <a:srgbClr val="006666">
                  <a:tint val="37000"/>
                  <a:satMod val="300000"/>
                </a:srgbClr>
              </a:gs>
              <a:gs pos="100000">
                <a:srgbClr val="006666">
                  <a:tint val="15000"/>
                  <a:satMod val="350000"/>
                </a:srgbClr>
              </a:gs>
            </a:gsLst>
            <a:lin ang="16200000" scaled="1"/>
          </a:gradFill>
          <a:ln w="9525" cap="flat" cmpd="sng" algn="ctr">
            <a:solidFill>
              <a:srgbClr val="006666">
                <a:shade val="95000"/>
                <a:satMod val="105000"/>
              </a:srgbClr>
            </a:solidFill>
            <a:prstDash val="solid"/>
          </a:ln>
          <a:effectLst>
            <a:outerShdw blurRad="40000" dist="20000" dir="5400000" rotWithShape="0">
              <a:srgbClr val="000000">
                <a:alpha val="38000"/>
              </a:srgbClr>
            </a:outerShdw>
          </a:effectLst>
        </p:spPr>
        <p:txBody>
          <a:bodyPr anchor="ctr">
            <a:spAutoFit/>
          </a:bodyPr>
          <a:lstStyle/>
          <a:p>
            <a:pPr>
              <a:defRPr/>
            </a:pPr>
            <a:r>
              <a:rPr kumimoji="0" lang="ja-JP" altLang="en-US" sz="1292" kern="0" dirty="0">
                <a:solidFill>
                  <a:srgbClr val="003333"/>
                </a:solidFill>
                <a:effectLst>
                  <a:outerShdw blurRad="38100" dist="38100" dir="2700000" algn="tl">
                    <a:srgbClr val="000000">
                      <a:alpha val="43137"/>
                    </a:srgbClr>
                  </a:outerShdw>
                </a:effectLst>
                <a:latin typeface="メイリオ" pitchFamily="50" charset="-128"/>
                <a:ea typeface="メイリオ" pitchFamily="50" charset="-128"/>
                <a:cs typeface="メイリオ" pitchFamily="50" charset="-128"/>
              </a:rPr>
              <a:t>その他</a:t>
            </a:r>
          </a:p>
        </p:txBody>
      </p:sp>
      <p:sp>
        <p:nvSpPr>
          <p:cNvPr id="18" name="テキスト ボックス 2">
            <a:extLst>
              <a:ext uri="{FF2B5EF4-FFF2-40B4-BE49-F238E27FC236}">
                <a16:creationId xmlns:a16="http://schemas.microsoft.com/office/drawing/2014/main" id="{BEE3FBE4-C061-485B-AEE3-23AA7F91BB06}"/>
              </a:ext>
            </a:extLst>
          </p:cNvPr>
          <p:cNvSpPr txBox="1">
            <a:spLocks noChangeArrowheads="1"/>
          </p:cNvSpPr>
          <p:nvPr/>
        </p:nvSpPr>
        <p:spPr bwMode="auto">
          <a:xfrm>
            <a:off x="282920" y="4796048"/>
            <a:ext cx="5512777" cy="49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EA0A1"/>
              </a:buClr>
              <a:buSzPct val="110000"/>
              <a:buFont typeface="Wingdings" panose="05000000000000000000" pitchFamily="2" charset="2"/>
              <a:buChar char="n"/>
              <a:defRPr kumimoji="1" sz="1200">
                <a:solidFill>
                  <a:schemeClr val="tx1"/>
                </a:solidFill>
                <a:latin typeface="Arial" panose="020B0604020202020204" pitchFamily="34" charset="0"/>
                <a:ea typeface="メイリオ" panose="020B0604030504040204" pitchFamily="50" charset="-128"/>
              </a:defRPr>
            </a:lvl1pPr>
            <a:lvl2pPr marL="742950" indent="-285750">
              <a:spcBef>
                <a:spcPct val="20000"/>
              </a:spcBef>
              <a:buClr>
                <a:srgbClr val="9EA0A1"/>
              </a:buClr>
              <a:buSzPct val="120000"/>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2pPr>
            <a:lvl3pPr marL="11430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3pPr>
            <a:lvl4pPr marL="16002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4pPr>
            <a:lvl5pPr marL="2057400" indent="-228600">
              <a:spcBef>
                <a:spcPct val="20000"/>
              </a:spcBef>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5pPr>
            <a:lvl6pPr marL="25146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6pPr>
            <a:lvl7pPr marL="29718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7pPr>
            <a:lvl8pPr marL="34290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8pPr>
            <a:lvl9pPr marL="3886200" indent="-228600" eaLnBrk="0" fontAlgn="base" hangingPunct="0">
              <a:spcBef>
                <a:spcPct val="20000"/>
              </a:spcBef>
              <a:spcAft>
                <a:spcPct val="0"/>
              </a:spcAft>
              <a:buClr>
                <a:srgbClr val="9EA0A1"/>
              </a:buClr>
              <a:buFont typeface="Arial" panose="020B0604020202020204" pitchFamily="34" charset="0"/>
              <a:buChar char="-"/>
              <a:defRPr kumimoji="1" sz="1200">
                <a:solidFill>
                  <a:schemeClr val="tx1"/>
                </a:solidFill>
                <a:latin typeface="Arial" panose="020B0604020202020204" pitchFamily="34" charset="0"/>
                <a:ea typeface="メイリオ" panose="020B0604030504040204" pitchFamily="50" charset="-128"/>
              </a:defRPr>
            </a:lvl9pPr>
          </a:lstStyle>
          <a:p>
            <a:pPr eaLnBrk="1" hangingPunct="1">
              <a:spcBef>
                <a:spcPct val="0"/>
              </a:spcBef>
              <a:buClrTx/>
              <a:buFontTx/>
              <a:buNone/>
            </a:pPr>
            <a:r>
              <a:rPr lang="ja-JP" altLang="en-US" sz="1292" dirty="0">
                <a:latin typeface="メイリオ" panose="020B0604030504040204" pitchFamily="50" charset="-128"/>
              </a:rPr>
              <a:t>・その他ご要望に応じて各種セミナーや研修も</a:t>
            </a:r>
            <a:endParaRPr lang="en-US" altLang="ja-JP" sz="1292" dirty="0">
              <a:latin typeface="メイリオ" panose="020B0604030504040204" pitchFamily="50" charset="-128"/>
            </a:endParaRPr>
          </a:p>
          <a:p>
            <a:pPr eaLnBrk="1" hangingPunct="1">
              <a:spcBef>
                <a:spcPct val="0"/>
              </a:spcBef>
              <a:buClrTx/>
              <a:buFontTx/>
              <a:buNone/>
            </a:pPr>
            <a:r>
              <a:rPr lang="ja-JP" altLang="en-US" sz="1292" dirty="0">
                <a:latin typeface="メイリオ" panose="020B0604030504040204" pitchFamily="50" charset="-128"/>
              </a:rPr>
              <a:t>　実施可能ですのでご相談ください。</a:t>
            </a:r>
            <a:endParaRPr lang="en-US" altLang="ja-JP" sz="1292" dirty="0">
              <a:latin typeface="メイリオ" panose="020B0604030504040204" pitchFamily="50" charset="-128"/>
            </a:endParaRPr>
          </a:p>
        </p:txBody>
      </p:sp>
    </p:spTree>
    <p:extLst>
      <p:ext uri="{BB962C8B-B14F-4D97-AF65-F5344CB8AC3E}">
        <p14:creationId xmlns:p14="http://schemas.microsoft.com/office/powerpoint/2010/main" val="2949758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B01E"/>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740111" y="2808316"/>
            <a:ext cx="3660214" cy="1410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647569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lank.potx" id="{CC77F9C7-7466-4AF9-A282-E5F1691759B8}" vid="{68BF9A2E-C431-4672-9376-05F12B8FB24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557</TotalTime>
  <Words>2003</Words>
  <Application>Microsoft Office PowerPoint</Application>
  <PresentationFormat>画面に合わせる (4:3)</PresentationFormat>
  <Paragraphs>193</Paragraphs>
  <Slides>10</Slides>
  <Notes>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10</vt:i4>
      </vt:variant>
    </vt:vector>
  </HeadingPairs>
  <TitlesOfParts>
    <vt:vector size="18" baseType="lpstr">
      <vt:lpstr>Meiryo UI</vt:lpstr>
      <vt:lpstr>メイリオ</vt:lpstr>
      <vt:lpstr>游ゴシック</vt:lpstr>
      <vt:lpstr>游明朝</vt:lpstr>
      <vt:lpstr>Arial</vt:lpstr>
      <vt:lpstr>Calibri</vt:lpstr>
      <vt:lpstr>Wingdings</vt:lpstr>
      <vt:lpstr>Office ​​テーマ</vt:lpstr>
      <vt:lpstr>PowerPoint プレゼンテーション</vt:lpstr>
      <vt:lpstr>水災リスク分野のサービスメニュー</vt:lpstr>
      <vt:lpstr>水災リスク分野のサービスメニュー</vt:lpstr>
      <vt:lpstr>水災リスク分野のサービスメニュー</vt:lpstr>
      <vt:lpstr>水災リスク分野のサービスメニュー</vt:lpstr>
      <vt:lpstr>水災リスク分野のサービスメニュー</vt:lpstr>
      <vt:lpstr>水災リスク分野のサービスメニュー</vt:lpstr>
      <vt:lpstr>水災リスク分野のサービスメニュー</vt:lpstr>
      <vt:lpstr>水災リスク分野のサービスメニュー</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自然災害（水災）リスク分野のサービスメニュー</dc:title>
  <dc:creator>藤田草史朗_A6Y41</dc:creator>
  <cp:lastModifiedBy>伊藤竜平_A6Y42</cp:lastModifiedBy>
  <cp:revision>25</cp:revision>
  <dcterms:created xsi:type="dcterms:W3CDTF">2024-06-17T07:16:29Z</dcterms:created>
  <dcterms:modified xsi:type="dcterms:W3CDTF">2026-09-04T07:59:25Z</dcterms:modified>
</cp:coreProperties>
</file>