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20" r:id="rId2"/>
    <p:sldId id="673" r:id="rId17"/>
    <p:sldId id="674" r:id="rId18"/>
    <p:sldId id="675" r:id="rId19"/>
    <p:sldId id="676" r:id="rId20"/>
    <p:sldId id="677" r:id="rId21"/>
    <p:sldId id="678" r:id="rId22"/>
    <p:sldId id="679" r:id="rId23"/>
    <p:sldId id="680" r:id="rId24"/>
    <p:sldId id="681" r:id="rId25"/>
    <p:sldId id="682" r:id="rId26"/>
    <p:sldId id="683" r:id="rId27"/>
    <p:sldId id="684" r:id="rId28"/>
    <p:sldId id="685" r:id="rId29"/>
    <p:sldId id="624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F2F5"/>
    <a:srgbClr val="FFCCCC"/>
    <a:srgbClr val="FF9999"/>
    <a:srgbClr val="23393D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>
        <p:scale>
          <a:sx n="75" d="100"/>
          <a:sy n="75" d="100"/>
        </p:scale>
        <p:origin x="121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1時間降水量50mm以上の年間発生回数</a:t>
            </a:r>
          </a:p>
          <a:p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（全国アメダス 1,300地点あたり）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年間発生回数（平均）</c:v>
                </c:pt>
              </c:strCache>
            </c:strRef>
          </c:tx>
          <c:dPt>
            <c:idx val="0"/>
            <c:spPr>
              <a:solidFill>
                <a:srgbClr val="9EB8B0"/>
              </a:solidFill>
            </c:spPr>
          </c:dPt>
          <c:dPt>
            <c:idx val="1"/>
            <c:spPr>
              <a:solidFill>
                <a:srgbClr val="339966"/>
              </a:solidFill>
            </c:spPr>
          </c:dPt>
          <c:cat>
            <c:strRef>
              <c:f>Sheet1!$A$2:$A$3</c:f>
              <c:strCache>
                <c:ptCount val="2"/>
                <c:pt idx="0">
                  <c:v>1976～1985年
（最初の10年）</c:v>
                </c:pt>
                <c:pt idx="1">
                  <c:v>2014～2023年
（最近の10年）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226</c:v>
                </c:pt>
                <c:pt idx="1">
                  <c:v>330</c:v>
                </c:pt>
              </c:numCache>
            </c:numRef>
          </c:val>
        </c:ser>
        <c:dLbls>
          <c:numFmt formatCode="&quot;約&quot;0&quot;回&quot;" sourceLinked="0"/>
          <c:txPr>
            <a:bodyPr/>
            <a:lstStyle/>
            <a:p>
              <a:pPr>
                <a:defRPr sz="1400" b="1">
                  <a:solidFill>
                    <a:srgbClr val="2626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262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B860A-6BA3-4020-B707-EFA09B4F9BCA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53FEB-069A-4A84-AD3F-BD0BAE0B7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74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9220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75433" indent="-29735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92723" indent="-23821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69155" indent="-23821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147231" indent="-23821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620376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3093523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566668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4039815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</a:pPr>
            <a:fld id="{319B5310-AD61-4F45-88FC-0A2B7912C6D7}" type="slidenum">
              <a:rPr lang="ja-JP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ja-JP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50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60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75433" indent="-29735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92723" indent="-23821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69155" indent="-23821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147231" indent="-23821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620376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3093523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566668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4039815" indent="-2382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</a:pPr>
            <a:fld id="{3CEBE3C2-1CBF-46AF-BB0A-595F7FFD2644}" type="slidenum">
              <a:rPr lang="ja-JP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ja-JP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6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推しポイント】静止画のハザードマップと違い、時間とともに水が広がる様子を再生できる点を強調。過去の海外拠点の事例では、実際の浸水エリアとシミュレーション結果がほぼ整合した実績あり（社内情報のため個社名は伏せて説明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【社内メモ】詳細シミュレーション費用目安：国内100万円～（拠点条件により個別見積り）。ご提示前に最新の料金体系を確認のこと。海外拠点も対応可（海外含め約10件の対応実績）。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89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20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984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5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88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55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7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06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51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38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E39365-3ED6-49ED-88C6-F54C12C90F07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155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編（著作権表記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93"/>
          <p:cNvGrpSpPr>
            <a:grpSpLocks/>
          </p:cNvGrpSpPr>
          <p:nvPr userDrawn="1"/>
        </p:nvGrpSpPr>
        <p:grpSpPr bwMode="auto">
          <a:xfrm>
            <a:off x="118697" y="692150"/>
            <a:ext cx="8906608" cy="71438"/>
            <a:chOff x="128588" y="692150"/>
            <a:chExt cx="9648825" cy="71438"/>
          </a:xfrm>
        </p:grpSpPr>
        <p:sp>
          <p:nvSpPr>
            <p:cNvPr id="5" name="正方形/長方形 4"/>
            <p:cNvSpPr/>
            <p:nvPr userDrawn="1"/>
          </p:nvSpPr>
          <p:spPr>
            <a:xfrm>
              <a:off x="128588" y="692150"/>
              <a:ext cx="2376487" cy="71438"/>
            </a:xfrm>
            <a:prstGeom prst="rect">
              <a:avLst/>
            </a:prstGeom>
            <a:solidFill>
              <a:srgbClr val="9EA0A1"/>
            </a:solidFill>
            <a:ln w="952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777777"/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sz="1662" dirty="0">
                <a:ea typeface="メイリオ" pitchFamily="50" charset="-128"/>
              </a:endParaRPr>
            </a:p>
          </p:txBody>
        </p:sp>
        <p:sp>
          <p:nvSpPr>
            <p:cNvPr id="6" name="正方形/長方形 5"/>
            <p:cNvSpPr/>
            <p:nvPr userDrawn="1"/>
          </p:nvSpPr>
          <p:spPr>
            <a:xfrm>
              <a:off x="2505075" y="692150"/>
              <a:ext cx="7272338" cy="71438"/>
            </a:xfrm>
            <a:prstGeom prst="rect">
              <a:avLst/>
            </a:prstGeom>
            <a:solidFill>
              <a:srgbClr val="006C60"/>
            </a:solidFill>
            <a:ln w="952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777777"/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sz="1662" dirty="0">
                <a:solidFill>
                  <a:srgbClr val="9EA0A1"/>
                </a:solidFill>
                <a:ea typeface="メイリオ" pitchFamily="50" charset="-128"/>
              </a:endParaRPr>
            </a:p>
          </p:txBody>
        </p:sp>
        <p:sp>
          <p:nvSpPr>
            <p:cNvPr id="7" name="直角三角形 6"/>
            <p:cNvSpPr/>
            <p:nvPr userDrawn="1"/>
          </p:nvSpPr>
          <p:spPr>
            <a:xfrm flipV="1">
              <a:off x="2505075" y="692150"/>
              <a:ext cx="77788" cy="71438"/>
            </a:xfrm>
            <a:prstGeom prst="rtTriangle">
              <a:avLst/>
            </a:prstGeom>
            <a:solidFill>
              <a:srgbClr val="9EA0A1"/>
            </a:solidFill>
            <a:ln w="952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6C60"/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 sz="1662" dirty="0">
                <a:ea typeface="メイリオ" pitchFamily="50" charset="-128"/>
              </a:endParaRPr>
            </a:p>
          </p:txBody>
        </p:sp>
      </p:grpSp>
      <p:cxnSp>
        <p:nvCxnSpPr>
          <p:cNvPr id="8" name="直線コネクタ 7"/>
          <p:cNvCxnSpPr/>
          <p:nvPr userDrawn="1"/>
        </p:nvCxnSpPr>
        <p:spPr>
          <a:xfrm>
            <a:off x="118697" y="6491288"/>
            <a:ext cx="8906608" cy="0"/>
          </a:xfrm>
          <a:prstGeom prst="line">
            <a:avLst/>
          </a:prstGeom>
          <a:ln w="12700">
            <a:solidFill>
              <a:srgbClr val="41424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16"/>
          <p:cNvSpPr txBox="1">
            <a:spLocks noChangeArrowheads="1"/>
          </p:cNvSpPr>
          <p:nvPr userDrawn="1"/>
        </p:nvSpPr>
        <p:spPr bwMode="auto">
          <a:xfrm>
            <a:off x="5436577" y="6578601"/>
            <a:ext cx="29908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buClr>
                <a:srgbClr val="AAAAAA"/>
              </a:buClr>
              <a:buSzPct val="100000"/>
              <a:buFont typeface="Wingdings" pitchFamily="2" charset="2"/>
              <a:buChar char="n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buClr>
                <a:srgbClr val="AAAAAA"/>
              </a:buClr>
              <a:buSzPct val="120000"/>
              <a:buFont typeface="Arial" charset="0"/>
              <a:buChar char="»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AAAAA"/>
              </a:buClr>
              <a:buSzPct val="100000"/>
              <a:buFont typeface="Arial" charset="0"/>
              <a:buChar char="-"/>
              <a:defRPr kumimoji="1" sz="1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sz="1015" dirty="0">
                <a:solidFill>
                  <a:srgbClr val="000000"/>
                </a:solidFill>
                <a:ea typeface="メイリオ" pitchFamily="50" charset="-128"/>
              </a:rPr>
              <a:t>©MS&amp;AD InterRisk Research &amp; Consulting, Inc.</a:t>
            </a:r>
          </a:p>
        </p:txBody>
      </p:sp>
      <p:pic>
        <p:nvPicPr>
          <p:cNvPr id="10" name="Picture 2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697" y="6543676"/>
            <a:ext cx="54219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テキスト ボックス 8"/>
          <p:cNvSpPr txBox="1">
            <a:spLocks noChangeArrowheads="1"/>
          </p:cNvSpPr>
          <p:nvPr userDrawn="1"/>
        </p:nvSpPr>
        <p:spPr bwMode="auto">
          <a:xfrm>
            <a:off x="118697" y="765175"/>
            <a:ext cx="890660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43200"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Clr>
                <a:srgbClr val="AAAAAA"/>
              </a:buClr>
              <a:buSzPct val="110000"/>
              <a:buFont typeface="Wingdings" pitchFamily="2" charset="2"/>
              <a:buNone/>
              <a:defRPr/>
            </a:pPr>
            <a:endParaRPr lang="en-US" altLang="ja-JP" sz="1662" b="1" dirty="0">
              <a:solidFill>
                <a:srgbClr val="000000"/>
              </a:solidFill>
              <a:ea typeface="メイリオ" pitchFamily="50" charset="-128"/>
            </a:endParaRPr>
          </a:p>
        </p:txBody>
      </p:sp>
      <p:sp>
        <p:nvSpPr>
          <p:cNvPr id="13" name="テキスト ボックス 12"/>
          <p:cNvSpPr txBox="1">
            <a:spLocks noChangeArrowheads="1"/>
          </p:cNvSpPr>
          <p:nvPr userDrawn="1"/>
        </p:nvSpPr>
        <p:spPr bwMode="auto">
          <a:xfrm>
            <a:off x="118697" y="1484313"/>
            <a:ext cx="8906608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53C83">
                    <a:alpha val="2117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 anchor="b"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itchFamily="2" charset="2"/>
              <a:buChar char="n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lr>
                <a:srgbClr val="9EA0A1"/>
              </a:buClr>
              <a:buSzPct val="120000"/>
              <a:buFont typeface="Arial" charset="0"/>
              <a:buChar char="»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charset="0"/>
              <a:buChar char="-"/>
              <a:defRPr kumimoji="1" sz="1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Clr>
                <a:srgbClr val="353C83"/>
              </a:buClr>
              <a:buSzPct val="100000"/>
              <a:buFontTx/>
              <a:buNone/>
              <a:defRPr/>
            </a:pPr>
            <a:endParaRPr lang="en-US" altLang="ja-JP" sz="1200" b="1" dirty="0">
              <a:ea typeface="メイリオ" pitchFamily="50" charset="-128"/>
            </a:endParaRPr>
          </a:p>
        </p:txBody>
      </p:sp>
      <p:sp>
        <p:nvSpPr>
          <p:cNvPr id="14" name="テキスト ボックス 7"/>
          <p:cNvSpPr txBox="1">
            <a:spLocks noChangeArrowheads="1"/>
          </p:cNvSpPr>
          <p:nvPr userDrawn="1"/>
        </p:nvSpPr>
        <p:spPr bwMode="auto">
          <a:xfrm>
            <a:off x="118697" y="6092825"/>
            <a:ext cx="890660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077" tIns="0" rIns="0" bIns="0" anchor="b"/>
          <a:lstStyle>
            <a:lvl1pPr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357188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buClr>
                <a:srgbClr val="353C83"/>
              </a:buClr>
              <a:buSzPct val="100000"/>
              <a:defRPr/>
            </a:pPr>
            <a:endParaRPr lang="en-US" altLang="ja-JP" sz="738" dirty="0">
              <a:solidFill>
                <a:srgbClr val="000000"/>
              </a:solidFill>
              <a:ea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8697" y="115888"/>
            <a:ext cx="8906608" cy="5762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12" name="テキスト プレースホルダー 2"/>
          <p:cNvSpPr>
            <a:spLocks noGrp="1"/>
          </p:cNvSpPr>
          <p:nvPr>
            <p:ph idx="1"/>
          </p:nvPr>
        </p:nvSpPr>
        <p:spPr bwMode="auto">
          <a:xfrm>
            <a:off x="118697" y="1844675"/>
            <a:ext cx="8906608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5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76010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表紙（タイプ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1115158" y="3046419"/>
            <a:ext cx="6913685" cy="71437"/>
          </a:xfrm>
          <a:prstGeom prst="rect">
            <a:avLst/>
          </a:prstGeom>
          <a:solidFill>
            <a:srgbClr val="006C6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777777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350" dirty="0">
              <a:solidFill>
                <a:srgbClr val="9EA0A1"/>
              </a:solidFill>
              <a:ea typeface="メイリオ" pitchFamily="50" charset="-128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0774" y="5672138"/>
            <a:ext cx="1462454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15158" y="1844681"/>
            <a:ext cx="6913685" cy="28797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lang="ja-JP" altLang="en-US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1115158" y="3046419"/>
            <a:ext cx="6913685" cy="71437"/>
          </a:xfrm>
          <a:prstGeom prst="rect">
            <a:avLst/>
          </a:prstGeom>
          <a:solidFill>
            <a:srgbClr val="006C6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777777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350" dirty="0">
              <a:solidFill>
                <a:srgbClr val="9EA0A1"/>
              </a:solidFill>
              <a:ea typeface="メイリオ" pitchFamily="50" charset="-128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0774" y="5672138"/>
            <a:ext cx="1462454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7533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9395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876256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44F0-29CD-49B5-B865-6DA5F3E581F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B539F8-E76F-490C-BBAE-4B7C878F3B1A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7354800" y="274638"/>
            <a:ext cx="1332000" cy="180000"/>
          </a:xfrm>
          <a:prstGeom prst="rect">
            <a:avLst/>
          </a:prstGeom>
          <a:solidFill>
            <a:srgbClr val="404040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Strictly Confidential</a:t>
            </a:r>
            <a:endParaRPr kumimoji="1" lang="ja-JP" altLang="en-US" sz="10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044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2339752" y="3645024"/>
            <a:ext cx="4420665" cy="1944216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1F622E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rgbClr val="34A44C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tIns="35100" anchor="ctr"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600" b="1" kern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ＭＳ＆ＡＤインターリスク総研株式会社</a:t>
            </a:r>
            <a:endParaRPr lang="en-US" altLang="ja-JP" sz="1600" b="1" kern="1100" dirty="0">
              <a:solidFill>
                <a:schemeClr val="tx1">
                  <a:lumMod val="75000"/>
                  <a:lumOff val="25000"/>
                </a:schemeClr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600" b="1" kern="1100" dirty="0">
              <a:solidFill>
                <a:schemeClr val="tx1">
                  <a:lumMod val="75000"/>
                  <a:lumOff val="25000"/>
                </a:schemeClr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600" b="1" kern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リスクマネジメント第一部</a:t>
            </a:r>
            <a:endParaRPr lang="en-US" altLang="ja-JP" sz="1600" b="1" kern="1100" dirty="0">
              <a:solidFill>
                <a:schemeClr val="tx1">
                  <a:lumMod val="75000"/>
                  <a:lumOff val="25000"/>
                </a:schemeClr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1277544" y="1783080"/>
            <a:ext cx="6426994" cy="10679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1F622E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rgbClr val="34A44C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tIns="35100" anchor="ctr"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algn="ctr">
              <a:lnSpc>
                <a:spcPts val="2100"/>
              </a:lnSpc>
              <a:spcBef>
                <a:spcPct val="50000"/>
              </a:spcBef>
              <a:buClrTx/>
              <a:buSzTx/>
              <a:buNone/>
            </a:pPr>
            <a:r>
              <a:rPr lang="ja-JP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/>
                <a:cs typeface="メイリオ"/>
              </a:rPr>
              <a:t>豪雨時代の水災対策</a:t>
            </a:r>
            <a:endParaRPr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</a:endParaRPr>
          </a:p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浸水シミュレーション・動画作成のご提案</a:t>
            </a:r>
          </a:p>
        </p:txBody>
      </p:sp>
    </p:spTree>
    <p:extLst>
      <p:ext uri="{BB962C8B-B14F-4D97-AF65-F5344CB8AC3E}">
        <p14:creationId xmlns:p14="http://schemas.microsoft.com/office/powerpoint/2010/main" val="33814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B01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0111" y="2808316"/>
            <a:ext cx="3660214" cy="141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475693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ご提案の要旨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ハザードマップの「その先」を、シミュレーションと動画で具体化します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645920"/>
            <a:ext cx="1234440" cy="132588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背景</a:t>
            </a:r>
          </a:p>
        </p:txBody>
      </p:sp>
      <p:sp>
        <p:nvSpPr>
          <p:cNvPr id="10288" name="Rectangle 10287"/>
          <p:cNvSpPr/>
          <p:nvPr/>
        </p:nvSpPr>
        <p:spPr>
          <a:xfrm>
            <a:off x="1517904" y="1645920"/>
            <a:ext cx="7342631" cy="132588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1時間50mm以上の豪雨の発生回数は、1976～85年の平均と比べて</a:t>
            </a: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約1.5倍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に増加。線状降水帯による記録的豪雨が毎年のように発生しています。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2026年8月の千葉豪雨では、被害報告の</a:t>
            </a: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半数以上が浸水想定区域の「外」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でした。</a:t>
            </a:r>
          </a:p>
        </p:txBody>
      </p:sp>
      <p:sp>
        <p:nvSpPr>
          <p:cNvPr id="10289" name="Rectangle 10288"/>
          <p:cNvSpPr/>
          <p:nvPr/>
        </p:nvSpPr>
        <p:spPr>
          <a:xfrm>
            <a:off x="283464" y="3108960"/>
            <a:ext cx="1234440" cy="132588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10290" name="Rectangle 10289"/>
          <p:cNvSpPr/>
          <p:nvPr/>
        </p:nvSpPr>
        <p:spPr>
          <a:xfrm>
            <a:off x="1517904" y="3108960"/>
            <a:ext cx="7342631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ハザードマップで分かるのは「エリアの最大浸水深」まで。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「いつ・どこから・どれだけ」浸水し、「対策で何が変わるか」は分からず、具体的な対策やBCPに落とし込みにくい。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283464" y="4572000"/>
            <a:ext cx="1234440" cy="1325880"/>
          </a:xfrm>
          <a:prstGeom prst="rect">
            <a:avLst/>
          </a:prstGeom>
          <a:solidFill>
            <a:srgbClr val="1F5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ご提案</a:t>
            </a:r>
          </a:p>
        </p:txBody>
      </p:sp>
      <p:sp>
        <p:nvSpPr>
          <p:cNvPr id="10292" name="Rectangle 10291"/>
          <p:cNvSpPr/>
          <p:nvPr/>
        </p:nvSpPr>
        <p:spPr>
          <a:xfrm>
            <a:off x="1517904" y="4572000"/>
            <a:ext cx="7342631" cy="1325880"/>
          </a:xfrm>
          <a:prstGeom prst="rect">
            <a:avLst/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詳細浸水シミュレーション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で、拠点ごとの浸水経路・到達時間・浸水継続時間を時系列で把握。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結果を</a:t>
            </a: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シミュレーション動画</a:t>
            </a: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で可視化し、経営判断・社員教育・BCP策定にそのまま活用いただけます。</a:t>
            </a:r>
          </a:p>
        </p:txBody>
      </p:sp>
      <p:sp>
        <p:nvSpPr>
          <p:cNvPr id="10293" name="TextBox 10292"/>
          <p:cNvSpPr txBox="1"/>
          <p:nvPr/>
        </p:nvSpPr>
        <p:spPr>
          <a:xfrm>
            <a:off x="283464" y="6144768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出典：気象庁「大雨や猛暑日など（極端現象）のこれまでの変化」、ウェザーニューズ（2026年8月14日）「令和8年8月千葉豪雨」浸水被害報告の分析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提案の背景①　豪雨の頻発・激甚化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豪雨は「まれな災害」から「毎年備えるべきリスク」へ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600200"/>
            <a:ext cx="274320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短時間強雨の発生回数</a:t>
            </a:r>
          </a:p>
        </p:txBody>
      </p:sp>
      <p:graphicFrame>
        <p:nvGraphicFramePr>
          <p:cNvPr id="10288" name="Chart 10287"/>
          <p:cNvGraphicFramePr>
            <a:graphicFrameLocks noGrp="1"/>
          </p:cNvGraphicFramePr>
          <p:nvPr/>
        </p:nvGraphicFramePr>
        <p:xfrm>
          <a:off x="283464" y="1965960"/>
          <a:ext cx="4480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289" name="Rounded Rectangle 10288"/>
          <p:cNvSpPr/>
          <p:nvPr/>
        </p:nvSpPr>
        <p:spPr>
          <a:xfrm>
            <a:off x="868680" y="2560320"/>
            <a:ext cx="1143000" cy="45720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約1.5倍</a:t>
            </a:r>
          </a:p>
        </p:txBody>
      </p:sp>
      <p:sp>
        <p:nvSpPr>
          <p:cNvPr id="10290" name="Rectangle 10289"/>
          <p:cNvSpPr/>
          <p:nvPr/>
        </p:nvSpPr>
        <p:spPr>
          <a:xfrm>
            <a:off x="5074920" y="1600200"/>
            <a:ext cx="3785615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水害被害の規模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5074920" y="2011680"/>
            <a:ext cx="3785615" cy="160020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2" name="TextBox 10291"/>
          <p:cNvSpPr txBox="1"/>
          <p:nvPr/>
        </p:nvSpPr>
        <p:spPr>
          <a:xfrm>
            <a:off x="5212080" y="2103120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約2.18兆円</a:t>
            </a:r>
          </a:p>
        </p:txBody>
      </p:sp>
      <p:sp>
        <p:nvSpPr>
          <p:cNvPr id="10293" name="TextBox 10292"/>
          <p:cNvSpPr txBox="1"/>
          <p:nvPr/>
        </p:nvSpPr>
        <p:spPr>
          <a:xfrm>
            <a:off x="5212080" y="2670048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2019年（令和元年）の全国水害被害額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5212080" y="2990088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統計開始以来最大。東日本台風だけで約1.88兆円、堤防決壊は142か所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5074920" y="3749039"/>
            <a:ext cx="3785615" cy="160020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6" name="TextBox 10295"/>
          <p:cNvSpPr txBox="1"/>
          <p:nvPr/>
        </p:nvSpPr>
        <p:spPr>
          <a:xfrm>
            <a:off x="5212080" y="3840479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約6,800億円</a:t>
            </a:r>
          </a:p>
        </p:txBody>
      </p:sp>
      <p:sp>
        <p:nvSpPr>
          <p:cNvPr id="10297" name="TextBox 10296"/>
          <p:cNvSpPr txBox="1"/>
          <p:nvPr/>
        </p:nvSpPr>
        <p:spPr>
          <a:xfrm>
            <a:off x="5212080" y="4407407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2023年（令和5年）の全国水害被害額</a:t>
            </a:r>
          </a:p>
        </p:txBody>
      </p:sp>
      <p:sp>
        <p:nvSpPr>
          <p:cNvPr id="10298" name="TextBox 10297"/>
          <p:cNvSpPr txBox="1"/>
          <p:nvPr/>
        </p:nvSpPr>
        <p:spPr>
          <a:xfrm>
            <a:off x="5212080" y="4727448"/>
            <a:ext cx="356616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過去10年で3番目の規模。秋田県では統計開始以来最大の被害</a:t>
            </a:r>
          </a:p>
        </p:txBody>
      </p:sp>
      <p:sp>
        <p:nvSpPr>
          <p:cNvPr id="10299" name="TextBox 10298"/>
          <p:cNvSpPr txBox="1"/>
          <p:nvPr/>
        </p:nvSpPr>
        <p:spPr>
          <a:xfrm>
            <a:off x="283464" y="5596128"/>
            <a:ext cx="85953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→ 気候変動により豪雨の頻度・強度は今後も増すと見込まれ、</a:t>
            </a: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「過去に浸水していないから大丈夫」は通用しなくなっています。</a:t>
            </a:r>
          </a:p>
        </p:txBody>
      </p:sp>
      <p:sp>
        <p:nvSpPr>
          <p:cNvPr id="10300" name="TextBox 10299"/>
          <p:cNvSpPr txBox="1"/>
          <p:nvPr/>
        </p:nvSpPr>
        <p:spPr>
          <a:xfrm>
            <a:off x="283464" y="6144768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出典：気象庁「大雨や猛暑日など（極端現象）のこれまでの変化」、国土交通省「令和元年の水害被害額（確報値）」「令和5年の水害被害額（暫定値）」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提案の背景②　近年の主な豪雨災害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記録的な豪雨が各地で相次ぎ、想定外の場所でも浸水が発生</a:t>
            </a:r>
          </a:p>
        </p:txBody>
      </p:sp>
      <p:sp>
        <p:nvSpPr>
          <p:cNvPr id="10287" name="Rounded Rectangle 10286"/>
          <p:cNvSpPr/>
          <p:nvPr/>
        </p:nvSpPr>
        <p:spPr>
          <a:xfrm>
            <a:off x="283464" y="16459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2019年10月</a:t>
            </a:r>
          </a:p>
        </p:txBody>
      </p:sp>
      <p:sp>
        <p:nvSpPr>
          <p:cNvPr id="10288" name="TextBox 10287"/>
          <p:cNvSpPr txBox="1"/>
          <p:nvPr/>
        </p:nvSpPr>
        <p:spPr>
          <a:xfrm>
            <a:off x="1600200" y="160020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令和元年東日本台風</a:t>
            </a:r>
          </a:p>
        </p:txBody>
      </p:sp>
      <p:sp>
        <p:nvSpPr>
          <p:cNvPr id="10289" name="TextBox 10288"/>
          <p:cNvSpPr txBox="1"/>
          <p:nvPr/>
        </p:nvSpPr>
        <p:spPr>
          <a:xfrm>
            <a:off x="1600200" y="1947672"/>
            <a:ext cx="393192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東日本を中心に記録的な大雨。142か所で堤防が決壊し、水害被害額は台風単独で約1.88兆円と統計開始以来最大に。</a:t>
            </a:r>
          </a:p>
        </p:txBody>
      </p:sp>
      <p:cxnSp>
        <p:nvCxnSpPr>
          <p:cNvPr id="10290" name="Connector 10289"/>
          <p:cNvCxnSpPr/>
          <p:nvPr/>
        </p:nvCxnSpPr>
        <p:spPr>
          <a:xfrm>
            <a:off x="283464" y="2788920"/>
            <a:ext cx="524865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1" name="Rounded Rectangle 10290"/>
          <p:cNvSpPr/>
          <p:nvPr/>
        </p:nvSpPr>
        <p:spPr>
          <a:xfrm>
            <a:off x="283464" y="29443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2025年8月</a:t>
            </a:r>
          </a:p>
        </p:txBody>
      </p:sp>
      <p:sp>
        <p:nvSpPr>
          <p:cNvPr id="10292" name="TextBox 10291"/>
          <p:cNvSpPr txBox="1"/>
          <p:nvPr/>
        </p:nvSpPr>
        <p:spPr>
          <a:xfrm>
            <a:off x="1600200" y="2898648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低気圧と前線による大雨</a:t>
            </a:r>
          </a:p>
        </p:txBody>
      </p:sp>
      <p:sp>
        <p:nvSpPr>
          <p:cNvPr id="10293" name="TextBox 10292"/>
          <p:cNvSpPr txBox="1"/>
          <p:nvPr/>
        </p:nvSpPr>
        <p:spPr>
          <a:xfrm>
            <a:off x="1600200" y="3246120"/>
            <a:ext cx="393192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石川・鹿児島・福岡・熊本などで線状降水帯が繰り返し発生。総降水量600mmを超える地点もあり、鹿児島・熊本に大雨特別警報。</a:t>
            </a:r>
          </a:p>
        </p:txBody>
      </p:sp>
      <p:cxnSp>
        <p:nvCxnSpPr>
          <p:cNvPr id="10294" name="Connector 10293"/>
          <p:cNvCxnSpPr/>
          <p:nvPr/>
        </p:nvCxnSpPr>
        <p:spPr>
          <a:xfrm>
            <a:off x="283464" y="4087368"/>
            <a:ext cx="524865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5" name="Rounded Rectangle 10294"/>
          <p:cNvSpPr/>
          <p:nvPr/>
        </p:nvSpPr>
        <p:spPr>
          <a:xfrm>
            <a:off x="283464" y="424281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2026年8月</a:t>
            </a:r>
          </a:p>
        </p:txBody>
      </p:sp>
      <p:sp>
        <p:nvSpPr>
          <p:cNvPr id="10296" name="TextBox 10295"/>
          <p:cNvSpPr txBox="1"/>
          <p:nvPr/>
        </p:nvSpPr>
        <p:spPr>
          <a:xfrm>
            <a:off x="1600200" y="4197096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令和8年8月千葉豪雨</a:t>
            </a:r>
          </a:p>
        </p:txBody>
      </p:sp>
      <p:sp>
        <p:nvSpPr>
          <p:cNvPr id="10297" name="TextBox 10296"/>
          <p:cNvSpPr txBox="1"/>
          <p:nvPr/>
        </p:nvSpPr>
        <p:spPr>
          <a:xfrm>
            <a:off x="1600200" y="4544568"/>
            <a:ext cx="393192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千葉市で12時間降水量348.0mm（観測史上1位、8月の平年月降水量の約3倍）。短時間の猛烈な雨が排水能力を超え、都市部で浸水が多発。</a:t>
            </a:r>
          </a:p>
        </p:txBody>
      </p:sp>
      <p:sp>
        <p:nvSpPr>
          <p:cNvPr id="10298" name="Rectangle 10297"/>
          <p:cNvSpPr/>
          <p:nvPr/>
        </p:nvSpPr>
        <p:spPr>
          <a:xfrm>
            <a:off x="5760720" y="1600200"/>
            <a:ext cx="3099816" cy="384048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9" name="TextBox 10298"/>
          <p:cNvSpPr txBox="1"/>
          <p:nvPr/>
        </p:nvSpPr>
        <p:spPr>
          <a:xfrm>
            <a:off x="5897880" y="1737360"/>
            <a:ext cx="283464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2026年8月 千葉豪雨の教訓</a:t>
            </a:r>
          </a:p>
        </p:txBody>
      </p:sp>
      <p:sp>
        <p:nvSpPr>
          <p:cNvPr id="10300" name="TextBox 10299"/>
          <p:cNvSpPr txBox="1"/>
          <p:nvPr/>
        </p:nvSpPr>
        <p:spPr>
          <a:xfrm>
            <a:off x="5897880" y="2148840"/>
            <a:ext cx="283464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被害報告のうち</a:t>
            </a:r>
          </a:p>
        </p:txBody>
      </p:sp>
      <p:sp>
        <p:nvSpPr>
          <p:cNvPr id="10301" name="TextBox 10300"/>
          <p:cNvSpPr txBox="1"/>
          <p:nvPr/>
        </p:nvSpPr>
        <p:spPr>
          <a:xfrm>
            <a:off x="5897880" y="242316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55.7</a:t>
            </a:r>
            <a:r>
              <a:rPr sz="2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％</a:t>
            </a:r>
          </a:p>
        </p:txBody>
      </p:sp>
      <p:sp>
        <p:nvSpPr>
          <p:cNvPr id="10302" name="TextBox 10301"/>
          <p:cNvSpPr txBox="1"/>
          <p:nvPr/>
        </p:nvSpPr>
        <p:spPr>
          <a:xfrm>
            <a:off x="5897880" y="3246120"/>
            <a:ext cx="283464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浸水想定区域の「外」</a:t>
            </a:r>
            <a:r>
              <a:rPr sz="13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で発生</a:t>
            </a:r>
          </a:p>
        </p:txBody>
      </p:sp>
      <p:sp>
        <p:nvSpPr>
          <p:cNvPr id="10303" name="TextBox 10302"/>
          <p:cNvSpPr txBox="1"/>
          <p:nvPr/>
        </p:nvSpPr>
        <p:spPr>
          <a:xfrm>
            <a:off x="5897880" y="3931920"/>
            <a:ext cx="2834640" cy="1371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約2万件の浸水被害報告の分析結果。ハザードマップで色が付いていない場所も「安全」とは限らないことが明らかになりました。</a:t>
            </a:r>
          </a:p>
        </p:txBody>
      </p:sp>
      <p:sp>
        <p:nvSpPr>
          <p:cNvPr id="10304" name="TextBox 10303"/>
          <p:cNvSpPr txBox="1"/>
          <p:nvPr/>
        </p:nvSpPr>
        <p:spPr>
          <a:xfrm>
            <a:off x="283464" y="5989320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出典：国土交通省「令和元年の水害被害額（確報値）」、気象庁「低気圧と前線による大雨 令和7年8月6日～8月12日（速報）」、日本気象協会 tenki.jp（2026年8月14日）、ウェザーニューズ（2026年8月14日）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提案の背景③　ハザードマップの限界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ハザードマップだけでは「具体的な対策」まで決められない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1837943" y="1600200"/>
            <a:ext cx="3511296" cy="4114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公表ハザードマップ</a:t>
            </a:r>
          </a:p>
        </p:txBody>
      </p:sp>
      <p:sp>
        <p:nvSpPr>
          <p:cNvPr id="10288" name="Rectangle 10287"/>
          <p:cNvSpPr/>
          <p:nvPr/>
        </p:nvSpPr>
        <p:spPr>
          <a:xfrm>
            <a:off x="5349240" y="1600200"/>
            <a:ext cx="3511296" cy="41148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浸水シミュレーション（当社）</a:t>
            </a:r>
          </a:p>
        </p:txBody>
      </p:sp>
      <p:sp>
        <p:nvSpPr>
          <p:cNvPr id="10289" name="Rectangle 10288"/>
          <p:cNvSpPr/>
          <p:nvPr/>
        </p:nvSpPr>
        <p:spPr>
          <a:xfrm>
            <a:off x="283464" y="2057400"/>
            <a:ext cx="1508760" cy="658368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分かること</a:t>
            </a:r>
          </a:p>
        </p:txBody>
      </p:sp>
      <p:sp>
        <p:nvSpPr>
          <p:cNvPr id="10290" name="Rectangle 10289"/>
          <p:cNvSpPr/>
          <p:nvPr/>
        </p:nvSpPr>
        <p:spPr>
          <a:xfrm>
            <a:off x="1837943" y="2057400"/>
            <a:ext cx="3465576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エリアごとの想定最大浸水深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5349240" y="2057400"/>
            <a:ext cx="3511296" cy="658368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○　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拠点構内の浸水深を、建物・設備単位の細かさで把握</a:t>
            </a:r>
          </a:p>
        </p:txBody>
      </p:sp>
      <p:sp>
        <p:nvSpPr>
          <p:cNvPr id="10292" name="Rectangle 10291"/>
          <p:cNvSpPr/>
          <p:nvPr/>
        </p:nvSpPr>
        <p:spPr>
          <a:xfrm>
            <a:off x="283464" y="2770632"/>
            <a:ext cx="1508760" cy="658368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時間の情報</a:t>
            </a:r>
          </a:p>
        </p:txBody>
      </p:sp>
      <p:sp>
        <p:nvSpPr>
          <p:cNvPr id="10293" name="Rectangle 10292"/>
          <p:cNvSpPr/>
          <p:nvPr/>
        </p:nvSpPr>
        <p:spPr>
          <a:xfrm>
            <a:off x="1837943" y="2770632"/>
            <a:ext cx="3465576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×　いつ浸水するかは分からない</a:t>
            </a:r>
          </a:p>
        </p:txBody>
      </p:sp>
      <p:sp>
        <p:nvSpPr>
          <p:cNvPr id="10294" name="Rectangle 10293"/>
          <p:cNvSpPr/>
          <p:nvPr/>
        </p:nvSpPr>
        <p:spPr>
          <a:xfrm>
            <a:off x="5349240" y="2770632"/>
            <a:ext cx="3511296" cy="658368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○　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破堤から構内到達・ピーク・水が引くまでの時間を推定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283464" y="3483864"/>
            <a:ext cx="1508760" cy="658368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浸水経路</a:t>
            </a:r>
          </a:p>
        </p:txBody>
      </p:sp>
      <p:sp>
        <p:nvSpPr>
          <p:cNvPr id="10296" name="Rectangle 10295"/>
          <p:cNvSpPr/>
          <p:nvPr/>
        </p:nvSpPr>
        <p:spPr>
          <a:xfrm>
            <a:off x="1837943" y="3483864"/>
            <a:ext cx="3465576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×　どこから水が来るかは分からない</a:t>
            </a:r>
          </a:p>
        </p:txBody>
      </p:sp>
      <p:sp>
        <p:nvSpPr>
          <p:cNvPr id="10297" name="Rectangle 10296"/>
          <p:cNvSpPr/>
          <p:nvPr/>
        </p:nvSpPr>
        <p:spPr>
          <a:xfrm>
            <a:off x="5349240" y="3483864"/>
            <a:ext cx="3511296" cy="658368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○　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あふれ地点から構内への浸水経路を特定</a:t>
            </a:r>
          </a:p>
        </p:txBody>
      </p:sp>
      <p:sp>
        <p:nvSpPr>
          <p:cNvPr id="10298" name="Rectangle 10297"/>
          <p:cNvSpPr/>
          <p:nvPr/>
        </p:nvSpPr>
        <p:spPr>
          <a:xfrm>
            <a:off x="283464" y="4197096"/>
            <a:ext cx="1508760" cy="658368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対策の効果</a:t>
            </a:r>
          </a:p>
        </p:txBody>
      </p:sp>
      <p:sp>
        <p:nvSpPr>
          <p:cNvPr id="10299" name="Rectangle 10298"/>
          <p:cNvSpPr/>
          <p:nvPr/>
        </p:nvSpPr>
        <p:spPr>
          <a:xfrm>
            <a:off x="1837943" y="4197096"/>
            <a:ext cx="3465576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×　検証できない</a:t>
            </a:r>
          </a:p>
        </p:txBody>
      </p:sp>
      <p:sp>
        <p:nvSpPr>
          <p:cNvPr id="10300" name="Rectangle 10299"/>
          <p:cNvSpPr/>
          <p:nvPr/>
        </p:nvSpPr>
        <p:spPr>
          <a:xfrm>
            <a:off x="5349240" y="4197096"/>
            <a:ext cx="3511296" cy="658368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○　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防水壁・止水板などの設置前後で浸水状況を比較</a:t>
            </a:r>
          </a:p>
        </p:txBody>
      </p:sp>
      <p:sp>
        <p:nvSpPr>
          <p:cNvPr id="10301" name="Rectangle 10300"/>
          <p:cNvSpPr/>
          <p:nvPr/>
        </p:nvSpPr>
        <p:spPr>
          <a:xfrm>
            <a:off x="283464" y="4910328"/>
            <a:ext cx="1508760" cy="658368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想定条件</a:t>
            </a:r>
          </a:p>
        </p:txBody>
      </p:sp>
      <p:sp>
        <p:nvSpPr>
          <p:cNvPr id="10302" name="Rectangle 10301"/>
          <p:cNvSpPr/>
          <p:nvPr/>
        </p:nvSpPr>
        <p:spPr>
          <a:xfrm>
            <a:off x="1837943" y="4910328"/>
            <a:ext cx="3465576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公表されたシナリオのみ</a:t>
            </a:r>
          </a:p>
        </p:txBody>
      </p:sp>
      <p:sp>
        <p:nvSpPr>
          <p:cNvPr id="10303" name="Rectangle 10302"/>
          <p:cNvSpPr/>
          <p:nvPr/>
        </p:nvSpPr>
        <p:spPr>
          <a:xfrm>
            <a:off x="5349240" y="4910328"/>
            <a:ext cx="3511296" cy="658368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9966"/>
                </a:solidFill>
                <a:latin typeface="メイリオ"/>
                <a:ea typeface="メイリオ"/>
                <a:cs typeface="メイリオ"/>
              </a:rPr>
              <a:t>○　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拠点に影響する河川・破堤地点を選定して設定</a:t>
            </a:r>
          </a:p>
        </p:txBody>
      </p:sp>
      <p:sp>
        <p:nvSpPr>
          <p:cNvPr id="10304" name="TextBox 10303"/>
          <p:cNvSpPr txBox="1"/>
          <p:nvPr/>
        </p:nvSpPr>
        <p:spPr>
          <a:xfrm>
            <a:off x="283464" y="5696712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「何時間前に、何を、どこまで」やるかを決めるには、</a:t>
            </a:r>
            <a:r>
              <a:rPr sz="13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時系列の浸水情報</a:t>
            </a:r>
            <a:r>
              <a:rPr sz="13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が欠かせません。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提案の背景④　企業に求められる水災対策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対策にも説明にも、「定量的で伝わる根拠」が求められています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600200"/>
            <a:ext cx="2743200" cy="3246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8" name="Rectangle 10287"/>
          <p:cNvSpPr/>
          <p:nvPr/>
        </p:nvSpPr>
        <p:spPr>
          <a:xfrm>
            <a:off x="283464" y="1600200"/>
            <a:ext cx="2743200" cy="457200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事業継続（BCP）</a:t>
            </a:r>
          </a:p>
        </p:txBody>
      </p:sp>
      <p:sp>
        <p:nvSpPr>
          <p:cNvPr id="10289" name="TextBox 10288"/>
          <p:cNvSpPr txBox="1"/>
          <p:nvPr/>
        </p:nvSpPr>
        <p:spPr>
          <a:xfrm>
            <a:off x="393192" y="2148840"/>
            <a:ext cx="2523744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浸水までの猶予時間に応じた
水災タイムラインの策定</a:t>
            </a:r>
          </a:p>
        </p:txBody>
      </p:sp>
      <p:sp>
        <p:nvSpPr>
          <p:cNvPr id="10290" name="TextBox 10289"/>
          <p:cNvSpPr txBox="1"/>
          <p:nvPr/>
        </p:nvSpPr>
        <p:spPr>
          <a:xfrm>
            <a:off x="393192" y="2834640"/>
            <a:ext cx="2523744" cy="1920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・設備の嵩上げ・移設、在庫退避のタイミング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・従業員の帰宅・避難判断の基準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・復旧までの期間の見積り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3200400" y="1600200"/>
            <a:ext cx="2743200" cy="3246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2" name="Rectangle 10291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設備投資の判断</a:t>
            </a:r>
          </a:p>
        </p:txBody>
      </p:sp>
      <p:sp>
        <p:nvSpPr>
          <p:cNvPr id="10293" name="TextBox 10292"/>
          <p:cNvSpPr txBox="1"/>
          <p:nvPr/>
        </p:nvSpPr>
        <p:spPr>
          <a:xfrm>
            <a:off x="3310128" y="2148840"/>
            <a:ext cx="2523744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止水対策の優先順位と
費用対効果の説明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3310128" y="2834640"/>
            <a:ext cx="2523744" cy="1920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・どの建物・設備から守るべきか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・防水壁の高さ・位置は適切か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・対策前後で被害がどう変わるか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6117336" y="1600200"/>
            <a:ext cx="2743200" cy="3246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6" name="Rectangle 10295"/>
          <p:cNvSpPr/>
          <p:nvPr/>
        </p:nvSpPr>
        <p:spPr>
          <a:xfrm>
            <a:off x="6117336" y="1600200"/>
            <a:ext cx="2743200" cy="457200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情報開示・説明責任</a:t>
            </a:r>
          </a:p>
        </p:txBody>
      </p:sp>
      <p:sp>
        <p:nvSpPr>
          <p:cNvPr id="10297" name="TextBox 10296"/>
          <p:cNvSpPr txBox="1"/>
          <p:nvPr/>
        </p:nvSpPr>
        <p:spPr>
          <a:xfrm>
            <a:off x="6227064" y="2148840"/>
            <a:ext cx="2523744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気候変動による
物理的リスクの開示</a:t>
            </a:r>
          </a:p>
        </p:txBody>
      </p:sp>
      <p:sp>
        <p:nvSpPr>
          <p:cNvPr id="10298" name="TextBox 10297"/>
          <p:cNvSpPr txBox="1"/>
          <p:nvPr/>
        </p:nvSpPr>
        <p:spPr>
          <a:xfrm>
            <a:off x="6227064" y="2834640"/>
            <a:ext cx="2523744" cy="1920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・SSBJ基準の適用が2027年3月期から段階的に開始（時価総額3兆円以上のプライム市場上場企業から）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・取引先・投資家への説明</a:t>
            </a:r>
          </a:p>
        </p:txBody>
      </p:sp>
      <p:sp>
        <p:nvSpPr>
          <p:cNvPr id="10299" name="Down Arrow 10298"/>
          <p:cNvSpPr/>
          <p:nvPr/>
        </p:nvSpPr>
        <p:spPr>
          <a:xfrm>
            <a:off x="4343400" y="4956048"/>
            <a:ext cx="457200" cy="274320"/>
          </a:xfrm>
          <a:prstGeom prst="down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0" name="Rounded Rectangle 10299"/>
          <p:cNvSpPr/>
          <p:nvPr/>
        </p:nvSpPr>
        <p:spPr>
          <a:xfrm>
            <a:off x="283464" y="5321808"/>
            <a:ext cx="8577072" cy="594360"/>
          </a:xfrm>
          <a:prstGeom prst="roundRect">
            <a:avLst>
              <a:gd name="adj" fmla="val 15000"/>
            </a:avLst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浸水シミュレーション × 動画</a:t>
            </a: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　で、拠点ごとの水災リスクを「数値」と「映像」で示します</a:t>
            </a:r>
          </a:p>
        </p:txBody>
      </p:sp>
      <p:sp>
        <p:nvSpPr>
          <p:cNvPr id="10301" name="TextBox 10300"/>
          <p:cNvSpPr txBox="1"/>
          <p:nvPr/>
        </p:nvSpPr>
        <p:spPr>
          <a:xfrm>
            <a:off x="283464" y="6053328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出典：金融審議会「サステナビリティ情報の開示と保証のあり方に関するワーキング・グループ報告」（2026年1月）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ご提案内容　サービスラインナップ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目的と拠点数に応じて、3段階の分析をご用意しています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1472184" y="1572768"/>
            <a:ext cx="2414016" cy="4572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危険度判定</a:t>
            </a:r>
          </a:p>
        </p:txBody>
      </p:sp>
      <p:sp>
        <p:nvSpPr>
          <p:cNvPr id="10288" name="Rectangle 10287"/>
          <p:cNvSpPr/>
          <p:nvPr/>
        </p:nvSpPr>
        <p:spPr>
          <a:xfrm>
            <a:off x="3931920" y="1572768"/>
            <a:ext cx="2414016" cy="457200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簡易シミュレーション</a:t>
            </a:r>
          </a:p>
        </p:txBody>
      </p:sp>
      <p:sp>
        <p:nvSpPr>
          <p:cNvPr id="10289" name="Rectangle 10288"/>
          <p:cNvSpPr/>
          <p:nvPr/>
        </p:nvSpPr>
        <p:spPr>
          <a:xfrm>
            <a:off x="6391656" y="1572768"/>
            <a:ext cx="2414016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詳細シミュレーション</a:t>
            </a:r>
          </a:p>
        </p:txBody>
      </p:sp>
      <p:sp>
        <p:nvSpPr>
          <p:cNvPr id="10290" name="Rounded Rectangle 10289"/>
          <p:cNvSpPr/>
          <p:nvPr/>
        </p:nvSpPr>
        <p:spPr>
          <a:xfrm>
            <a:off x="7891271" y="138988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おすすめ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283464" y="2075688"/>
            <a:ext cx="1143000" cy="868680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分析内容</a:t>
            </a:r>
          </a:p>
        </p:txBody>
      </p:sp>
      <p:sp>
        <p:nvSpPr>
          <p:cNvPr id="10292" name="Rectangle 10291"/>
          <p:cNvSpPr/>
          <p:nvPr/>
        </p:nvSpPr>
        <p:spPr>
          <a:xfrm>
            <a:off x="1472184" y="2075688"/>
            <a:ext cx="2414016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公的な浸水想定情報を調査・整理し、複数拠点の危険度を一括判定</a:t>
            </a:r>
          </a:p>
        </p:txBody>
      </p:sp>
      <p:sp>
        <p:nvSpPr>
          <p:cNvPr id="10293" name="Rectangle 10292"/>
          <p:cNvSpPr/>
          <p:nvPr/>
        </p:nvSpPr>
        <p:spPr>
          <a:xfrm>
            <a:off x="3931920" y="2075688"/>
            <a:ext cx="2414016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洪水分析ソフトで拠点付近の浸水状況（最大値）を細かいメッシュで評価</a:t>
            </a:r>
          </a:p>
        </p:txBody>
      </p:sp>
      <p:sp>
        <p:nvSpPr>
          <p:cNvPr id="10294" name="Rectangle 10293"/>
          <p:cNvSpPr/>
          <p:nvPr/>
        </p:nvSpPr>
        <p:spPr>
          <a:xfrm>
            <a:off x="6391656" y="2075688"/>
            <a:ext cx="2414016" cy="86868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DioVISTA/Flood Simulatorで破堤から浸水・排水までを時系列で解析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283464" y="2990088"/>
            <a:ext cx="1143000" cy="777240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分かること</a:t>
            </a:r>
          </a:p>
        </p:txBody>
      </p:sp>
      <p:sp>
        <p:nvSpPr>
          <p:cNvPr id="10296" name="Rectangle 10295"/>
          <p:cNvSpPr/>
          <p:nvPr/>
        </p:nvSpPr>
        <p:spPr>
          <a:xfrm>
            <a:off x="1472184" y="2990088"/>
            <a:ext cx="2414016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拠点ごとの浸水危険度ランク</a:t>
            </a:r>
          </a:p>
        </p:txBody>
      </p:sp>
      <p:sp>
        <p:nvSpPr>
          <p:cNvPr id="10297" name="Rectangle 10296"/>
          <p:cNvSpPr/>
          <p:nvPr/>
        </p:nvSpPr>
        <p:spPr>
          <a:xfrm>
            <a:off x="3931920" y="2990088"/>
            <a:ext cx="2414016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当社オリジナルの浸水想定マップ（最大浸水深）</a:t>
            </a:r>
          </a:p>
        </p:txBody>
      </p:sp>
      <p:sp>
        <p:nvSpPr>
          <p:cNvPr id="10298" name="Rectangle 10297"/>
          <p:cNvSpPr/>
          <p:nvPr/>
        </p:nvSpPr>
        <p:spPr>
          <a:xfrm>
            <a:off x="6391656" y="2990088"/>
            <a:ext cx="2414016" cy="77724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浸水経路、到達時間、浸水深の時間推移、水が引くまでの時間</a:t>
            </a:r>
          </a:p>
        </p:txBody>
      </p:sp>
      <p:sp>
        <p:nvSpPr>
          <p:cNvPr id="10299" name="Rectangle 10298"/>
          <p:cNvSpPr/>
          <p:nvPr/>
        </p:nvSpPr>
        <p:spPr>
          <a:xfrm>
            <a:off x="283464" y="3813048"/>
            <a:ext cx="1143000" cy="502920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現地調査</a:t>
            </a:r>
          </a:p>
        </p:txBody>
      </p:sp>
      <p:sp>
        <p:nvSpPr>
          <p:cNvPr id="10300" name="Rectangle 10299"/>
          <p:cNvSpPr/>
          <p:nvPr/>
        </p:nvSpPr>
        <p:spPr>
          <a:xfrm>
            <a:off x="1472184" y="3813048"/>
            <a:ext cx="2414016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不要（所在地情報のみ）</a:t>
            </a:r>
          </a:p>
        </p:txBody>
      </p:sp>
      <p:sp>
        <p:nvSpPr>
          <p:cNvPr id="10301" name="Rectangle 10300"/>
          <p:cNvSpPr/>
          <p:nvPr/>
        </p:nvSpPr>
        <p:spPr>
          <a:xfrm>
            <a:off x="3931920" y="3813048"/>
            <a:ext cx="2414016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不要（所在地情報のみ）</a:t>
            </a:r>
          </a:p>
        </p:txBody>
      </p:sp>
      <p:sp>
        <p:nvSpPr>
          <p:cNvPr id="10302" name="Rectangle 10301"/>
          <p:cNvSpPr/>
          <p:nvPr/>
        </p:nvSpPr>
        <p:spPr>
          <a:xfrm>
            <a:off x="6391656" y="3813048"/>
            <a:ext cx="2414016" cy="50292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実施（河川流域・拠点周辺）</a:t>
            </a:r>
          </a:p>
        </p:txBody>
      </p:sp>
      <p:sp>
        <p:nvSpPr>
          <p:cNvPr id="10303" name="Rectangle 10302"/>
          <p:cNvSpPr/>
          <p:nvPr/>
        </p:nvSpPr>
        <p:spPr>
          <a:xfrm>
            <a:off x="283464" y="4361688"/>
            <a:ext cx="1143000" cy="502920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動画作成</a:t>
            </a:r>
          </a:p>
        </p:txBody>
      </p:sp>
      <p:sp>
        <p:nvSpPr>
          <p:cNvPr id="10304" name="Rectangle 10303"/>
          <p:cNvSpPr/>
          <p:nvPr/>
        </p:nvSpPr>
        <p:spPr>
          <a:xfrm>
            <a:off x="1472184" y="4361688"/>
            <a:ext cx="2414016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10305" name="Rectangle 10304"/>
          <p:cNvSpPr/>
          <p:nvPr/>
        </p:nvSpPr>
        <p:spPr>
          <a:xfrm>
            <a:off x="3931920" y="4361688"/>
            <a:ext cx="2414016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ご要望に応じて対応</a:t>
            </a:r>
          </a:p>
        </p:txBody>
      </p:sp>
      <p:sp>
        <p:nvSpPr>
          <p:cNvPr id="10306" name="Rectangle 10305"/>
          <p:cNvSpPr/>
          <p:nvPr/>
        </p:nvSpPr>
        <p:spPr>
          <a:xfrm>
            <a:off x="6391656" y="4361688"/>
            <a:ext cx="2414016" cy="50292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◎　時系列の浸水動画</a:t>
            </a:r>
          </a:p>
        </p:txBody>
      </p:sp>
      <p:sp>
        <p:nvSpPr>
          <p:cNvPr id="10307" name="Rectangle 10306"/>
          <p:cNvSpPr/>
          <p:nvPr/>
        </p:nvSpPr>
        <p:spPr>
          <a:xfrm>
            <a:off x="283464" y="4910327"/>
            <a:ext cx="1143000" cy="777240"/>
          </a:xfrm>
          <a:prstGeom prst="rect">
            <a:avLst/>
          </a:prstGeom>
          <a:solidFill>
            <a:srgbClr val="D6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こんな場合に</a:t>
            </a:r>
          </a:p>
        </p:txBody>
      </p:sp>
      <p:sp>
        <p:nvSpPr>
          <p:cNvPr id="10308" name="Rectangle 10307"/>
          <p:cNvSpPr/>
          <p:nvPr/>
        </p:nvSpPr>
        <p:spPr>
          <a:xfrm>
            <a:off x="1472184" y="4910327"/>
            <a:ext cx="2414016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どの拠点から対策すべきか知りたい</a:t>
            </a:r>
          </a:p>
        </p:txBody>
      </p:sp>
      <p:sp>
        <p:nvSpPr>
          <p:cNvPr id="10309" name="Rectangle 10308"/>
          <p:cNvSpPr/>
          <p:nvPr/>
        </p:nvSpPr>
        <p:spPr>
          <a:xfrm>
            <a:off x="3931920" y="4910327"/>
            <a:ext cx="2414016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ハザードマップより具体的な浸水深を知りたい</a:t>
            </a:r>
          </a:p>
        </p:txBody>
      </p:sp>
      <p:sp>
        <p:nvSpPr>
          <p:cNvPr id="10310" name="Rectangle 10309"/>
          <p:cNvSpPr/>
          <p:nvPr/>
        </p:nvSpPr>
        <p:spPr>
          <a:xfrm>
            <a:off x="6391656" y="4910327"/>
            <a:ext cx="2414016" cy="77724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具体的な対策・BCPを検討したい</a:t>
            </a:r>
          </a:p>
        </p:txBody>
      </p:sp>
      <p:sp>
        <p:nvSpPr>
          <p:cNvPr id="10311" name="TextBox 10310"/>
          <p:cNvSpPr txBox="1"/>
          <p:nvPr/>
        </p:nvSpPr>
        <p:spPr>
          <a:xfrm>
            <a:off x="283464" y="5779007"/>
            <a:ext cx="85953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 危険度判定・簡易シミュレーションで対象拠点を絞り込み、重要拠点を詳細シミュレーションで深掘りする段階的な進め方も可能です。</a:t>
            </a:r>
          </a:p>
        </p:txBody>
      </p:sp>
      <p:sp>
        <p:nvSpPr>
          <p:cNvPr id="10312" name="TextBox 10311"/>
          <p:cNvSpPr txBox="1"/>
          <p:nvPr/>
        </p:nvSpPr>
        <p:spPr>
          <a:xfrm>
            <a:off x="283464" y="6144768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※DioVISTAは㈱日立パワーソリューションズの登録商標です。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ご提案内容　詳細浸水シミュレーション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破堤から浸水、排水までを時系列で再現し、拠点の「弱点」を特定します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572768"/>
            <a:ext cx="201168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サービスの概要</a:t>
            </a:r>
          </a:p>
        </p:txBody>
      </p:sp>
      <p:sp>
        <p:nvSpPr>
          <p:cNvPr id="10288" name="TextBox 10287"/>
          <p:cNvSpPr txBox="1"/>
          <p:nvPr/>
        </p:nvSpPr>
        <p:spPr>
          <a:xfrm>
            <a:off x="283464" y="1920240"/>
            <a:ext cx="4846320" cy="21945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水災分析ソフト（DioVISTA/Flood Simulator）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を使用し、対象拠点の地形・河川等の各種データをもとに浸水シミュレーションを実施します。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破堤から拠点構内への</a:t>
            </a: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浸水経路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浸水影響の時系列推移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など、ハザードマップや簡易シミュレーションでは把握できない情報を分析します。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堤防決壊から構内浸水まで、水が引くまでの</a:t>
            </a: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時間を推定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し、より具体的な水災対策の検討につなげます。</a:t>
            </a:r>
          </a:p>
        </p:txBody>
      </p:sp>
      <p:pic>
        <p:nvPicPr>
          <p:cNvPr id="10289" name="Picture 102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572768"/>
            <a:ext cx="3511296" cy="2715483"/>
          </a:xfrm>
          <a:prstGeom prst="rect">
            <a:avLst/>
          </a:prstGeom>
        </p:spPr>
      </p:pic>
      <p:sp>
        <p:nvSpPr>
          <p:cNvPr id="10290" name="TextBox 10289"/>
          <p:cNvSpPr txBox="1"/>
          <p:nvPr/>
        </p:nvSpPr>
        <p:spPr>
          <a:xfrm>
            <a:off x="5349240" y="4315968"/>
            <a:ext cx="351129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DioVISTA/Flood Simulator 解析画面（イメージ）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283464" y="4224528"/>
            <a:ext cx="201168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サービスの流れ</a:t>
            </a:r>
          </a:p>
        </p:txBody>
      </p:sp>
      <p:sp>
        <p:nvSpPr>
          <p:cNvPr id="10292" name="Rounded Rectangle 10291"/>
          <p:cNvSpPr/>
          <p:nvPr/>
        </p:nvSpPr>
        <p:spPr>
          <a:xfrm>
            <a:off x="283464" y="4617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詳細データの入手</a:t>
            </a:r>
          </a:p>
        </p:txBody>
      </p:sp>
      <p:sp>
        <p:nvSpPr>
          <p:cNvPr id="10293" name="TextBox 10292"/>
          <p:cNvSpPr txBox="1"/>
          <p:nvPr/>
        </p:nvSpPr>
        <p:spPr>
          <a:xfrm>
            <a:off x="283464" y="5047488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河川管理者の情報等から破堤・越流が懸念される河川を特定</a:t>
            </a:r>
          </a:p>
        </p:txBody>
      </p:sp>
      <p:sp>
        <p:nvSpPr>
          <p:cNvPr id="10294" name="Right Arrow 10293"/>
          <p:cNvSpPr/>
          <p:nvPr/>
        </p:nvSpPr>
        <p:spPr>
          <a:xfrm>
            <a:off x="2304288" y="4663440"/>
            <a:ext cx="155448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5" name="Rounded Rectangle 10294"/>
          <p:cNvSpPr/>
          <p:nvPr/>
        </p:nvSpPr>
        <p:spPr>
          <a:xfrm>
            <a:off x="2468880" y="4617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現場調査</a:t>
            </a:r>
          </a:p>
        </p:txBody>
      </p:sp>
      <p:sp>
        <p:nvSpPr>
          <p:cNvPr id="10296" name="TextBox 10295"/>
          <p:cNvSpPr txBox="1"/>
          <p:nvPr/>
        </p:nvSpPr>
        <p:spPr>
          <a:xfrm>
            <a:off x="2468880" y="5047488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河川流域・対象拠点周辺を当社技術者が調査</a:t>
            </a:r>
          </a:p>
        </p:txBody>
      </p:sp>
      <p:sp>
        <p:nvSpPr>
          <p:cNvPr id="10297" name="Right Arrow 10296"/>
          <p:cNvSpPr/>
          <p:nvPr/>
        </p:nvSpPr>
        <p:spPr>
          <a:xfrm>
            <a:off x="4489704" y="4663440"/>
            <a:ext cx="155448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8" name="Rounded Rectangle 10297"/>
          <p:cNvSpPr/>
          <p:nvPr/>
        </p:nvSpPr>
        <p:spPr>
          <a:xfrm>
            <a:off x="4654296" y="4617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時系列シミュレーション</a:t>
            </a:r>
          </a:p>
        </p:txBody>
      </p:sp>
      <p:sp>
        <p:nvSpPr>
          <p:cNvPr id="10299" name="TextBox 10298"/>
          <p:cNvSpPr txBox="1"/>
          <p:nvPr/>
        </p:nvSpPr>
        <p:spPr>
          <a:xfrm>
            <a:off x="4654296" y="5047488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氾濫流による浸水経路・浸水深の推移を解析</a:t>
            </a:r>
          </a:p>
        </p:txBody>
      </p:sp>
      <p:sp>
        <p:nvSpPr>
          <p:cNvPr id="10300" name="Right Arrow 10299"/>
          <p:cNvSpPr/>
          <p:nvPr/>
        </p:nvSpPr>
        <p:spPr>
          <a:xfrm>
            <a:off x="6675120" y="4663440"/>
            <a:ext cx="155448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1" name="Rounded Rectangle 10300"/>
          <p:cNvSpPr/>
          <p:nvPr/>
        </p:nvSpPr>
        <p:spPr>
          <a:xfrm>
            <a:off x="6839712" y="4617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リスク分析・ご提案</a:t>
            </a:r>
          </a:p>
        </p:txBody>
      </p:sp>
      <p:sp>
        <p:nvSpPr>
          <p:cNvPr id="10302" name="TextBox 10301"/>
          <p:cNvSpPr txBox="1"/>
          <p:nvPr/>
        </p:nvSpPr>
        <p:spPr>
          <a:xfrm>
            <a:off x="6839712" y="5047488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結果をもとに再度現場を確認し、対策をご提案</a:t>
            </a:r>
          </a:p>
        </p:txBody>
      </p:sp>
      <p:sp>
        <p:nvSpPr>
          <p:cNvPr id="10303" name="TextBox 10302"/>
          <p:cNvSpPr txBox="1"/>
          <p:nvPr/>
        </p:nvSpPr>
        <p:spPr>
          <a:xfrm>
            <a:off x="283464" y="6144768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※DioVISTAは㈱日立パワーソリューションズの登録商標です。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動画作成　浸水シミュレーション動画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「見れば分かる」シミュレーション動画で、水災リスクを社内に伝えます</a:t>
            </a:r>
          </a:p>
        </p:txBody>
      </p:sp>
      <p:pic>
        <p:nvPicPr>
          <p:cNvPr id="10287" name="Picture 1028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572768"/>
            <a:ext cx="3672408" cy="2926080"/>
          </a:xfrm>
          <a:prstGeom prst="rect">
            <a:avLst/>
          </a:prstGeom>
        </p:spPr>
      </p:pic>
      <p:sp>
        <p:nvSpPr>
          <p:cNvPr id="10288" name="Oval 10287"/>
          <p:cNvSpPr/>
          <p:nvPr/>
        </p:nvSpPr>
        <p:spPr>
          <a:xfrm>
            <a:off x="1735620" y="265176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9" name="Isosceles Triangle 10288"/>
          <p:cNvSpPr/>
          <p:nvPr/>
        </p:nvSpPr>
        <p:spPr>
          <a:xfrm rot="5400000">
            <a:off x="1964220" y="2834640"/>
            <a:ext cx="402336" cy="402336"/>
          </a:xfrm>
          <a:prstGeom prst="triangl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0" name="TextBox 10289"/>
          <p:cNvSpPr txBox="1"/>
          <p:nvPr/>
        </p:nvSpPr>
        <p:spPr>
          <a:xfrm>
            <a:off x="283464" y="4517136"/>
            <a:ext cx="3672408" cy="25603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浸水シミュレーション動画（イメージ）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4230192" y="1572768"/>
            <a:ext cx="4630344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動画の特長</a:t>
            </a:r>
          </a:p>
        </p:txBody>
      </p:sp>
      <p:sp>
        <p:nvSpPr>
          <p:cNvPr id="10292" name="Oval 10291"/>
          <p:cNvSpPr/>
          <p:nvPr/>
        </p:nvSpPr>
        <p:spPr>
          <a:xfrm>
            <a:off x="4257624" y="2002536"/>
            <a:ext cx="310896" cy="310896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10293" name="TextBox 10292"/>
          <p:cNvSpPr txBox="1"/>
          <p:nvPr/>
        </p:nvSpPr>
        <p:spPr>
          <a:xfrm>
            <a:off x="4659959" y="1947672"/>
            <a:ext cx="4200576" cy="29260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時間の流れがそのまま見える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4659959" y="2231136"/>
            <a:ext cx="4200576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破堤の瞬間から、水が広がり、引いていくまでを再生</a:t>
            </a:r>
          </a:p>
        </p:txBody>
      </p:sp>
      <p:sp>
        <p:nvSpPr>
          <p:cNvPr id="10295" name="Oval 10294"/>
          <p:cNvSpPr/>
          <p:nvPr/>
        </p:nvSpPr>
        <p:spPr>
          <a:xfrm>
            <a:off x="4257624" y="2642615"/>
            <a:ext cx="310896" cy="310896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10296" name="TextBox 10295"/>
          <p:cNvSpPr txBox="1"/>
          <p:nvPr/>
        </p:nvSpPr>
        <p:spPr>
          <a:xfrm>
            <a:off x="4659959" y="2587751"/>
            <a:ext cx="4200576" cy="29260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浸水経路が一目で分かる</a:t>
            </a:r>
          </a:p>
        </p:txBody>
      </p:sp>
      <p:sp>
        <p:nvSpPr>
          <p:cNvPr id="10297" name="TextBox 10296"/>
          <p:cNvSpPr txBox="1"/>
          <p:nvPr/>
        </p:nvSpPr>
        <p:spPr>
          <a:xfrm>
            <a:off x="4659959" y="2871215"/>
            <a:ext cx="4200576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あふれた水がどこから構内に入るかを可視化</a:t>
            </a:r>
          </a:p>
        </p:txBody>
      </p:sp>
      <p:sp>
        <p:nvSpPr>
          <p:cNvPr id="10298" name="Oval 10297"/>
          <p:cNvSpPr/>
          <p:nvPr/>
        </p:nvSpPr>
        <p:spPr>
          <a:xfrm>
            <a:off x="4257624" y="3282696"/>
            <a:ext cx="310896" cy="310896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10299" name="TextBox 10298"/>
          <p:cNvSpPr txBox="1"/>
          <p:nvPr/>
        </p:nvSpPr>
        <p:spPr>
          <a:xfrm>
            <a:off x="4659959" y="3227832"/>
            <a:ext cx="4200576" cy="29260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専門知識がなくても伝わる</a:t>
            </a:r>
          </a:p>
        </p:txBody>
      </p:sp>
      <p:sp>
        <p:nvSpPr>
          <p:cNvPr id="10300" name="TextBox 10299"/>
          <p:cNvSpPr txBox="1"/>
          <p:nvPr/>
        </p:nvSpPr>
        <p:spPr>
          <a:xfrm>
            <a:off x="4659959" y="3511296"/>
            <a:ext cx="4200576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経営層から現場の従業員まで直感的に理解</a:t>
            </a:r>
          </a:p>
        </p:txBody>
      </p:sp>
      <p:sp>
        <p:nvSpPr>
          <p:cNvPr id="10301" name="Oval 10300"/>
          <p:cNvSpPr/>
          <p:nvPr/>
        </p:nvSpPr>
        <p:spPr>
          <a:xfrm>
            <a:off x="4257624" y="3922776"/>
            <a:ext cx="310896" cy="310896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10302" name="TextBox 10301"/>
          <p:cNvSpPr txBox="1"/>
          <p:nvPr/>
        </p:nvSpPr>
        <p:spPr>
          <a:xfrm>
            <a:off x="4659959" y="3867912"/>
            <a:ext cx="4200576" cy="29260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繰り返し使える</a:t>
            </a:r>
          </a:p>
        </p:txBody>
      </p:sp>
      <p:sp>
        <p:nvSpPr>
          <p:cNvPr id="10303" name="TextBox 10302"/>
          <p:cNvSpPr txBox="1"/>
          <p:nvPr/>
        </p:nvSpPr>
        <p:spPr>
          <a:xfrm>
            <a:off x="4659959" y="4151376"/>
            <a:ext cx="4200576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報告会、社内会議、防災研修で何度でも上映</a:t>
            </a:r>
          </a:p>
        </p:txBody>
      </p:sp>
      <p:sp>
        <p:nvSpPr>
          <p:cNvPr id="10304" name="Rectangle 10303"/>
          <p:cNvSpPr/>
          <p:nvPr/>
        </p:nvSpPr>
        <p:spPr>
          <a:xfrm>
            <a:off x="283464" y="4828032"/>
            <a:ext cx="365760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動画で分かること（時系列のイメージ）</a:t>
            </a:r>
          </a:p>
        </p:txBody>
      </p:sp>
      <p:sp>
        <p:nvSpPr>
          <p:cNvPr id="10305" name="Rectangle 10304"/>
          <p:cNvSpPr/>
          <p:nvPr/>
        </p:nvSpPr>
        <p:spPr>
          <a:xfrm>
            <a:off x="283464" y="5193792"/>
            <a:ext cx="2011680" cy="868680"/>
          </a:xfrm>
          <a:prstGeom prst="rect">
            <a:avLst/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6" name="TextBox 10305"/>
          <p:cNvSpPr txBox="1"/>
          <p:nvPr/>
        </p:nvSpPr>
        <p:spPr>
          <a:xfrm>
            <a:off x="356616" y="5221224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T＝0</a:t>
            </a:r>
          </a:p>
        </p:txBody>
      </p:sp>
      <p:sp>
        <p:nvSpPr>
          <p:cNvPr id="10307" name="TextBox 10306"/>
          <p:cNvSpPr txBox="1"/>
          <p:nvPr/>
        </p:nvSpPr>
        <p:spPr>
          <a:xfrm>
            <a:off x="356616" y="5468112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破堤・越流の発生</a:t>
            </a:r>
          </a:p>
        </p:txBody>
      </p:sp>
      <p:sp>
        <p:nvSpPr>
          <p:cNvPr id="10308" name="TextBox 10307"/>
          <p:cNvSpPr txBox="1"/>
          <p:nvPr/>
        </p:nvSpPr>
        <p:spPr>
          <a:xfrm>
            <a:off x="356616" y="5715000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河川のあふれ地点</a:t>
            </a:r>
          </a:p>
        </p:txBody>
      </p:sp>
      <p:sp>
        <p:nvSpPr>
          <p:cNvPr id="10309" name="Right Arrow 10308"/>
          <p:cNvSpPr/>
          <p:nvPr/>
        </p:nvSpPr>
        <p:spPr>
          <a:xfrm>
            <a:off x="2304288" y="5468112"/>
            <a:ext cx="155448" cy="292608"/>
          </a:xfrm>
          <a:prstGeom prst="rightArrow">
            <a:avLst/>
          </a:prstGeom>
          <a:solidFill>
            <a:srgbClr val="1F5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0" name="Rectangle 10309"/>
          <p:cNvSpPr/>
          <p:nvPr/>
        </p:nvSpPr>
        <p:spPr>
          <a:xfrm>
            <a:off x="2468880" y="5193792"/>
            <a:ext cx="2011680" cy="868680"/>
          </a:xfrm>
          <a:prstGeom prst="rect">
            <a:avLst/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1" name="TextBox 10310"/>
          <p:cNvSpPr txBox="1"/>
          <p:nvPr/>
        </p:nvSpPr>
        <p:spPr>
          <a:xfrm>
            <a:off x="2542032" y="5221224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T＋◯時間</a:t>
            </a:r>
          </a:p>
        </p:txBody>
      </p:sp>
      <p:sp>
        <p:nvSpPr>
          <p:cNvPr id="10312" name="TextBox 10311"/>
          <p:cNvSpPr txBox="1"/>
          <p:nvPr/>
        </p:nvSpPr>
        <p:spPr>
          <a:xfrm>
            <a:off x="2542032" y="5468112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敷地境界へ到達</a:t>
            </a:r>
          </a:p>
        </p:txBody>
      </p:sp>
      <p:sp>
        <p:nvSpPr>
          <p:cNvPr id="10313" name="TextBox 10312"/>
          <p:cNvSpPr txBox="1"/>
          <p:nvPr/>
        </p:nvSpPr>
        <p:spPr>
          <a:xfrm>
            <a:off x="2542032" y="5715000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浸水経路・到達時刻</a:t>
            </a:r>
          </a:p>
        </p:txBody>
      </p:sp>
      <p:sp>
        <p:nvSpPr>
          <p:cNvPr id="10314" name="Right Arrow 10313"/>
          <p:cNvSpPr/>
          <p:nvPr/>
        </p:nvSpPr>
        <p:spPr>
          <a:xfrm>
            <a:off x="4489704" y="5468112"/>
            <a:ext cx="155448" cy="292608"/>
          </a:xfrm>
          <a:prstGeom prst="rightArrow">
            <a:avLst/>
          </a:prstGeom>
          <a:solidFill>
            <a:srgbClr val="1F5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5" name="Rectangle 10314"/>
          <p:cNvSpPr/>
          <p:nvPr/>
        </p:nvSpPr>
        <p:spPr>
          <a:xfrm>
            <a:off x="4654296" y="5193792"/>
            <a:ext cx="2011680" cy="868680"/>
          </a:xfrm>
          <a:prstGeom prst="rect">
            <a:avLst/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6" name="TextBox 10315"/>
          <p:cNvSpPr txBox="1"/>
          <p:nvPr/>
        </p:nvSpPr>
        <p:spPr>
          <a:xfrm>
            <a:off x="4727448" y="5221224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T＋◯時間</a:t>
            </a:r>
          </a:p>
        </p:txBody>
      </p:sp>
      <p:sp>
        <p:nvSpPr>
          <p:cNvPr id="10317" name="TextBox 10316"/>
          <p:cNvSpPr txBox="1"/>
          <p:nvPr/>
        </p:nvSpPr>
        <p:spPr>
          <a:xfrm>
            <a:off x="4727448" y="5468112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構内の浸水ピーク</a:t>
            </a:r>
          </a:p>
        </p:txBody>
      </p:sp>
      <p:sp>
        <p:nvSpPr>
          <p:cNvPr id="10318" name="TextBox 10317"/>
          <p:cNvSpPr txBox="1"/>
          <p:nvPr/>
        </p:nvSpPr>
        <p:spPr>
          <a:xfrm>
            <a:off x="4727448" y="5715000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建物・設備ごとの浸水深</a:t>
            </a:r>
          </a:p>
        </p:txBody>
      </p:sp>
      <p:sp>
        <p:nvSpPr>
          <p:cNvPr id="10319" name="Right Arrow 10318"/>
          <p:cNvSpPr/>
          <p:nvPr/>
        </p:nvSpPr>
        <p:spPr>
          <a:xfrm>
            <a:off x="6675120" y="5468112"/>
            <a:ext cx="155448" cy="292608"/>
          </a:xfrm>
          <a:prstGeom prst="rightArrow">
            <a:avLst/>
          </a:prstGeom>
          <a:solidFill>
            <a:srgbClr val="1F5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0" name="Rectangle 10319"/>
          <p:cNvSpPr/>
          <p:nvPr/>
        </p:nvSpPr>
        <p:spPr>
          <a:xfrm>
            <a:off x="6839712" y="5193792"/>
            <a:ext cx="2011680" cy="868680"/>
          </a:xfrm>
          <a:prstGeom prst="rect">
            <a:avLst/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1" name="TextBox 10320"/>
          <p:cNvSpPr txBox="1"/>
          <p:nvPr/>
        </p:nvSpPr>
        <p:spPr>
          <a:xfrm>
            <a:off x="6912864" y="5221224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T＋◯時間</a:t>
            </a:r>
          </a:p>
        </p:txBody>
      </p:sp>
      <p:sp>
        <p:nvSpPr>
          <p:cNvPr id="10322" name="TextBox 10321"/>
          <p:cNvSpPr txBox="1"/>
          <p:nvPr/>
        </p:nvSpPr>
        <p:spPr>
          <a:xfrm>
            <a:off x="6912864" y="5468112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水が引く</a:t>
            </a:r>
          </a:p>
        </p:txBody>
      </p:sp>
      <p:sp>
        <p:nvSpPr>
          <p:cNvPr id="10323" name="TextBox 10322"/>
          <p:cNvSpPr txBox="1"/>
          <p:nvPr/>
        </p:nvSpPr>
        <p:spPr>
          <a:xfrm>
            <a:off x="6912864" y="5715000"/>
            <a:ext cx="1865376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浸水の継続時間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動画作成　動画の活用シーン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一度つくった動画が、意思決定から教育・開示まで幅広く役立ちます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600200"/>
            <a:ext cx="4242816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8" name="Oval 10287"/>
          <p:cNvSpPr/>
          <p:nvPr/>
        </p:nvSpPr>
        <p:spPr>
          <a:xfrm>
            <a:off x="448056" y="1783080"/>
            <a:ext cx="457200" cy="457200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289" name="TextBox 10288"/>
          <p:cNvSpPr txBox="1"/>
          <p:nvPr/>
        </p:nvSpPr>
        <p:spPr>
          <a:xfrm>
            <a:off x="1033271" y="1801368"/>
            <a:ext cx="33832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経営層への説明・投資判断</a:t>
            </a:r>
          </a:p>
        </p:txBody>
      </p:sp>
      <p:sp>
        <p:nvSpPr>
          <p:cNvPr id="10290" name="TextBox 10289"/>
          <p:cNvSpPr txBox="1"/>
          <p:nvPr/>
        </p:nvSpPr>
        <p:spPr>
          <a:xfrm>
            <a:off x="466344" y="2377440"/>
            <a:ext cx="388620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対策の必要性を映像で示し、止水設備や移設などの投資判断を後押しします。</a:t>
            </a:r>
          </a:p>
        </p:txBody>
      </p:sp>
      <p:sp>
        <p:nvSpPr>
          <p:cNvPr id="10291" name="Rounded Rectangle 10290"/>
          <p:cNvSpPr/>
          <p:nvPr/>
        </p:nvSpPr>
        <p:spPr>
          <a:xfrm>
            <a:off x="466344" y="3154680"/>
            <a:ext cx="3886200" cy="274320"/>
          </a:xfrm>
          <a:prstGeom prst="roundRect">
            <a:avLst>
              <a:gd name="adj" fmla="val 50000"/>
            </a:avLst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活用場面：取締役会・経営会議</a:t>
            </a:r>
          </a:p>
        </p:txBody>
      </p:sp>
      <p:sp>
        <p:nvSpPr>
          <p:cNvPr id="10292" name="Rectangle 10291"/>
          <p:cNvSpPr/>
          <p:nvPr/>
        </p:nvSpPr>
        <p:spPr>
          <a:xfrm>
            <a:off x="4617720" y="1600200"/>
            <a:ext cx="4242816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3" name="Oval 10292"/>
          <p:cNvSpPr/>
          <p:nvPr/>
        </p:nvSpPr>
        <p:spPr>
          <a:xfrm>
            <a:off x="4782312" y="1783080"/>
            <a:ext cx="457200" cy="457200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5367528" y="1801368"/>
            <a:ext cx="33832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従業員教育・防災訓練</a:t>
            </a:r>
          </a:p>
        </p:txBody>
      </p:sp>
      <p:sp>
        <p:nvSpPr>
          <p:cNvPr id="10295" name="TextBox 10294"/>
          <p:cNvSpPr txBox="1"/>
          <p:nvPr/>
        </p:nvSpPr>
        <p:spPr>
          <a:xfrm>
            <a:off x="4800600" y="2377440"/>
            <a:ext cx="388620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自分の職場が浸水する様子を見ることで、当事者意識と避難行動の理解が高まります。</a:t>
            </a:r>
          </a:p>
        </p:txBody>
      </p:sp>
      <p:sp>
        <p:nvSpPr>
          <p:cNvPr id="10296" name="Rounded Rectangle 10295"/>
          <p:cNvSpPr/>
          <p:nvPr/>
        </p:nvSpPr>
        <p:spPr>
          <a:xfrm>
            <a:off x="4800600" y="3154680"/>
            <a:ext cx="3886200" cy="274320"/>
          </a:xfrm>
          <a:prstGeom prst="roundRect">
            <a:avLst>
              <a:gd name="adj" fmla="val 50000"/>
            </a:avLst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活用場面：安全衛生委員会・新人研修</a:t>
            </a:r>
          </a:p>
        </p:txBody>
      </p:sp>
      <p:sp>
        <p:nvSpPr>
          <p:cNvPr id="10297" name="Rectangle 10296"/>
          <p:cNvSpPr/>
          <p:nvPr/>
        </p:nvSpPr>
        <p:spPr>
          <a:xfrm>
            <a:off x="283464" y="3749039"/>
            <a:ext cx="4242816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8" name="Oval 10297"/>
          <p:cNvSpPr/>
          <p:nvPr/>
        </p:nvSpPr>
        <p:spPr>
          <a:xfrm>
            <a:off x="448056" y="3931920"/>
            <a:ext cx="457200" cy="457200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0299" name="TextBox 10298"/>
          <p:cNvSpPr txBox="1"/>
          <p:nvPr/>
        </p:nvSpPr>
        <p:spPr>
          <a:xfrm>
            <a:off x="1033271" y="3950207"/>
            <a:ext cx="33832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水災タイムライン・BCP策定</a:t>
            </a:r>
          </a:p>
        </p:txBody>
      </p:sp>
      <p:sp>
        <p:nvSpPr>
          <p:cNvPr id="10300" name="TextBox 10299"/>
          <p:cNvSpPr txBox="1"/>
          <p:nvPr/>
        </p:nvSpPr>
        <p:spPr>
          <a:xfrm>
            <a:off x="466344" y="4526279"/>
            <a:ext cx="388620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到達時間・浸水継続時間をもとに、「いつ・誰が・何をするか」を具体化します。</a:t>
            </a:r>
          </a:p>
        </p:txBody>
      </p:sp>
      <p:sp>
        <p:nvSpPr>
          <p:cNvPr id="10301" name="Rounded Rectangle 10300"/>
          <p:cNvSpPr/>
          <p:nvPr/>
        </p:nvSpPr>
        <p:spPr>
          <a:xfrm>
            <a:off x="466344" y="5303520"/>
            <a:ext cx="3886200" cy="274320"/>
          </a:xfrm>
          <a:prstGeom prst="roundRect">
            <a:avLst>
              <a:gd name="adj" fmla="val 50000"/>
            </a:avLst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活用場面：BCP見直し・訓練シナリオ</a:t>
            </a:r>
          </a:p>
        </p:txBody>
      </p:sp>
      <p:sp>
        <p:nvSpPr>
          <p:cNvPr id="10302" name="Rectangle 10301"/>
          <p:cNvSpPr/>
          <p:nvPr/>
        </p:nvSpPr>
        <p:spPr>
          <a:xfrm>
            <a:off x="4617720" y="3749039"/>
            <a:ext cx="4242816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3" name="Oval 10302"/>
          <p:cNvSpPr/>
          <p:nvPr/>
        </p:nvSpPr>
        <p:spPr>
          <a:xfrm>
            <a:off x="4782312" y="3931920"/>
            <a:ext cx="457200" cy="457200"/>
          </a:xfrm>
          <a:prstGeom prst="ellipse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0304" name="TextBox 10303"/>
          <p:cNvSpPr txBox="1"/>
          <p:nvPr/>
        </p:nvSpPr>
        <p:spPr>
          <a:xfrm>
            <a:off x="5367528" y="3950207"/>
            <a:ext cx="33832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取引先・投資家への説明</a:t>
            </a:r>
          </a:p>
        </p:txBody>
      </p:sp>
      <p:sp>
        <p:nvSpPr>
          <p:cNvPr id="10305" name="TextBox 10304"/>
          <p:cNvSpPr txBox="1"/>
          <p:nvPr/>
        </p:nvSpPr>
        <p:spPr>
          <a:xfrm>
            <a:off x="4800600" y="4526279"/>
            <a:ext cx="388620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拠点の物理的リスクと対策状況を、分かりやすい根拠として示せます。</a:t>
            </a:r>
          </a:p>
        </p:txBody>
      </p:sp>
      <p:sp>
        <p:nvSpPr>
          <p:cNvPr id="10306" name="Rounded Rectangle 10305"/>
          <p:cNvSpPr/>
          <p:nvPr/>
        </p:nvSpPr>
        <p:spPr>
          <a:xfrm>
            <a:off x="4800600" y="5303520"/>
            <a:ext cx="3886200" cy="274320"/>
          </a:xfrm>
          <a:prstGeom prst="roundRect">
            <a:avLst>
              <a:gd name="adj" fmla="val 50000"/>
            </a:avLst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活用場面：サプライチェーン説明・開示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動画作成　対策効果の検証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対策の「前」と「後」を動画で比較し、効果を確かめてから投資できます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600200"/>
            <a:ext cx="4197096" cy="43891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対策前</a:t>
            </a:r>
          </a:p>
        </p:txBody>
      </p:sp>
      <p:sp>
        <p:nvSpPr>
          <p:cNvPr id="10288" name="Rectangle 10287"/>
          <p:cNvSpPr/>
          <p:nvPr/>
        </p:nvSpPr>
        <p:spPr>
          <a:xfrm>
            <a:off x="283464" y="2039112"/>
            <a:ext cx="4197096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9" name="Rounded Rectangle 10288"/>
          <p:cNvSpPr/>
          <p:nvPr/>
        </p:nvSpPr>
        <p:spPr>
          <a:xfrm>
            <a:off x="466344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構内浸水</a:t>
            </a:r>
          </a:p>
        </p:txBody>
      </p:sp>
      <p:sp>
        <p:nvSpPr>
          <p:cNvPr id="10290" name="TextBox 10289"/>
          <p:cNvSpPr txBox="1"/>
          <p:nvPr/>
        </p:nvSpPr>
        <p:spPr>
          <a:xfrm>
            <a:off x="1581912" y="2176272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あふれた水が正門側から構内へ流入</a:t>
            </a:r>
          </a:p>
        </p:txBody>
      </p:sp>
      <p:sp>
        <p:nvSpPr>
          <p:cNvPr id="10291" name="Rounded Rectangle 10290"/>
          <p:cNvSpPr/>
          <p:nvPr/>
        </p:nvSpPr>
        <p:spPr>
          <a:xfrm>
            <a:off x="466344" y="290779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浸水深</a:t>
            </a:r>
          </a:p>
        </p:txBody>
      </p:sp>
      <p:sp>
        <p:nvSpPr>
          <p:cNvPr id="10292" name="TextBox 10291"/>
          <p:cNvSpPr txBox="1"/>
          <p:nvPr/>
        </p:nvSpPr>
        <p:spPr>
          <a:xfrm>
            <a:off x="1581912" y="2889503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主要建物周辺で浸水が継続</a:t>
            </a:r>
          </a:p>
        </p:txBody>
      </p:sp>
      <p:sp>
        <p:nvSpPr>
          <p:cNvPr id="10293" name="Rounded Rectangle 10292"/>
          <p:cNvSpPr/>
          <p:nvPr/>
        </p:nvSpPr>
        <p:spPr>
          <a:xfrm>
            <a:off x="466344" y="36210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影響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1581912" y="3602736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受変電設備・生産設備が浸水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4663440" y="1600200"/>
            <a:ext cx="4197096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対策後（例：防水壁を設置）</a:t>
            </a:r>
          </a:p>
        </p:txBody>
      </p:sp>
      <p:sp>
        <p:nvSpPr>
          <p:cNvPr id="10296" name="Rectangle 10295"/>
          <p:cNvSpPr/>
          <p:nvPr/>
        </p:nvSpPr>
        <p:spPr>
          <a:xfrm>
            <a:off x="4663440" y="2039112"/>
            <a:ext cx="4197096" cy="237744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7" name="Rounded Rectangle 10296"/>
          <p:cNvSpPr/>
          <p:nvPr/>
        </p:nvSpPr>
        <p:spPr>
          <a:xfrm>
            <a:off x="4846320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構内浸水</a:t>
            </a:r>
          </a:p>
        </p:txBody>
      </p:sp>
      <p:sp>
        <p:nvSpPr>
          <p:cNvPr id="10298" name="TextBox 10297"/>
          <p:cNvSpPr txBox="1"/>
          <p:nvPr/>
        </p:nvSpPr>
        <p:spPr>
          <a:xfrm>
            <a:off x="5961888" y="2176272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防水壁で正門側からの流入を抑制</a:t>
            </a:r>
          </a:p>
        </p:txBody>
      </p:sp>
      <p:sp>
        <p:nvSpPr>
          <p:cNvPr id="10299" name="Rounded Rectangle 10298"/>
          <p:cNvSpPr/>
          <p:nvPr/>
        </p:nvSpPr>
        <p:spPr>
          <a:xfrm>
            <a:off x="4846320" y="290779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浸水深</a:t>
            </a:r>
          </a:p>
        </p:txBody>
      </p:sp>
      <p:sp>
        <p:nvSpPr>
          <p:cNvPr id="10300" name="TextBox 10299"/>
          <p:cNvSpPr txBox="1"/>
          <p:nvPr/>
        </p:nvSpPr>
        <p:spPr>
          <a:xfrm>
            <a:off x="5961888" y="2889503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構内の浸水範囲・深さを低減</a:t>
            </a:r>
          </a:p>
        </p:txBody>
      </p:sp>
      <p:sp>
        <p:nvSpPr>
          <p:cNvPr id="10301" name="Rounded Rectangle 10300"/>
          <p:cNvSpPr/>
          <p:nvPr/>
        </p:nvSpPr>
        <p:spPr>
          <a:xfrm>
            <a:off x="4846320" y="36210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影響</a:t>
            </a:r>
          </a:p>
        </p:txBody>
      </p:sp>
      <p:sp>
        <p:nvSpPr>
          <p:cNvPr id="10302" name="TextBox 10301"/>
          <p:cNvSpPr txBox="1"/>
          <p:nvPr/>
        </p:nvSpPr>
        <p:spPr>
          <a:xfrm>
            <a:off x="5961888" y="3602736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重要設備の浸水を回避できるか確認</a:t>
            </a:r>
          </a:p>
        </p:txBody>
      </p:sp>
      <p:sp>
        <p:nvSpPr>
          <p:cNvPr id="10303" name="Right Arrow 10302"/>
          <p:cNvSpPr/>
          <p:nvPr/>
        </p:nvSpPr>
        <p:spPr>
          <a:xfrm>
            <a:off x="4498848" y="3017520"/>
            <a:ext cx="320040" cy="4572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4" name="TextBox 10303"/>
          <p:cNvSpPr txBox="1"/>
          <p:nvPr/>
        </p:nvSpPr>
        <p:spPr>
          <a:xfrm>
            <a:off x="283464" y="4480560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 上記は説明用のイメージです。検証内容は拠点の状況に応じて設定します。</a:t>
            </a:r>
          </a:p>
        </p:txBody>
      </p:sp>
      <p:sp>
        <p:nvSpPr>
          <p:cNvPr id="10305" name="Rectangle 10304"/>
          <p:cNvSpPr/>
          <p:nvPr/>
        </p:nvSpPr>
        <p:spPr>
          <a:xfrm>
            <a:off x="283464" y="4828032"/>
            <a:ext cx="237744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検証できる対策の例</a:t>
            </a:r>
          </a:p>
        </p:txBody>
      </p:sp>
      <p:sp>
        <p:nvSpPr>
          <p:cNvPr id="10306" name="Rounded Rectangle 10305"/>
          <p:cNvSpPr/>
          <p:nvPr/>
        </p:nvSpPr>
        <p:spPr>
          <a:xfrm>
            <a:off x="283464" y="5230368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防水壁・止水板の設置</a:t>
            </a:r>
          </a:p>
        </p:txBody>
      </p:sp>
      <p:sp>
        <p:nvSpPr>
          <p:cNvPr id="10307" name="Rounded Rectangle 10306"/>
          <p:cNvSpPr/>
          <p:nvPr/>
        </p:nvSpPr>
        <p:spPr>
          <a:xfrm>
            <a:off x="2468880" y="5230368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出入口・開口部の嵩上げ</a:t>
            </a:r>
          </a:p>
        </p:txBody>
      </p:sp>
      <p:sp>
        <p:nvSpPr>
          <p:cNvPr id="10308" name="Rounded Rectangle 10307"/>
          <p:cNvSpPr/>
          <p:nvPr/>
        </p:nvSpPr>
        <p:spPr>
          <a:xfrm>
            <a:off x="4654296" y="5230368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重要設備の移設・嵩上げ</a:t>
            </a:r>
          </a:p>
        </p:txBody>
      </p:sp>
      <p:sp>
        <p:nvSpPr>
          <p:cNvPr id="10309" name="Rounded Rectangle 10308"/>
          <p:cNvSpPr/>
          <p:nvPr/>
        </p:nvSpPr>
        <p:spPr>
          <a:xfrm>
            <a:off x="6839712" y="5230368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5F9F"/>
                </a:solidFill>
                <a:latin typeface="メイリオ"/>
                <a:ea typeface="メイリオ"/>
                <a:cs typeface="メイリオ"/>
              </a:rPr>
              <a:t>排水ポンプ等の配置</a:t>
            </a:r>
          </a:p>
        </p:txBody>
      </p:sp>
      <p:sp>
        <p:nvSpPr>
          <p:cNvPr id="10310" name="TextBox 10309"/>
          <p:cNvSpPr txBox="1"/>
          <p:nvPr/>
        </p:nvSpPr>
        <p:spPr>
          <a:xfrm>
            <a:off x="283464" y="5788152"/>
            <a:ext cx="85953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→ 「どの高さの壁を、どこに設ければ十分か」を事前に比較でき、過剰投資・過小投資を防ぎます。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動画作成　水災ARとの組み合わせ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シミュレーション結果の浸水深を、現場の映像にCGで重ねて体感できます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572768"/>
            <a:ext cx="274320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水災ARシステムの特長</a:t>
            </a:r>
          </a:p>
        </p:txBody>
      </p:sp>
      <p:sp>
        <p:nvSpPr>
          <p:cNvPr id="10288" name="TextBox 10287"/>
          <p:cNvSpPr txBox="1"/>
          <p:nvPr/>
        </p:nvSpPr>
        <p:spPr>
          <a:xfrm>
            <a:off x="283464" y="1920240"/>
            <a:ext cx="8595360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・浸水対策を検討したい建物や設備の画像に、浸水のCGを重ねる「水災ARタブレット」を使用します。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シミュレーションで得られた浸水深を設定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すれば、「この場所で、この高さまで水が来る」を現場で再現できます。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・屋内・屋外で静止画・動画の撮影が可能です（水災リスクサーベイのオプション）。</a:t>
            </a:r>
          </a:p>
        </p:txBody>
      </p:sp>
      <p:pic>
        <p:nvPicPr>
          <p:cNvPr id="10289" name="Picture 10288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3017520"/>
            <a:ext cx="3783633" cy="2697480"/>
          </a:xfrm>
          <a:prstGeom prst="rect">
            <a:avLst/>
          </a:prstGeom>
        </p:spPr>
      </p:pic>
      <p:pic>
        <p:nvPicPr>
          <p:cNvPr id="10290" name="Picture 10289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3017520"/>
            <a:ext cx="3784978" cy="2697480"/>
          </a:xfrm>
          <a:prstGeom prst="rect">
            <a:avLst/>
          </a:prstGeom>
        </p:spPr>
      </p:pic>
      <p:sp>
        <p:nvSpPr>
          <p:cNvPr id="10291" name="TextBox 10290"/>
          <p:cNvSpPr txBox="1"/>
          <p:nvPr/>
        </p:nvSpPr>
        <p:spPr>
          <a:xfrm>
            <a:off x="283464" y="5733288"/>
            <a:ext cx="3776472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浸水イメージ（屋外）</a:t>
            </a:r>
          </a:p>
        </p:txBody>
      </p:sp>
      <p:sp>
        <p:nvSpPr>
          <p:cNvPr id="10292" name="TextBox 10291"/>
          <p:cNvSpPr txBox="1"/>
          <p:nvPr/>
        </p:nvSpPr>
        <p:spPr>
          <a:xfrm>
            <a:off x="4224528" y="5733288"/>
            <a:ext cx="3785615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浸水イメージ（屋内）</a:t>
            </a:r>
          </a:p>
        </p:txBody>
      </p:sp>
      <p:sp>
        <p:nvSpPr>
          <p:cNvPr id="10293" name="Rectangle 10292"/>
          <p:cNvSpPr/>
          <p:nvPr/>
        </p:nvSpPr>
        <p:spPr>
          <a:xfrm>
            <a:off x="8138160" y="3017520"/>
            <a:ext cx="731520" cy="2697480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広域の動画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↓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現場のAR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283464" y="5961888"/>
            <a:ext cx="8595360" cy="228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Disaster Scope®　© 2020 Tomoki Itamiya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実施の流れとご提供物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現地調査から動画・報告会まで、ワンストップでご支援します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572768"/>
            <a:ext cx="201168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実施の流れ</a:t>
            </a:r>
          </a:p>
        </p:txBody>
      </p:sp>
      <p:sp>
        <p:nvSpPr>
          <p:cNvPr id="10288" name="Rectangle 10287"/>
          <p:cNvSpPr/>
          <p:nvPr/>
        </p:nvSpPr>
        <p:spPr>
          <a:xfrm>
            <a:off x="283464" y="1938528"/>
            <a:ext cx="1572768" cy="38404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1. お打合せ</a:t>
            </a:r>
          </a:p>
        </p:txBody>
      </p:sp>
      <p:sp>
        <p:nvSpPr>
          <p:cNvPr id="10289" name="TextBox 10288"/>
          <p:cNvSpPr txBox="1"/>
          <p:nvPr/>
        </p:nvSpPr>
        <p:spPr>
          <a:xfrm>
            <a:off x="283464" y="2359152"/>
            <a:ext cx="1572768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対象拠点・目的・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想定シナリオの確認</a:t>
            </a:r>
          </a:p>
        </p:txBody>
      </p:sp>
      <p:sp>
        <p:nvSpPr>
          <p:cNvPr id="10290" name="Right Arrow 10289"/>
          <p:cNvSpPr/>
          <p:nvPr/>
        </p:nvSpPr>
        <p:spPr>
          <a:xfrm>
            <a:off x="1865375" y="1984248"/>
            <a:ext cx="173736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1" name="Rectangle 10290"/>
          <p:cNvSpPr/>
          <p:nvPr/>
        </p:nvSpPr>
        <p:spPr>
          <a:xfrm>
            <a:off x="2039112" y="1938528"/>
            <a:ext cx="1572768" cy="38404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データ収集</a:t>
            </a:r>
          </a:p>
        </p:txBody>
      </p:sp>
      <p:sp>
        <p:nvSpPr>
          <p:cNvPr id="10292" name="TextBox 10291"/>
          <p:cNvSpPr txBox="1"/>
          <p:nvPr/>
        </p:nvSpPr>
        <p:spPr>
          <a:xfrm>
            <a:off x="2039112" y="2359152"/>
            <a:ext cx="1572768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地形・河川データ、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図面等の収集</a:t>
            </a:r>
          </a:p>
        </p:txBody>
      </p:sp>
      <p:sp>
        <p:nvSpPr>
          <p:cNvPr id="10293" name="Right Arrow 10292"/>
          <p:cNvSpPr/>
          <p:nvPr/>
        </p:nvSpPr>
        <p:spPr>
          <a:xfrm>
            <a:off x="3621024" y="1984248"/>
            <a:ext cx="173736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4" name="Rectangle 10293"/>
          <p:cNvSpPr/>
          <p:nvPr/>
        </p:nvSpPr>
        <p:spPr>
          <a:xfrm>
            <a:off x="3794760" y="1938528"/>
            <a:ext cx="1572768" cy="38404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3. 現場調査</a:t>
            </a:r>
          </a:p>
        </p:txBody>
      </p:sp>
      <p:sp>
        <p:nvSpPr>
          <p:cNvPr id="10295" name="TextBox 10294"/>
          <p:cNvSpPr txBox="1"/>
          <p:nvPr/>
        </p:nvSpPr>
        <p:spPr>
          <a:xfrm>
            <a:off x="3794760" y="2359152"/>
            <a:ext cx="1572768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河川流域・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拠点周辺の調査</a:t>
            </a:r>
          </a:p>
        </p:txBody>
      </p:sp>
      <p:sp>
        <p:nvSpPr>
          <p:cNvPr id="10296" name="Right Arrow 10295"/>
          <p:cNvSpPr/>
          <p:nvPr/>
        </p:nvSpPr>
        <p:spPr>
          <a:xfrm>
            <a:off x="5376672" y="1984248"/>
            <a:ext cx="173736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7" name="Rectangle 10296"/>
          <p:cNvSpPr/>
          <p:nvPr/>
        </p:nvSpPr>
        <p:spPr>
          <a:xfrm>
            <a:off x="5550408" y="1938528"/>
            <a:ext cx="1572768" cy="38404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解析</a:t>
            </a:r>
          </a:p>
        </p:txBody>
      </p:sp>
      <p:sp>
        <p:nvSpPr>
          <p:cNvPr id="10298" name="TextBox 10297"/>
          <p:cNvSpPr txBox="1"/>
          <p:nvPr/>
        </p:nvSpPr>
        <p:spPr>
          <a:xfrm>
            <a:off x="5550408" y="2359152"/>
            <a:ext cx="1572768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時系列シミュレー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ションの実施</a:t>
            </a:r>
          </a:p>
        </p:txBody>
      </p:sp>
      <p:sp>
        <p:nvSpPr>
          <p:cNvPr id="10299" name="Right Arrow 10298"/>
          <p:cNvSpPr/>
          <p:nvPr/>
        </p:nvSpPr>
        <p:spPr>
          <a:xfrm>
            <a:off x="7132320" y="1984248"/>
            <a:ext cx="173736" cy="292608"/>
          </a:xfrm>
          <a:prstGeom prst="rightArrow">
            <a:avLst/>
          </a:prstGeom>
          <a:solidFill>
            <a:srgbClr val="22A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0" name="Rectangle 10299"/>
          <p:cNvSpPr/>
          <p:nvPr/>
        </p:nvSpPr>
        <p:spPr>
          <a:xfrm>
            <a:off x="7306056" y="1938528"/>
            <a:ext cx="1572768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5. ご報告</a:t>
            </a:r>
          </a:p>
        </p:txBody>
      </p:sp>
      <p:sp>
        <p:nvSpPr>
          <p:cNvPr id="10301" name="TextBox 10300"/>
          <p:cNvSpPr txBox="1"/>
          <p:nvPr/>
        </p:nvSpPr>
        <p:spPr>
          <a:xfrm>
            <a:off x="7306056" y="2359152"/>
            <a:ext cx="1572768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報告書・動画の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ご提出、報告会</a:t>
            </a:r>
          </a:p>
        </p:txBody>
      </p:sp>
      <p:sp>
        <p:nvSpPr>
          <p:cNvPr id="10302" name="Rectangle 10301"/>
          <p:cNvSpPr/>
          <p:nvPr/>
        </p:nvSpPr>
        <p:spPr>
          <a:xfrm>
            <a:off x="283464" y="3154680"/>
            <a:ext cx="201168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ご提供物</a:t>
            </a:r>
          </a:p>
        </p:txBody>
      </p:sp>
      <p:sp>
        <p:nvSpPr>
          <p:cNvPr id="10303" name="Rectangle 10302"/>
          <p:cNvSpPr/>
          <p:nvPr/>
        </p:nvSpPr>
        <p:spPr>
          <a:xfrm>
            <a:off x="283464" y="3520440"/>
            <a:ext cx="4242816" cy="621792"/>
          </a:xfrm>
          <a:prstGeom prst="rect">
            <a:avLst/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4" name="TextBox 10303"/>
          <p:cNvSpPr txBox="1"/>
          <p:nvPr/>
        </p:nvSpPr>
        <p:spPr>
          <a:xfrm>
            <a:off x="420623" y="3575304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シミュレーション動画</a:t>
            </a:r>
          </a:p>
        </p:txBody>
      </p:sp>
      <p:sp>
        <p:nvSpPr>
          <p:cNvPr id="10305" name="TextBox 10304"/>
          <p:cNvSpPr txBox="1"/>
          <p:nvPr/>
        </p:nvSpPr>
        <p:spPr>
          <a:xfrm>
            <a:off x="2203704" y="3575304"/>
            <a:ext cx="22402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時系列の浸水状況を再生できる動画</a:t>
            </a:r>
          </a:p>
        </p:txBody>
      </p:sp>
      <p:sp>
        <p:nvSpPr>
          <p:cNvPr id="10306" name="Rectangle 10305"/>
          <p:cNvSpPr/>
          <p:nvPr/>
        </p:nvSpPr>
        <p:spPr>
          <a:xfrm>
            <a:off x="4617720" y="3520440"/>
            <a:ext cx="4242816" cy="6217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7" name="TextBox 10306"/>
          <p:cNvSpPr txBox="1"/>
          <p:nvPr/>
        </p:nvSpPr>
        <p:spPr>
          <a:xfrm>
            <a:off x="4754880" y="3575304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浸水想定図</a:t>
            </a:r>
          </a:p>
        </p:txBody>
      </p:sp>
      <p:sp>
        <p:nvSpPr>
          <p:cNvPr id="10308" name="TextBox 10307"/>
          <p:cNvSpPr txBox="1"/>
          <p:nvPr/>
        </p:nvSpPr>
        <p:spPr>
          <a:xfrm>
            <a:off x="6537960" y="3575304"/>
            <a:ext cx="22402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最大浸水深・浸水到達時間などの図面</a:t>
            </a:r>
          </a:p>
        </p:txBody>
      </p:sp>
      <p:sp>
        <p:nvSpPr>
          <p:cNvPr id="10309" name="Rectangle 10308"/>
          <p:cNvSpPr/>
          <p:nvPr/>
        </p:nvSpPr>
        <p:spPr>
          <a:xfrm>
            <a:off x="283464" y="4233672"/>
            <a:ext cx="4242816" cy="6217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0" name="TextBox 10309"/>
          <p:cNvSpPr txBox="1"/>
          <p:nvPr/>
        </p:nvSpPr>
        <p:spPr>
          <a:xfrm>
            <a:off x="420623" y="4288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報告書</a:t>
            </a:r>
          </a:p>
        </p:txBody>
      </p:sp>
      <p:sp>
        <p:nvSpPr>
          <p:cNvPr id="10311" name="TextBox 10310"/>
          <p:cNvSpPr txBox="1"/>
          <p:nvPr/>
        </p:nvSpPr>
        <p:spPr>
          <a:xfrm>
            <a:off x="2203704" y="4288536"/>
            <a:ext cx="22402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リスク分析結果と対策のご提案</a:t>
            </a:r>
          </a:p>
        </p:txBody>
      </p:sp>
      <p:sp>
        <p:nvSpPr>
          <p:cNvPr id="10312" name="Rectangle 10311"/>
          <p:cNvSpPr/>
          <p:nvPr/>
        </p:nvSpPr>
        <p:spPr>
          <a:xfrm>
            <a:off x="4617720" y="4233672"/>
            <a:ext cx="4242816" cy="6217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3" name="TextBox 10312"/>
          <p:cNvSpPr txBox="1"/>
          <p:nvPr/>
        </p:nvSpPr>
        <p:spPr>
          <a:xfrm>
            <a:off x="4754880" y="4288536"/>
            <a:ext cx="17830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報告会</a:t>
            </a:r>
          </a:p>
        </p:txBody>
      </p:sp>
      <p:sp>
        <p:nvSpPr>
          <p:cNvPr id="10314" name="TextBox 10313"/>
          <p:cNvSpPr txBox="1"/>
          <p:nvPr/>
        </p:nvSpPr>
        <p:spPr>
          <a:xfrm>
            <a:off x="6537960" y="4288536"/>
            <a:ext cx="2240280" cy="51206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経営層・担当者向けにご説明</a:t>
            </a:r>
          </a:p>
        </p:txBody>
      </p:sp>
      <p:sp>
        <p:nvSpPr>
          <p:cNvPr id="10315" name="Rectangle 10314"/>
          <p:cNvSpPr/>
          <p:nvPr/>
        </p:nvSpPr>
        <p:spPr>
          <a:xfrm>
            <a:off x="283464" y="5047488"/>
            <a:ext cx="2011680" cy="292608"/>
          </a:xfrm>
          <a:prstGeom prst="rect">
            <a:avLst/>
          </a:prstGeom>
          <a:solidFill>
            <a:srgbClr val="D6EBEB"/>
          </a:solidFill>
          <a:ln w="9525">
            <a:solidFill>
              <a:srgbClr val="0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当社の強み</a:t>
            </a:r>
          </a:p>
        </p:txBody>
      </p:sp>
      <p:sp>
        <p:nvSpPr>
          <p:cNvPr id="10316" name="TextBox 10315"/>
          <p:cNvSpPr txBox="1"/>
          <p:nvPr/>
        </p:nvSpPr>
        <p:spPr>
          <a:xfrm>
            <a:off x="283464" y="5394960"/>
            <a:ext cx="859536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国内だけでなく海外拠点にも対応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。実際の浸水範囲とシミュレーション結果がほぼ整合した事例をはじめ、国内外で実績があります。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00" b="1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水災リスクサーベイ・セミナー・BCP／タイムライン策定支援</a:t>
            </a:r>
            <a:r>
              <a:rPr sz="110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まで、分析後の対策づくりを一貫してご支援します。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今後の進め方（ご提案）</a:t>
            </a:r>
          </a:p>
        </p:txBody>
      </p:sp>
      <p:sp>
        <p:nvSpPr>
          <p:cNvPr id="10285" name="スライド番号プレースホルダー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EA0A1"/>
              </a:buClr>
              <a:buSzPct val="110000"/>
              <a:buFont typeface="Wingdings" panose="05000000000000000000" pitchFamily="2" charset="2"/>
              <a:buChar char="n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685817" indent="-263776">
              <a:spcBef>
                <a:spcPct val="20000"/>
              </a:spcBef>
              <a:buClr>
                <a:srgbClr val="9EA0A1"/>
              </a:buClr>
              <a:buSzPct val="120000"/>
              <a:buFont typeface="Arial" panose="020B0604020202020204" pitchFamily="34" charset="0"/>
              <a:buChar char="»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055103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477145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1899186" indent="-211021">
              <a:spcBef>
                <a:spcPct val="20000"/>
              </a:spcBef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A0A1"/>
              </a:buClr>
              <a:buFont typeface="Arial" panose="020B0604020202020204" pitchFamily="34" charset="0"/>
              <a:buChar char="-"/>
              <a:defRPr kumimoji="1" sz="1108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DAD7D-4E9F-447E-A280-27A02337C9C1}" type="slidenum">
              <a:rPr lang="en-US" altLang="ja-JP" smtClean="0">
                <a:solidFill>
                  <a:srgbClr val="41424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ja-JP">
              <a:solidFill>
                <a:srgbClr val="414243"/>
              </a:solidFill>
            </a:endParaRPr>
          </a:p>
        </p:txBody>
      </p:sp>
      <p:sp>
        <p:nvSpPr>
          <p:cNvPr id="10286" name="Rectangle 10285"/>
          <p:cNvSpPr/>
          <p:nvPr/>
        </p:nvSpPr>
        <p:spPr>
          <a:xfrm>
            <a:off x="283464" y="932688"/>
            <a:ext cx="8577072" cy="438912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まずは重要拠点の「見える化」から始めませんか</a:t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283464" y="1600200"/>
            <a:ext cx="1188720" cy="7772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1</a:t>
            </a:r>
          </a:p>
        </p:txBody>
      </p:sp>
      <p:sp>
        <p:nvSpPr>
          <p:cNvPr id="10288" name="Rectangle 10287"/>
          <p:cNvSpPr/>
          <p:nvPr/>
        </p:nvSpPr>
        <p:spPr>
          <a:xfrm>
            <a:off x="1472184" y="1600200"/>
            <a:ext cx="7388352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9" name="TextBox 10288"/>
          <p:cNvSpPr txBox="1"/>
          <p:nvPr/>
        </p:nvSpPr>
        <p:spPr>
          <a:xfrm>
            <a:off x="1609344" y="1645920"/>
            <a:ext cx="210312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拠点の絞り込み</a:t>
            </a:r>
          </a:p>
        </p:txBody>
      </p:sp>
      <p:sp>
        <p:nvSpPr>
          <p:cNvPr id="10290" name="TextBox 10289"/>
          <p:cNvSpPr txBox="1"/>
          <p:nvPr/>
        </p:nvSpPr>
        <p:spPr>
          <a:xfrm>
            <a:off x="3712463" y="1645920"/>
            <a:ext cx="507492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危険度判定・簡易シミュレーションで、優先的に対策すべき拠点を選定</a:t>
            </a:r>
          </a:p>
        </p:txBody>
      </p:sp>
      <p:sp>
        <p:nvSpPr>
          <p:cNvPr id="10291" name="Rectangle 10290"/>
          <p:cNvSpPr/>
          <p:nvPr/>
        </p:nvSpPr>
        <p:spPr>
          <a:xfrm>
            <a:off x="603503" y="2496312"/>
            <a:ext cx="1188720" cy="77724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2</a:t>
            </a:r>
          </a:p>
        </p:txBody>
      </p:sp>
      <p:sp>
        <p:nvSpPr>
          <p:cNvPr id="10292" name="Rectangle 10291"/>
          <p:cNvSpPr/>
          <p:nvPr/>
        </p:nvSpPr>
        <p:spPr>
          <a:xfrm>
            <a:off x="1792224" y="2496312"/>
            <a:ext cx="7068312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3" name="TextBox 10292"/>
          <p:cNvSpPr txBox="1"/>
          <p:nvPr/>
        </p:nvSpPr>
        <p:spPr>
          <a:xfrm>
            <a:off x="1929384" y="2542032"/>
            <a:ext cx="210312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詳細シミュレーション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＋動画作成</a:t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4032504" y="2542032"/>
            <a:ext cx="475488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重要拠点の浸水経路・到達時間を解析し、動画で可視化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923544" y="3392424"/>
            <a:ext cx="1188720" cy="777240"/>
          </a:xfrm>
          <a:prstGeom prst="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3</a:t>
            </a:r>
          </a:p>
        </p:txBody>
      </p:sp>
      <p:sp>
        <p:nvSpPr>
          <p:cNvPr id="10296" name="Rectangle 10295"/>
          <p:cNvSpPr/>
          <p:nvPr/>
        </p:nvSpPr>
        <p:spPr>
          <a:xfrm>
            <a:off x="2112264" y="3392424"/>
            <a:ext cx="6748272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7" name="TextBox 10296"/>
          <p:cNvSpPr txBox="1"/>
          <p:nvPr/>
        </p:nvSpPr>
        <p:spPr>
          <a:xfrm>
            <a:off x="2249424" y="3438144"/>
            <a:ext cx="210312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対策の検証</a:t>
            </a:r>
          </a:p>
        </p:txBody>
      </p:sp>
      <p:sp>
        <p:nvSpPr>
          <p:cNvPr id="10298" name="TextBox 10297"/>
          <p:cNvSpPr txBox="1"/>
          <p:nvPr/>
        </p:nvSpPr>
        <p:spPr>
          <a:xfrm>
            <a:off x="4352544" y="3438144"/>
            <a:ext cx="443484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防水壁・止水板など対策案の効果を、対策前後の比較で確認</a:t>
            </a:r>
          </a:p>
        </p:txBody>
      </p:sp>
      <p:sp>
        <p:nvSpPr>
          <p:cNvPr id="10299" name="Rectangle 10298"/>
          <p:cNvSpPr/>
          <p:nvPr/>
        </p:nvSpPr>
        <p:spPr>
          <a:xfrm>
            <a:off x="1243584" y="4288536"/>
            <a:ext cx="1188720" cy="777240"/>
          </a:xfrm>
          <a:prstGeom prst="rect">
            <a:avLst/>
          </a:prstGeom>
          <a:solidFill>
            <a:srgbClr val="1F5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4</a:t>
            </a:r>
          </a:p>
        </p:txBody>
      </p:sp>
      <p:sp>
        <p:nvSpPr>
          <p:cNvPr id="10300" name="Rectangle 10299"/>
          <p:cNvSpPr/>
          <p:nvPr/>
        </p:nvSpPr>
        <p:spPr>
          <a:xfrm>
            <a:off x="2432304" y="4288536"/>
            <a:ext cx="6428232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1" name="TextBox 10300"/>
          <p:cNvSpPr txBox="1"/>
          <p:nvPr/>
        </p:nvSpPr>
        <p:spPr>
          <a:xfrm>
            <a:off x="2569463" y="4334255"/>
            <a:ext cx="210312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333"/>
                </a:solidFill>
                <a:latin typeface="メイリオ"/>
                <a:ea typeface="メイリオ"/>
                <a:cs typeface="メイリオ"/>
              </a:rPr>
              <a:t>社内への定着</a:t>
            </a:r>
          </a:p>
        </p:txBody>
      </p:sp>
      <p:sp>
        <p:nvSpPr>
          <p:cNvPr id="10302" name="TextBox 10301"/>
          <p:cNvSpPr txBox="1"/>
          <p:nvPr/>
        </p:nvSpPr>
        <p:spPr>
          <a:xfrm>
            <a:off x="4672583" y="4334255"/>
            <a:ext cx="4114800" cy="6858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セミナー・訓練での動画活用、BCP・水災タイムラインへの反映</a:t>
            </a:r>
          </a:p>
        </p:txBody>
      </p:sp>
      <p:sp>
        <p:nvSpPr>
          <p:cNvPr id="10303" name="Rounded Rectangle 10302"/>
          <p:cNvSpPr/>
          <p:nvPr/>
        </p:nvSpPr>
        <p:spPr>
          <a:xfrm>
            <a:off x="283464" y="5349240"/>
            <a:ext cx="8577072" cy="685800"/>
          </a:xfrm>
          <a:prstGeom prst="roundRect">
            <a:avLst>
              <a:gd name="adj" fmla="val 15000"/>
            </a:avLst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対象拠点の所在地をお知らせいただければ、最適な分析メニューとお見積りをご提案します。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CC77F9C7-7466-4AF9-A282-E5F1691759B8}" vid="{68BF9A2E-C431-4672-9376-05F12B8FB24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557</TotalTime>
  <Words>2003</Words>
  <Application>Microsoft Office PowerPoint</Application>
  <PresentationFormat>画面に合わせる (4:3)</PresentationFormat>
  <Paragraphs>193</Paragraphs>
  <Slides>10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8" baseType="lpstr">
      <vt:lpstr>Meiryo UI</vt:lpstr>
      <vt:lpstr>メイリオ</vt:lpstr>
      <vt:lpstr>游ゴシック</vt:lpstr>
      <vt:lpstr>游明朝</vt:lpstr>
      <vt:lpstr>Arial</vt:lpstr>
      <vt:lpstr>Calibri</vt:lpstr>
      <vt:lpstr>Wingdings</vt:lpstr>
      <vt:lpstr>Office ​​テーマ</vt:lpstr>
      <vt:lpstr>PowerPoint プレゼンテーション</vt:lpstr>
      <vt:lpstr>水災リスク分野のサービスメニュー</vt:lpstr>
      <vt:lpstr>水災リスク分野のサービスメニュー</vt:lpstr>
      <vt:lpstr>水災リスク分野のサービスメニュー</vt:lpstr>
      <vt:lpstr>水災リスク分野のサービスメニュー</vt:lpstr>
      <vt:lpstr>水災リスク分野のサービスメニュー</vt:lpstr>
      <vt:lpstr>水災リスク分野のサービスメニュー</vt:lpstr>
      <vt:lpstr>水災リスク分野のサービスメニュー</vt:lpstr>
      <vt:lpstr>水災リスク分野のサービスメニュー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自然災害（水災）リスク分野のサービスメニュー</dc:title>
  <dc:creator>藤田草史朗_A6Y41</dc:creator>
  <cp:lastModifiedBy>伊藤竜平_A6Y42</cp:lastModifiedBy>
  <cp:revision>25</cp:revision>
  <dcterms:created xsi:type="dcterms:W3CDTF">2024-06-17T07:16:29Z</dcterms:created>
  <dcterms:modified xsi:type="dcterms:W3CDTF">2026-09-04T07:59:25Z</dcterms:modified>
</cp:coreProperties>
</file>